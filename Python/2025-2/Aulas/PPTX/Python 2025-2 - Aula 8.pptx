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Bugaki Italics" charset="1" panose="00000000000000000000"/>
      <p:regular r:id="rId45"/>
    </p:embeddedFont>
    <p:embeddedFont>
      <p:font typeface="Space Mono Bold" charset="1" panose="02000809030000020004"/>
      <p:regular r:id="rId46"/>
    </p:embeddedFont>
    <p:embeddedFont>
      <p:font typeface="Space Mono Bold Italics" charset="1" panose="02000809040000090004"/>
      <p:regular r:id="rId47"/>
    </p:embeddedFont>
    <p:embeddedFont>
      <p:font typeface="Open Sans Bold" charset="1" panose="00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7989" y="3374177"/>
            <a:ext cx="6652022" cy="6028784"/>
          </a:xfrm>
          <a:custGeom>
            <a:avLst/>
            <a:gdLst/>
            <a:ahLst/>
            <a:cxnLst/>
            <a:rect r="r" b="b" t="t" l="l"/>
            <a:pathLst>
              <a:path h="6028784" w="6652022">
                <a:moveTo>
                  <a:pt x="0" y="0"/>
                </a:moveTo>
                <a:lnTo>
                  <a:pt x="6652022" y="0"/>
                </a:lnTo>
                <a:lnTo>
                  <a:pt x="6652022" y="6028784"/>
                </a:lnTo>
                <a:lnTo>
                  <a:pt x="0" y="602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85009">
            <a:off x="1092347" y="1274081"/>
            <a:ext cx="4021282" cy="5143500"/>
          </a:xfrm>
          <a:custGeom>
            <a:avLst/>
            <a:gdLst/>
            <a:ahLst/>
            <a:cxnLst/>
            <a:rect r="r" b="b" t="t" l="l"/>
            <a:pathLst>
              <a:path h="5143500" w="4021282">
                <a:moveTo>
                  <a:pt x="0" y="0"/>
                </a:moveTo>
                <a:lnTo>
                  <a:pt x="4021282" y="0"/>
                </a:lnTo>
                <a:lnTo>
                  <a:pt x="402128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3" t="0" r="-3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79917">
            <a:off x="13831111" y="4077263"/>
            <a:ext cx="3104804" cy="4114800"/>
          </a:xfrm>
          <a:custGeom>
            <a:avLst/>
            <a:gdLst/>
            <a:ahLst/>
            <a:cxnLst/>
            <a:rect r="r" b="b" t="t" l="l"/>
            <a:pathLst>
              <a:path h="4114800" w="3104804">
                <a:moveTo>
                  <a:pt x="0" y="0"/>
                </a:moveTo>
                <a:lnTo>
                  <a:pt x="3104804" y="0"/>
                </a:lnTo>
                <a:lnTo>
                  <a:pt x="3104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7633" y="1867390"/>
            <a:ext cx="13357297" cy="5831260"/>
          </a:xfrm>
          <a:custGeom>
            <a:avLst/>
            <a:gdLst/>
            <a:ahLst/>
            <a:cxnLst/>
            <a:rect r="r" b="b" t="t" l="l"/>
            <a:pathLst>
              <a:path h="5831260" w="13357297">
                <a:moveTo>
                  <a:pt x="0" y="0"/>
                </a:moveTo>
                <a:lnTo>
                  <a:pt x="13357298" y="0"/>
                </a:lnTo>
                <a:lnTo>
                  <a:pt x="13357298" y="5831261"/>
                </a:lnTo>
                <a:lnTo>
                  <a:pt x="0" y="58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625148">
            <a:off x="1548436" y="1767823"/>
            <a:ext cx="3624249" cy="1526770"/>
            <a:chOff x="0" y="0"/>
            <a:chExt cx="4832332" cy="2035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2350" cy="2035683"/>
            </a:xfrm>
            <a:custGeom>
              <a:avLst/>
              <a:gdLst/>
              <a:ahLst/>
              <a:cxnLst/>
              <a:rect r="r" b="b" t="t" l="l"/>
              <a:pathLst>
                <a:path h="203568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035683"/>
                  </a:lnTo>
                  <a:lnTo>
                    <a:pt x="0" y="203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7862" r="0" b="-11786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1057456">
            <a:off x="13459709" y="7291099"/>
            <a:ext cx="1894937" cy="1884601"/>
          </a:xfrm>
          <a:custGeom>
            <a:avLst/>
            <a:gdLst/>
            <a:ahLst/>
            <a:cxnLst/>
            <a:rect r="r" b="b" t="t" l="l"/>
            <a:pathLst>
              <a:path h="1884601" w="1894937">
                <a:moveTo>
                  <a:pt x="0" y="0"/>
                </a:moveTo>
                <a:lnTo>
                  <a:pt x="1894937" y="0"/>
                </a:lnTo>
                <a:lnTo>
                  <a:pt x="1894937" y="1884601"/>
                </a:lnTo>
                <a:lnTo>
                  <a:pt x="0" y="1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74" r="0" b="-27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5679535"/>
            <a:ext cx="2737850" cy="2737850"/>
            <a:chOff x="0" y="0"/>
            <a:chExt cx="3650467" cy="3650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0488" cy="3650488"/>
            </a:xfrm>
            <a:custGeom>
              <a:avLst/>
              <a:gdLst/>
              <a:ahLst/>
              <a:cxnLst/>
              <a:rect r="r" b="b" t="t" l="l"/>
              <a:pathLst>
                <a:path h="3650488" w="3650488">
                  <a:moveTo>
                    <a:pt x="0" y="0"/>
                  </a:moveTo>
                  <a:lnTo>
                    <a:pt x="3650488" y="0"/>
                  </a:lnTo>
                  <a:lnTo>
                    <a:pt x="3650488" y="3650488"/>
                  </a:lnTo>
                  <a:lnTo>
                    <a:pt x="0" y="3650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-582495">
            <a:off x="1721831" y="3188368"/>
            <a:ext cx="14872554" cy="387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5"/>
              </a:lnSpc>
            </a:pPr>
            <a:r>
              <a:rPr lang="en-US" sz="16593" i="true" spc="-170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PYTHON</a:t>
            </a:r>
          </a:p>
          <a:p>
            <a:pPr algn="ctr">
              <a:lnSpc>
                <a:spcPts val="11640"/>
              </a:lnSpc>
            </a:pPr>
            <a:r>
              <a:rPr lang="en-US" sz="12000" i="true" spc="-1236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AULA 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7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11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0" y="0"/>
                </a:moveTo>
                <a:lnTo>
                  <a:pt x="2478375" y="0"/>
                </a:lnTo>
                <a:lnTo>
                  <a:pt x="2478375" y="2621358"/>
                </a:lnTo>
                <a:lnTo>
                  <a:pt x="0" y="2621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3307" y="381000"/>
            <a:ext cx="12718638" cy="251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4"/>
              </a:lnSpc>
            </a:pPr>
            <a:r>
              <a:rPr lang="en-US" sz="11161" i="true" spc="-114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BEM - VINDOS!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26237" y="1860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428704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2478375" y="0"/>
                </a:moveTo>
                <a:lnTo>
                  <a:pt x="0" y="0"/>
                </a:lnTo>
                <a:lnTo>
                  <a:pt x="0" y="2621358"/>
                </a:lnTo>
                <a:lnTo>
                  <a:pt x="2478375" y="2621358"/>
                </a:lnTo>
                <a:lnTo>
                  <a:pt x="24783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0204" y="3467297"/>
            <a:ext cx="16447591" cy="5899499"/>
          </a:xfrm>
          <a:custGeom>
            <a:avLst/>
            <a:gdLst/>
            <a:ahLst/>
            <a:cxnLst/>
            <a:rect r="r" b="b" t="t" l="l"/>
            <a:pathLst>
              <a:path h="5899499" w="16447591">
                <a:moveTo>
                  <a:pt x="0" y="0"/>
                </a:moveTo>
                <a:lnTo>
                  <a:pt x="16447592" y="0"/>
                </a:lnTo>
                <a:lnTo>
                  <a:pt x="16447592" y="5899499"/>
                </a:lnTo>
                <a:lnTo>
                  <a:pt x="0" y="5899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54154" y="3069377"/>
            <a:ext cx="6579691" cy="1306319"/>
          </a:xfrm>
          <a:custGeom>
            <a:avLst/>
            <a:gdLst/>
            <a:ahLst/>
            <a:cxnLst/>
            <a:rect r="r" b="b" t="t" l="l"/>
            <a:pathLst>
              <a:path h="1306319" w="6579691">
                <a:moveTo>
                  <a:pt x="0" y="0"/>
                </a:moveTo>
                <a:lnTo>
                  <a:pt x="6579692" y="0"/>
                </a:lnTo>
                <a:lnTo>
                  <a:pt x="6579692" y="1306319"/>
                </a:lnTo>
                <a:lnTo>
                  <a:pt x="0" y="1306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5916" y="5143500"/>
            <a:ext cx="15516169" cy="304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b="true" sz="5012" spc="-295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Hoje veremos:</a:t>
            </a:r>
          </a:p>
          <a:p>
            <a:pPr algn="l" marL="2164604" indent="-721535" lvl="2">
              <a:lnSpc>
                <a:spcPts val="6015"/>
              </a:lnSpc>
              <a:buFont typeface="Arial"/>
              <a:buChar char="⚬"/>
            </a:pPr>
            <a:r>
              <a:rPr lang="en-US" b="true" sz="5012" spc="-295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Bibliotecas</a:t>
            </a:r>
          </a:p>
          <a:p>
            <a:pPr algn="l" marL="2164604" indent="-721535" lvl="2">
              <a:lnSpc>
                <a:spcPts val="6016"/>
              </a:lnSpc>
              <a:buFont typeface="Arial"/>
              <a:buChar char="⚬"/>
            </a:pP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Revisão de todos os assuntos do semestre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1860" y="3441814"/>
            <a:ext cx="5464280" cy="61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5"/>
              </a:lnSpc>
            </a:pPr>
            <a:r>
              <a:rPr lang="en-US" b="true" sz="4213" spc="-251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437717" y="2073247"/>
            <a:ext cx="11412566" cy="1127563"/>
            <a:chOff x="0" y="0"/>
            <a:chExt cx="15216754" cy="150341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5216754" cy="1503417"/>
              <a:chOff x="0" y="0"/>
              <a:chExt cx="3369232" cy="33288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69232" cy="332880"/>
              </a:xfrm>
              <a:custGeom>
                <a:avLst/>
                <a:gdLst/>
                <a:ahLst/>
                <a:cxnLst/>
                <a:rect r="r" b="b" t="t" l="l"/>
                <a:pathLst>
                  <a:path h="332880" w="3369232">
                    <a:moveTo>
                      <a:pt x="30865" y="0"/>
                    </a:moveTo>
                    <a:lnTo>
                      <a:pt x="3338367" y="0"/>
                    </a:lnTo>
                    <a:cubicBezTo>
                      <a:pt x="3346553" y="0"/>
                      <a:pt x="3354404" y="3252"/>
                      <a:pt x="3360192" y="9040"/>
                    </a:cubicBezTo>
                    <a:cubicBezTo>
                      <a:pt x="3365980" y="14828"/>
                      <a:pt x="3369232" y="22679"/>
                      <a:pt x="3369232" y="30865"/>
                    </a:cubicBezTo>
                    <a:lnTo>
                      <a:pt x="3369232" y="302016"/>
                    </a:lnTo>
                    <a:cubicBezTo>
                      <a:pt x="3369232" y="310202"/>
                      <a:pt x="3365980" y="318052"/>
                      <a:pt x="3360192" y="323840"/>
                    </a:cubicBezTo>
                    <a:cubicBezTo>
                      <a:pt x="3354404" y="329629"/>
                      <a:pt x="3346553" y="332880"/>
                      <a:pt x="3338367" y="332880"/>
                    </a:cubicBezTo>
                    <a:lnTo>
                      <a:pt x="30865" y="332880"/>
                    </a:lnTo>
                    <a:cubicBezTo>
                      <a:pt x="22679" y="332880"/>
                      <a:pt x="14828" y="329629"/>
                      <a:pt x="9040" y="323840"/>
                    </a:cubicBezTo>
                    <a:cubicBezTo>
                      <a:pt x="3252" y="318052"/>
                      <a:pt x="0" y="310202"/>
                      <a:pt x="0" y="302016"/>
                    </a:cubicBezTo>
                    <a:lnTo>
                      <a:pt x="0" y="30865"/>
                    </a:lnTo>
                    <a:cubicBezTo>
                      <a:pt x="0" y="22679"/>
                      <a:pt x="3252" y="14828"/>
                      <a:pt x="9040" y="9040"/>
                    </a:cubicBezTo>
                    <a:cubicBezTo>
                      <a:pt x="14828" y="3252"/>
                      <a:pt x="22679" y="0"/>
                      <a:pt x="30865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369232" cy="3709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965567" y="309839"/>
              <a:ext cx="13545959" cy="974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  <a:spcBef>
                  <a:spcPct val="0"/>
                </a:spcBef>
              </a:pPr>
              <a:r>
                <a:rPr lang="en-US" b="true" sz="2443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Uma biblioteca é um conjunto de códigos prontos criados para facilitar o desenvolvimento de programas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3647527"/>
            <a:ext cx="6961201" cy="4726741"/>
          </a:xfrm>
          <a:custGeom>
            <a:avLst/>
            <a:gdLst/>
            <a:ahLst/>
            <a:cxnLst/>
            <a:rect r="r" b="b" t="t" l="l"/>
            <a:pathLst>
              <a:path h="4726741" w="6961201">
                <a:moveTo>
                  <a:pt x="0" y="0"/>
                </a:moveTo>
                <a:lnTo>
                  <a:pt x="6961201" y="0"/>
                </a:lnTo>
                <a:lnTo>
                  <a:pt x="6961201" y="4726741"/>
                </a:lnTo>
                <a:lnTo>
                  <a:pt x="0" y="4726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375680" y="8103859"/>
            <a:ext cx="3933866" cy="1154441"/>
            <a:chOff x="0" y="0"/>
            <a:chExt cx="5245155" cy="153925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245155" cy="1539255"/>
              <a:chOff x="0" y="0"/>
              <a:chExt cx="1007107" cy="2955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07107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1007107">
                    <a:moveTo>
                      <a:pt x="100369" y="0"/>
                    </a:moveTo>
                    <a:lnTo>
                      <a:pt x="906738" y="0"/>
                    </a:lnTo>
                    <a:cubicBezTo>
                      <a:pt x="933358" y="0"/>
                      <a:pt x="958887" y="10575"/>
                      <a:pt x="977710" y="29397"/>
                    </a:cubicBezTo>
                    <a:cubicBezTo>
                      <a:pt x="996533" y="48220"/>
                      <a:pt x="1007107" y="73749"/>
                      <a:pt x="1007107" y="100369"/>
                    </a:cubicBezTo>
                    <a:lnTo>
                      <a:pt x="1007107" y="195179"/>
                    </a:lnTo>
                    <a:cubicBezTo>
                      <a:pt x="1007107" y="221799"/>
                      <a:pt x="996533" y="247328"/>
                      <a:pt x="977710" y="266151"/>
                    </a:cubicBezTo>
                    <a:cubicBezTo>
                      <a:pt x="958887" y="284973"/>
                      <a:pt x="933358" y="295548"/>
                      <a:pt x="906738" y="295548"/>
                    </a:cubicBezTo>
                    <a:lnTo>
                      <a:pt x="100369" y="295548"/>
                    </a:lnTo>
                    <a:cubicBezTo>
                      <a:pt x="73749" y="295548"/>
                      <a:pt x="48220" y="284973"/>
                      <a:pt x="29397" y="266151"/>
                    </a:cubicBezTo>
                    <a:cubicBezTo>
                      <a:pt x="10575" y="247328"/>
                      <a:pt x="0" y="221799"/>
                      <a:pt x="0" y="195179"/>
                    </a:cubicBezTo>
                    <a:lnTo>
                      <a:pt x="0" y="100369"/>
                    </a:lnTo>
                    <a:cubicBezTo>
                      <a:pt x="0" y="73749"/>
                      <a:pt x="10575" y="48220"/>
                      <a:pt x="29397" y="29397"/>
                    </a:cubicBezTo>
                    <a:cubicBezTo>
                      <a:pt x="48220" y="10575"/>
                      <a:pt x="73749" y="0"/>
                      <a:pt x="10036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07107" cy="333648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82997" y="367332"/>
              <a:ext cx="4110910" cy="731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9"/>
                </a:lnSpc>
                <a:spcBef>
                  <a:spcPct val="0"/>
                </a:spcBef>
              </a:pPr>
              <a:r>
                <a:rPr lang="en-US" b="true" sz="3640" spc="-218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Código fonte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Bibliotecas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4000" y="3647527"/>
            <a:ext cx="7713487" cy="4882898"/>
            <a:chOff x="0" y="0"/>
            <a:chExt cx="1950512" cy="1234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0512" cy="1234740"/>
            </a:xfrm>
            <a:custGeom>
              <a:avLst/>
              <a:gdLst/>
              <a:ahLst/>
              <a:cxnLst/>
              <a:rect r="r" b="b" t="t" l="l"/>
              <a:pathLst>
                <a:path h="1234740" w="1950512">
                  <a:moveTo>
                    <a:pt x="51188" y="0"/>
                  </a:moveTo>
                  <a:lnTo>
                    <a:pt x="1899324" y="0"/>
                  </a:lnTo>
                  <a:cubicBezTo>
                    <a:pt x="1912900" y="0"/>
                    <a:pt x="1925919" y="5393"/>
                    <a:pt x="1935519" y="14993"/>
                  </a:cubicBezTo>
                  <a:cubicBezTo>
                    <a:pt x="1945119" y="24592"/>
                    <a:pt x="1950512" y="37612"/>
                    <a:pt x="1950512" y="51188"/>
                  </a:cubicBezTo>
                  <a:lnTo>
                    <a:pt x="1950512" y="1183552"/>
                  </a:lnTo>
                  <a:cubicBezTo>
                    <a:pt x="1950512" y="1197128"/>
                    <a:pt x="1945119" y="1210148"/>
                    <a:pt x="1935519" y="1219747"/>
                  </a:cubicBezTo>
                  <a:cubicBezTo>
                    <a:pt x="1925919" y="1229347"/>
                    <a:pt x="1912900" y="1234740"/>
                    <a:pt x="1899324" y="1234740"/>
                  </a:cubicBezTo>
                  <a:lnTo>
                    <a:pt x="51188" y="1234740"/>
                  </a:lnTo>
                  <a:cubicBezTo>
                    <a:pt x="37612" y="1234740"/>
                    <a:pt x="24592" y="1229347"/>
                    <a:pt x="14993" y="1219747"/>
                  </a:cubicBezTo>
                  <a:cubicBezTo>
                    <a:pt x="5393" y="1210148"/>
                    <a:pt x="0" y="1197128"/>
                    <a:pt x="0" y="1183552"/>
                  </a:cubicBezTo>
                  <a:lnTo>
                    <a:pt x="0" y="51188"/>
                  </a:lnTo>
                  <a:cubicBezTo>
                    <a:pt x="0" y="37612"/>
                    <a:pt x="5393" y="24592"/>
                    <a:pt x="14993" y="14993"/>
                  </a:cubicBezTo>
                  <a:cubicBezTo>
                    <a:pt x="24592" y="5393"/>
                    <a:pt x="37612" y="0"/>
                    <a:pt x="51188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50512" cy="1272840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44362" y="8089527"/>
            <a:ext cx="5684787" cy="1168773"/>
            <a:chOff x="0" y="0"/>
            <a:chExt cx="1437514" cy="2955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37514" cy="295548"/>
            </a:xfrm>
            <a:custGeom>
              <a:avLst/>
              <a:gdLst/>
              <a:ahLst/>
              <a:cxnLst/>
              <a:rect r="r" b="b" t="t" l="l"/>
              <a:pathLst>
                <a:path h="295548" w="1437514">
                  <a:moveTo>
                    <a:pt x="69455" y="0"/>
                  </a:moveTo>
                  <a:lnTo>
                    <a:pt x="1368059" y="0"/>
                  </a:lnTo>
                  <a:cubicBezTo>
                    <a:pt x="1386479" y="0"/>
                    <a:pt x="1404145" y="7318"/>
                    <a:pt x="1417171" y="20343"/>
                  </a:cubicBezTo>
                  <a:cubicBezTo>
                    <a:pt x="1430196" y="33368"/>
                    <a:pt x="1437514" y="51035"/>
                    <a:pt x="1437514" y="69455"/>
                  </a:cubicBezTo>
                  <a:lnTo>
                    <a:pt x="1437514" y="226093"/>
                  </a:lnTo>
                  <a:cubicBezTo>
                    <a:pt x="1437514" y="264452"/>
                    <a:pt x="1406418" y="295548"/>
                    <a:pt x="1368059" y="295548"/>
                  </a:cubicBezTo>
                  <a:lnTo>
                    <a:pt x="69455" y="295548"/>
                  </a:lnTo>
                  <a:cubicBezTo>
                    <a:pt x="31096" y="295548"/>
                    <a:pt x="0" y="264452"/>
                    <a:pt x="0" y="226093"/>
                  </a:cubicBezTo>
                  <a:lnTo>
                    <a:pt x="0" y="69455"/>
                  </a:lnTo>
                  <a:cubicBezTo>
                    <a:pt x="0" y="31096"/>
                    <a:pt x="31096" y="0"/>
                    <a:pt x="69455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37514" cy="333648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803633" y="8089527"/>
            <a:ext cx="4766244" cy="110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b="true" sz="3685" spc="-22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Usando a biblioteca </a:t>
            </a:r>
            <a:r>
              <a:rPr lang="en-US" b="true" sz="3685" i="true" spc="-220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math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6315" y="4997478"/>
            <a:ext cx="6102834" cy="129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252" spc="-250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import </a:t>
            </a:r>
            <a:r>
              <a:rPr lang="en-US" sz="4252" spc="-25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math</a:t>
            </a:r>
          </a:p>
          <a:p>
            <a:pPr algn="l">
              <a:lnSpc>
                <a:spcPts val="5103"/>
              </a:lnSpc>
              <a:spcBef>
                <a:spcPct val="0"/>
              </a:spcBef>
            </a:pPr>
            <a:r>
              <a:rPr lang="en-US" b="true" sz="4252" spc="-254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252" spc="-254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4252" spc="-254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math.sqrt</a:t>
            </a:r>
            <a:r>
              <a:rPr lang="en-US" b="true" sz="4252" spc="-254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4252" spc="-254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16</a:t>
            </a:r>
            <a:r>
              <a:rPr lang="en-US" b="true" sz="4252" spc="-254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  <a:r>
              <a:rPr lang="en-US" b="true" sz="4252" spc="-254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  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41079" y="4267221"/>
            <a:ext cx="13805842" cy="2265303"/>
            <a:chOff x="0" y="0"/>
            <a:chExt cx="18407789" cy="302040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8407789" cy="3020404"/>
              <a:chOff x="0" y="0"/>
              <a:chExt cx="3471072" cy="56954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471072" cy="569544"/>
              </a:xfrm>
              <a:custGeom>
                <a:avLst/>
                <a:gdLst/>
                <a:ahLst/>
                <a:cxnLst/>
                <a:rect r="r" b="b" t="t" l="l"/>
                <a:pathLst>
                  <a:path h="569544" w="3471072">
                    <a:moveTo>
                      <a:pt x="33582" y="0"/>
                    </a:moveTo>
                    <a:lnTo>
                      <a:pt x="3437490" y="0"/>
                    </a:lnTo>
                    <a:cubicBezTo>
                      <a:pt x="3446397" y="0"/>
                      <a:pt x="3454938" y="3538"/>
                      <a:pt x="3461236" y="9836"/>
                    </a:cubicBezTo>
                    <a:cubicBezTo>
                      <a:pt x="3467534" y="16134"/>
                      <a:pt x="3471072" y="24675"/>
                      <a:pt x="3471072" y="33582"/>
                    </a:cubicBezTo>
                    <a:lnTo>
                      <a:pt x="3471072" y="535962"/>
                    </a:lnTo>
                    <a:cubicBezTo>
                      <a:pt x="3471072" y="544868"/>
                      <a:pt x="3467534" y="553410"/>
                      <a:pt x="3461236" y="559708"/>
                    </a:cubicBezTo>
                    <a:cubicBezTo>
                      <a:pt x="3454938" y="566006"/>
                      <a:pt x="3446397" y="569544"/>
                      <a:pt x="3437490" y="569544"/>
                    </a:cubicBezTo>
                    <a:lnTo>
                      <a:pt x="33582" y="569544"/>
                    </a:lnTo>
                    <a:cubicBezTo>
                      <a:pt x="24675" y="569544"/>
                      <a:pt x="16134" y="566006"/>
                      <a:pt x="9836" y="559708"/>
                    </a:cubicBezTo>
                    <a:cubicBezTo>
                      <a:pt x="3538" y="553410"/>
                      <a:pt x="0" y="544868"/>
                      <a:pt x="0" y="535962"/>
                    </a:cubicBezTo>
                    <a:lnTo>
                      <a:pt x="0" y="33582"/>
                    </a:lnTo>
                    <a:cubicBezTo>
                      <a:pt x="0" y="24675"/>
                      <a:pt x="3538" y="16134"/>
                      <a:pt x="9836" y="9836"/>
                    </a:cubicBezTo>
                    <a:cubicBezTo>
                      <a:pt x="16134" y="3538"/>
                      <a:pt x="24675" y="0"/>
                      <a:pt x="33582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3471072" cy="636219"/>
              </a:xfrm>
              <a:prstGeom prst="rect">
                <a:avLst/>
              </a:prstGeom>
            </p:spPr>
            <p:txBody>
              <a:bodyPr anchor="ctr" rtlCol="false" tIns="45320" lIns="45320" bIns="45320" rIns="45320"/>
              <a:lstStyle/>
              <a:p>
                <a:pPr algn="ctr">
                  <a:lnSpc>
                    <a:spcPts val="461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80696" y="472305"/>
              <a:ext cx="17446398" cy="2028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6048"/>
                </a:lnSpc>
                <a:spcBef>
                  <a:spcPct val="0"/>
                </a:spcBef>
              </a:pPr>
              <a:r>
                <a:rPr lang="en-US" b="true" sz="5040" spc="-29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Temos dois tipos de bibliotecas no Python: as </a:t>
              </a:r>
              <a:r>
                <a:rPr lang="en-US" b="true" sz="5040" i="true" spc="-297" u="sng">
                  <a:solidFill>
                    <a:srgbClr val="000000"/>
                  </a:solidFill>
                  <a:latin typeface="Space Mono Bold Italics"/>
                  <a:ea typeface="Space Mono Bold Italics"/>
                  <a:cs typeface="Space Mono Bold Italics"/>
                  <a:sym typeface="Space Mono Bold Italics"/>
                </a:rPr>
                <a:t>padrões</a:t>
              </a:r>
              <a:r>
                <a:rPr lang="en-US" b="true" sz="5040" spc="-29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e as </a:t>
              </a:r>
              <a:r>
                <a:rPr lang="en-US" b="true" sz="5040" i="true" spc="-297" u="sng">
                  <a:solidFill>
                    <a:srgbClr val="000000"/>
                  </a:solidFill>
                  <a:latin typeface="Space Mono Bold Italics"/>
                  <a:ea typeface="Space Mono Bold Italics"/>
                  <a:cs typeface="Space Mono Bold Italics"/>
                  <a:sym typeface="Space Mono Bold Italics"/>
                </a:rPr>
                <a:t>externas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Bibliotecas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Bibliotecas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82186" y="3199983"/>
            <a:ext cx="6017702" cy="4130502"/>
            <a:chOff x="0" y="0"/>
            <a:chExt cx="1554292" cy="1066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292" cy="1066853"/>
            </a:xfrm>
            <a:custGeom>
              <a:avLst/>
              <a:gdLst/>
              <a:ahLst/>
              <a:cxnLst/>
              <a:rect r="r" b="b" t="t" l="l"/>
              <a:pathLst>
                <a:path h="1066853" w="1554292">
                  <a:moveTo>
                    <a:pt x="65613" y="0"/>
                  </a:moveTo>
                  <a:lnTo>
                    <a:pt x="1488679" y="0"/>
                  </a:lnTo>
                  <a:cubicBezTo>
                    <a:pt x="1524916" y="0"/>
                    <a:pt x="1554292" y="29376"/>
                    <a:pt x="1554292" y="65613"/>
                  </a:cubicBezTo>
                  <a:lnTo>
                    <a:pt x="1554292" y="1001240"/>
                  </a:lnTo>
                  <a:cubicBezTo>
                    <a:pt x="1554292" y="1018642"/>
                    <a:pt x="1547379" y="1035331"/>
                    <a:pt x="1535074" y="1047636"/>
                  </a:cubicBezTo>
                  <a:cubicBezTo>
                    <a:pt x="1522769" y="1059940"/>
                    <a:pt x="1506081" y="1066853"/>
                    <a:pt x="1488679" y="1066853"/>
                  </a:cubicBezTo>
                  <a:lnTo>
                    <a:pt x="65613" y="1066853"/>
                  </a:lnTo>
                  <a:cubicBezTo>
                    <a:pt x="29376" y="1066853"/>
                    <a:pt x="0" y="1037477"/>
                    <a:pt x="0" y="1001240"/>
                  </a:cubicBezTo>
                  <a:lnTo>
                    <a:pt x="0" y="65613"/>
                  </a:lnTo>
                  <a:cubicBezTo>
                    <a:pt x="0" y="48211"/>
                    <a:pt x="6913" y="31522"/>
                    <a:pt x="19218" y="19218"/>
                  </a:cubicBezTo>
                  <a:cubicBezTo>
                    <a:pt x="31522" y="6913"/>
                    <a:pt x="48211" y="0"/>
                    <a:pt x="65613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54292" cy="1133528"/>
            </a:xfrm>
            <a:prstGeom prst="rect">
              <a:avLst/>
            </a:prstGeom>
          </p:spPr>
          <p:txBody>
            <a:bodyPr anchor="ctr" rtlCol="false" tIns="35394" lIns="35394" bIns="35394" rIns="35394"/>
            <a:lstStyle/>
            <a:p>
              <a:pPr algn="ctr">
                <a:lnSpc>
                  <a:spcPts val="461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675554" y="3485429"/>
            <a:ext cx="5430968" cy="346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7"/>
              </a:lnSpc>
              <a:spcBef>
                <a:spcPct val="0"/>
              </a:spcBef>
            </a:pPr>
            <a:r>
              <a:rPr lang="en-US" b="true" sz="3823" spc="-225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Bibliotecas </a:t>
            </a:r>
            <a:r>
              <a:rPr lang="en-US" b="true" sz="3823" i="true" spc="-225" u="sng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padrões</a:t>
            </a:r>
            <a:r>
              <a:rPr lang="en-US" b="true" sz="3823" spc="-225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vêm instaladas junto com o Python e podem ser usadas com apenas um </a:t>
            </a:r>
            <a:r>
              <a:rPr lang="en-US" b="true" sz="3823" i="true" spc="-225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import </a:t>
            </a:r>
            <a:r>
              <a:rPr lang="en-US" b="true" sz="3823" spc="-225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 código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80180" y="6409785"/>
            <a:ext cx="4515217" cy="2613983"/>
            <a:chOff x="0" y="0"/>
            <a:chExt cx="1914383" cy="11082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14383" cy="1108289"/>
            </a:xfrm>
            <a:custGeom>
              <a:avLst/>
              <a:gdLst/>
              <a:ahLst/>
              <a:cxnLst/>
              <a:rect r="r" b="b" t="t" l="l"/>
              <a:pathLst>
                <a:path h="1108289" w="1914383">
                  <a:moveTo>
                    <a:pt x="87446" y="0"/>
                  </a:moveTo>
                  <a:lnTo>
                    <a:pt x="1826937" y="0"/>
                  </a:lnTo>
                  <a:cubicBezTo>
                    <a:pt x="1850129" y="0"/>
                    <a:pt x="1872371" y="9213"/>
                    <a:pt x="1888771" y="25612"/>
                  </a:cubicBezTo>
                  <a:cubicBezTo>
                    <a:pt x="1905170" y="42012"/>
                    <a:pt x="1914383" y="64254"/>
                    <a:pt x="1914383" y="87446"/>
                  </a:cubicBezTo>
                  <a:lnTo>
                    <a:pt x="1914383" y="1020843"/>
                  </a:lnTo>
                  <a:cubicBezTo>
                    <a:pt x="1914383" y="1069138"/>
                    <a:pt x="1875232" y="1108289"/>
                    <a:pt x="1826937" y="1108289"/>
                  </a:cubicBezTo>
                  <a:lnTo>
                    <a:pt x="87446" y="1108289"/>
                  </a:lnTo>
                  <a:cubicBezTo>
                    <a:pt x="64254" y="1108289"/>
                    <a:pt x="42012" y="1099076"/>
                    <a:pt x="25612" y="1082677"/>
                  </a:cubicBezTo>
                  <a:cubicBezTo>
                    <a:pt x="9213" y="1066277"/>
                    <a:pt x="0" y="1044035"/>
                    <a:pt x="0" y="1020843"/>
                  </a:cubicBezTo>
                  <a:lnTo>
                    <a:pt x="0" y="87446"/>
                  </a:lnTo>
                  <a:cubicBezTo>
                    <a:pt x="0" y="39151"/>
                    <a:pt x="39151" y="0"/>
                    <a:pt x="87446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14383" cy="1146389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10879" y="8760811"/>
            <a:ext cx="3390485" cy="697072"/>
            <a:chOff x="0" y="0"/>
            <a:chExt cx="1437514" cy="2955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7514" cy="295548"/>
            </a:xfrm>
            <a:custGeom>
              <a:avLst/>
              <a:gdLst/>
              <a:ahLst/>
              <a:cxnLst/>
              <a:rect r="r" b="b" t="t" l="l"/>
              <a:pathLst>
                <a:path h="295548" w="1437514">
                  <a:moveTo>
                    <a:pt x="116455" y="0"/>
                  </a:moveTo>
                  <a:lnTo>
                    <a:pt x="1321059" y="0"/>
                  </a:lnTo>
                  <a:cubicBezTo>
                    <a:pt x="1351945" y="0"/>
                    <a:pt x="1381565" y="12269"/>
                    <a:pt x="1403405" y="34109"/>
                  </a:cubicBezTo>
                  <a:cubicBezTo>
                    <a:pt x="1425244" y="55948"/>
                    <a:pt x="1437514" y="85569"/>
                    <a:pt x="1437514" y="116455"/>
                  </a:cubicBezTo>
                  <a:lnTo>
                    <a:pt x="1437514" y="179093"/>
                  </a:lnTo>
                  <a:cubicBezTo>
                    <a:pt x="1437514" y="243409"/>
                    <a:pt x="1385375" y="295548"/>
                    <a:pt x="1321059" y="295548"/>
                  </a:cubicBezTo>
                  <a:lnTo>
                    <a:pt x="116455" y="295548"/>
                  </a:lnTo>
                  <a:cubicBezTo>
                    <a:pt x="52139" y="295548"/>
                    <a:pt x="0" y="243409"/>
                    <a:pt x="0" y="179093"/>
                  </a:cubicBezTo>
                  <a:lnTo>
                    <a:pt x="0" y="116455"/>
                  </a:lnTo>
                  <a:cubicBezTo>
                    <a:pt x="0" y="52139"/>
                    <a:pt x="52139" y="0"/>
                    <a:pt x="116455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37514" cy="333648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584795" y="8843023"/>
            <a:ext cx="2842653" cy="53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7"/>
              </a:lnSpc>
              <a:spcBef>
                <a:spcPct val="0"/>
              </a:spcBef>
            </a:pPr>
            <a:r>
              <a:rPr lang="en-US" b="true" sz="3514" spc="-21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17881" y="7330485"/>
            <a:ext cx="3639813" cy="77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spc="-149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import </a:t>
            </a:r>
            <a:r>
              <a:rPr lang="en-US" sz="2536" spc="-149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math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b="true" sz="2536" spc="-151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2536" spc="-15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536" spc="-151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math.sqrt</a:t>
            </a:r>
            <a:r>
              <a:rPr lang="en-US" b="true" sz="2536" spc="-15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536" spc="-151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16</a:t>
            </a:r>
            <a:r>
              <a:rPr lang="en-US" b="true" sz="2536" spc="-15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  <a:r>
              <a:rPr lang="en-US" b="true" sz="2536" spc="-15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  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387915" y="2048738"/>
            <a:ext cx="5625114" cy="4008622"/>
            <a:chOff x="0" y="0"/>
            <a:chExt cx="2586575" cy="18432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86575" cy="1843270"/>
            </a:xfrm>
            <a:custGeom>
              <a:avLst/>
              <a:gdLst/>
              <a:ahLst/>
              <a:cxnLst/>
              <a:rect r="r" b="b" t="t" l="l"/>
              <a:pathLst>
                <a:path h="1843270" w="2586575">
                  <a:moveTo>
                    <a:pt x="70192" y="0"/>
                  </a:moveTo>
                  <a:lnTo>
                    <a:pt x="2516383" y="0"/>
                  </a:lnTo>
                  <a:cubicBezTo>
                    <a:pt x="2555149" y="0"/>
                    <a:pt x="2586575" y="31426"/>
                    <a:pt x="2586575" y="70192"/>
                  </a:cubicBezTo>
                  <a:lnTo>
                    <a:pt x="2586575" y="1773078"/>
                  </a:lnTo>
                  <a:cubicBezTo>
                    <a:pt x="2586575" y="1811844"/>
                    <a:pt x="2555149" y="1843270"/>
                    <a:pt x="2516383" y="1843270"/>
                  </a:cubicBezTo>
                  <a:lnTo>
                    <a:pt x="70192" y="1843270"/>
                  </a:lnTo>
                  <a:cubicBezTo>
                    <a:pt x="31426" y="1843270"/>
                    <a:pt x="0" y="1811844"/>
                    <a:pt x="0" y="1773078"/>
                  </a:cubicBezTo>
                  <a:lnTo>
                    <a:pt x="0" y="70192"/>
                  </a:lnTo>
                  <a:cubicBezTo>
                    <a:pt x="0" y="31426"/>
                    <a:pt x="31426" y="0"/>
                    <a:pt x="70192" y="0"/>
                  </a:cubicBezTo>
                  <a:close/>
                </a:path>
              </a:pathLst>
            </a:custGeom>
            <a:solidFill>
              <a:srgbClr val="169D5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586575" cy="1909945"/>
            </a:xfrm>
            <a:prstGeom prst="rect">
              <a:avLst/>
            </a:prstGeom>
          </p:spPr>
          <p:txBody>
            <a:bodyPr anchor="ctr" rtlCol="false" tIns="35394" lIns="35394" bIns="35394" rIns="35394"/>
            <a:lstStyle/>
            <a:p>
              <a:pPr algn="ctr">
                <a:lnSpc>
                  <a:spcPts val="461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80180" y="2303764"/>
            <a:ext cx="5040584" cy="349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0"/>
              </a:lnSpc>
            </a:pPr>
            <a:r>
              <a:rPr lang="en-US" b="true" sz="2891" spc="-17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Bibliotecas úteis:</a:t>
            </a:r>
          </a:p>
          <a:p>
            <a:pPr algn="just" marL="624369" indent="-312185" lvl="1">
              <a:lnSpc>
                <a:spcPts val="3470"/>
              </a:lnSpc>
              <a:buFont typeface="Arial"/>
              <a:buChar char="•"/>
            </a:pPr>
            <a:r>
              <a:rPr lang="en-US" b="true" sz="2891" spc="-17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</a:t>
            </a:r>
            <a:r>
              <a:rPr lang="en-US" b="true" sz="2891" i="true" spc="-170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ath: </a:t>
            </a:r>
            <a:r>
              <a:rPr lang="en-US" b="true" sz="2891" spc="-17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operações matemáticas</a:t>
            </a:r>
          </a:p>
          <a:p>
            <a:pPr algn="just" marL="624369" indent="-312185" lvl="1">
              <a:lnSpc>
                <a:spcPts val="3470"/>
              </a:lnSpc>
              <a:buFont typeface="Arial"/>
              <a:buChar char="•"/>
            </a:pPr>
            <a:r>
              <a:rPr lang="en-US" b="true" sz="2891" i="true" spc="-170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urlib</a:t>
            </a:r>
            <a:r>
              <a:rPr lang="en-US" b="true" sz="2891" spc="-17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acessar conteúdos na internet</a:t>
            </a:r>
          </a:p>
          <a:p>
            <a:pPr algn="just" marL="624369" indent="-312185" lvl="1">
              <a:lnSpc>
                <a:spcPts val="3470"/>
              </a:lnSpc>
              <a:buFont typeface="Arial"/>
              <a:buChar char="•"/>
            </a:pPr>
            <a:r>
              <a:rPr lang="en-US" b="true" sz="2891" i="true" spc="-170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datetime</a:t>
            </a:r>
            <a:r>
              <a:rPr lang="en-US" b="true" sz="2891" spc="-17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trabalhar com datas e tempo</a:t>
            </a:r>
          </a:p>
          <a:p>
            <a:pPr algn="just">
              <a:lnSpc>
                <a:spcPts val="34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82186" y="3334622"/>
            <a:ext cx="6017702" cy="4130502"/>
            <a:chOff x="0" y="0"/>
            <a:chExt cx="1554292" cy="10668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4292" cy="1066853"/>
            </a:xfrm>
            <a:custGeom>
              <a:avLst/>
              <a:gdLst/>
              <a:ahLst/>
              <a:cxnLst/>
              <a:rect r="r" b="b" t="t" l="l"/>
              <a:pathLst>
                <a:path h="1066853" w="1554292">
                  <a:moveTo>
                    <a:pt x="65613" y="0"/>
                  </a:moveTo>
                  <a:lnTo>
                    <a:pt x="1488679" y="0"/>
                  </a:lnTo>
                  <a:cubicBezTo>
                    <a:pt x="1524916" y="0"/>
                    <a:pt x="1554292" y="29376"/>
                    <a:pt x="1554292" y="65613"/>
                  </a:cubicBezTo>
                  <a:lnTo>
                    <a:pt x="1554292" y="1001240"/>
                  </a:lnTo>
                  <a:cubicBezTo>
                    <a:pt x="1554292" y="1018642"/>
                    <a:pt x="1547379" y="1035331"/>
                    <a:pt x="1535074" y="1047636"/>
                  </a:cubicBezTo>
                  <a:cubicBezTo>
                    <a:pt x="1522769" y="1059940"/>
                    <a:pt x="1506081" y="1066853"/>
                    <a:pt x="1488679" y="1066853"/>
                  </a:cubicBezTo>
                  <a:lnTo>
                    <a:pt x="65613" y="1066853"/>
                  </a:lnTo>
                  <a:cubicBezTo>
                    <a:pt x="29376" y="1066853"/>
                    <a:pt x="0" y="1037477"/>
                    <a:pt x="0" y="1001240"/>
                  </a:cubicBezTo>
                  <a:lnTo>
                    <a:pt x="0" y="65613"/>
                  </a:lnTo>
                  <a:cubicBezTo>
                    <a:pt x="0" y="48211"/>
                    <a:pt x="6913" y="31522"/>
                    <a:pt x="19218" y="19218"/>
                  </a:cubicBezTo>
                  <a:cubicBezTo>
                    <a:pt x="31522" y="6913"/>
                    <a:pt x="48211" y="0"/>
                    <a:pt x="65613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554292" cy="1133528"/>
            </a:xfrm>
            <a:prstGeom prst="rect">
              <a:avLst/>
            </a:prstGeom>
          </p:spPr>
          <p:txBody>
            <a:bodyPr anchor="ctr" rtlCol="false" tIns="35394" lIns="35394" bIns="35394" rIns="35394"/>
            <a:lstStyle/>
            <a:p>
              <a:pPr algn="ctr">
                <a:lnSpc>
                  <a:spcPts val="46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30656" y="2098873"/>
            <a:ext cx="5625114" cy="4008622"/>
            <a:chOff x="0" y="0"/>
            <a:chExt cx="2586575" cy="1843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575" cy="1843270"/>
            </a:xfrm>
            <a:custGeom>
              <a:avLst/>
              <a:gdLst/>
              <a:ahLst/>
              <a:cxnLst/>
              <a:rect r="r" b="b" t="t" l="l"/>
              <a:pathLst>
                <a:path h="1843270" w="2586575">
                  <a:moveTo>
                    <a:pt x="70192" y="0"/>
                  </a:moveTo>
                  <a:lnTo>
                    <a:pt x="2516383" y="0"/>
                  </a:lnTo>
                  <a:cubicBezTo>
                    <a:pt x="2555149" y="0"/>
                    <a:pt x="2586575" y="31426"/>
                    <a:pt x="2586575" y="70192"/>
                  </a:cubicBezTo>
                  <a:lnTo>
                    <a:pt x="2586575" y="1773078"/>
                  </a:lnTo>
                  <a:cubicBezTo>
                    <a:pt x="2586575" y="1811844"/>
                    <a:pt x="2555149" y="1843270"/>
                    <a:pt x="2516383" y="1843270"/>
                  </a:cubicBezTo>
                  <a:lnTo>
                    <a:pt x="70192" y="1843270"/>
                  </a:lnTo>
                  <a:cubicBezTo>
                    <a:pt x="31426" y="1843270"/>
                    <a:pt x="0" y="1811844"/>
                    <a:pt x="0" y="1773078"/>
                  </a:cubicBezTo>
                  <a:lnTo>
                    <a:pt x="0" y="70192"/>
                  </a:lnTo>
                  <a:cubicBezTo>
                    <a:pt x="0" y="31426"/>
                    <a:pt x="31426" y="0"/>
                    <a:pt x="70192" y="0"/>
                  </a:cubicBezTo>
                  <a:close/>
                </a:path>
              </a:pathLst>
            </a:custGeom>
            <a:solidFill>
              <a:srgbClr val="169D5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586575" cy="1909945"/>
            </a:xfrm>
            <a:prstGeom prst="rect">
              <a:avLst/>
            </a:prstGeom>
          </p:spPr>
          <p:txBody>
            <a:bodyPr anchor="ctr" rtlCol="false" tIns="35394" lIns="35394" bIns="35394" rIns="35394"/>
            <a:lstStyle/>
            <a:p>
              <a:pPr algn="ctr">
                <a:lnSpc>
                  <a:spcPts val="46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81334" y="7862580"/>
            <a:ext cx="7577966" cy="1395720"/>
            <a:chOff x="0" y="0"/>
            <a:chExt cx="1916243" cy="352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6243" cy="352936"/>
            </a:xfrm>
            <a:custGeom>
              <a:avLst/>
              <a:gdLst/>
              <a:ahLst/>
              <a:cxnLst/>
              <a:rect r="r" b="b" t="t" l="l"/>
              <a:pathLst>
                <a:path h="352936" w="1916243">
                  <a:moveTo>
                    <a:pt x="52103" y="0"/>
                  </a:moveTo>
                  <a:lnTo>
                    <a:pt x="1864139" y="0"/>
                  </a:lnTo>
                  <a:cubicBezTo>
                    <a:pt x="1877958" y="0"/>
                    <a:pt x="1891211" y="5489"/>
                    <a:pt x="1900982" y="15261"/>
                  </a:cubicBezTo>
                  <a:cubicBezTo>
                    <a:pt x="1910753" y="25032"/>
                    <a:pt x="1916243" y="38285"/>
                    <a:pt x="1916243" y="52103"/>
                  </a:cubicBezTo>
                  <a:lnTo>
                    <a:pt x="1916243" y="300833"/>
                  </a:lnTo>
                  <a:cubicBezTo>
                    <a:pt x="1916243" y="314652"/>
                    <a:pt x="1910753" y="327904"/>
                    <a:pt x="1900982" y="337675"/>
                  </a:cubicBezTo>
                  <a:cubicBezTo>
                    <a:pt x="1891211" y="347447"/>
                    <a:pt x="1877958" y="352936"/>
                    <a:pt x="1864139" y="352936"/>
                  </a:cubicBezTo>
                  <a:lnTo>
                    <a:pt x="52103" y="352936"/>
                  </a:lnTo>
                  <a:cubicBezTo>
                    <a:pt x="38285" y="352936"/>
                    <a:pt x="25032" y="347447"/>
                    <a:pt x="15261" y="337675"/>
                  </a:cubicBezTo>
                  <a:cubicBezTo>
                    <a:pt x="5489" y="327904"/>
                    <a:pt x="0" y="314652"/>
                    <a:pt x="0" y="300833"/>
                  </a:cubicBezTo>
                  <a:lnTo>
                    <a:pt x="0" y="52103"/>
                  </a:lnTo>
                  <a:cubicBezTo>
                    <a:pt x="0" y="38285"/>
                    <a:pt x="5489" y="25032"/>
                    <a:pt x="15261" y="15261"/>
                  </a:cubicBezTo>
                  <a:cubicBezTo>
                    <a:pt x="25032" y="5489"/>
                    <a:pt x="38285" y="0"/>
                    <a:pt x="5210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6243" cy="39103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17475" y="7028136"/>
            <a:ext cx="2970162" cy="1168773"/>
            <a:chOff x="0" y="0"/>
            <a:chExt cx="751066" cy="2955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1066" cy="295548"/>
            </a:xfrm>
            <a:custGeom>
              <a:avLst/>
              <a:gdLst/>
              <a:ahLst/>
              <a:cxnLst/>
              <a:rect r="r" b="b" t="t" l="l"/>
              <a:pathLst>
                <a:path h="295548" w="751066">
                  <a:moveTo>
                    <a:pt x="132935" y="0"/>
                  </a:moveTo>
                  <a:lnTo>
                    <a:pt x="618131" y="0"/>
                  </a:lnTo>
                  <a:cubicBezTo>
                    <a:pt x="691549" y="0"/>
                    <a:pt x="751066" y="59517"/>
                    <a:pt x="751066" y="132935"/>
                  </a:cubicBezTo>
                  <a:lnTo>
                    <a:pt x="751066" y="162613"/>
                  </a:lnTo>
                  <a:cubicBezTo>
                    <a:pt x="751066" y="236031"/>
                    <a:pt x="691549" y="295548"/>
                    <a:pt x="618131" y="295548"/>
                  </a:cubicBezTo>
                  <a:lnTo>
                    <a:pt x="132935" y="295548"/>
                  </a:lnTo>
                  <a:cubicBezTo>
                    <a:pt x="59517" y="295548"/>
                    <a:pt x="0" y="236031"/>
                    <a:pt x="0" y="162613"/>
                  </a:cubicBezTo>
                  <a:lnTo>
                    <a:pt x="0" y="132935"/>
                  </a:lnTo>
                  <a:cubicBezTo>
                    <a:pt x="0" y="59517"/>
                    <a:pt x="59517" y="0"/>
                    <a:pt x="132935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51066" cy="333648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220814" y="6427284"/>
            <a:ext cx="3802107" cy="1435295"/>
          </a:xfrm>
          <a:custGeom>
            <a:avLst/>
            <a:gdLst/>
            <a:ahLst/>
            <a:cxnLst/>
            <a:rect r="r" b="b" t="t" l="l"/>
            <a:pathLst>
              <a:path h="1435295" w="3802107">
                <a:moveTo>
                  <a:pt x="0" y="0"/>
                </a:moveTo>
                <a:lnTo>
                  <a:pt x="3802107" y="0"/>
                </a:lnTo>
                <a:lnTo>
                  <a:pt x="3802107" y="1435296"/>
                </a:lnTo>
                <a:lnTo>
                  <a:pt x="0" y="1435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Bibliotecas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75554" y="4103184"/>
            <a:ext cx="5430968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7"/>
              </a:lnSpc>
              <a:spcBef>
                <a:spcPct val="0"/>
              </a:spcBef>
            </a:pPr>
            <a:r>
              <a:rPr lang="en-US" b="true" sz="3823" spc="-225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Bibliotecas </a:t>
            </a:r>
            <a:r>
              <a:rPr lang="en-US" b="true" sz="3823" i="true" spc="-225" u="sng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externas</a:t>
            </a:r>
            <a:r>
              <a:rPr lang="en-US" b="true" sz="3823" spc="-225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precisam ser instaladas antes de serem usadas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22921" y="2400719"/>
            <a:ext cx="5040584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0"/>
              </a:lnSpc>
            </a:pPr>
            <a:r>
              <a:rPr lang="en-US" b="true" sz="2891" spc="-17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Bibliotecas úteis:</a:t>
            </a:r>
          </a:p>
          <a:p>
            <a:pPr algn="just" marL="624370" indent="-312185" lvl="1">
              <a:lnSpc>
                <a:spcPts val="3470"/>
              </a:lnSpc>
              <a:buFont typeface="Arial"/>
              <a:buChar char="•"/>
            </a:pPr>
            <a:r>
              <a:rPr lang="en-US" b="true" sz="2891" i="true" spc="-170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numpy</a:t>
            </a:r>
            <a:r>
              <a:rPr lang="en-US" b="true" sz="2891" spc="-17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operações com vetores e matrizes</a:t>
            </a:r>
          </a:p>
          <a:p>
            <a:pPr algn="just" marL="624370" indent="-312185" lvl="1">
              <a:lnSpc>
                <a:spcPts val="3470"/>
              </a:lnSpc>
              <a:buFont typeface="Arial"/>
              <a:buChar char="•"/>
            </a:pPr>
            <a:r>
              <a:rPr lang="en-US" b="true" sz="2891" i="true" spc="-170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pandas</a:t>
            </a:r>
            <a:r>
              <a:rPr lang="en-US" b="true" sz="2891" spc="-17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manipulação de dados</a:t>
            </a:r>
          </a:p>
          <a:p>
            <a:pPr algn="just" marL="624370" indent="-312185" lvl="1">
              <a:lnSpc>
                <a:spcPts val="3470"/>
              </a:lnSpc>
              <a:buFont typeface="Arial"/>
              <a:buChar char="•"/>
            </a:pPr>
            <a:r>
              <a:rPr lang="en-US" b="true" sz="2891" i="true" spc="-170">
                <a:solidFill>
                  <a:srgbClr val="000000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MatPlotLib: criação de gráficos e tabelas</a:t>
            </a:r>
          </a:p>
          <a:p>
            <a:pPr algn="just">
              <a:lnSpc>
                <a:spcPts val="347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364314" y="7307055"/>
            <a:ext cx="2080648" cy="55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b="true" sz="3685" spc="-22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Terminal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96764" y="8520759"/>
            <a:ext cx="6492899" cy="4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b="true" sz="2852" spc="-170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pip install </a:t>
            </a:r>
            <a:r>
              <a:rPr lang="en-US" b="true" sz="2852" i="true" spc="-170">
                <a:solidFill>
                  <a:srgbClr val="FFFFFF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(nome da biblioteca)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32230" y="4308719"/>
            <a:ext cx="14423540" cy="191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94"/>
              </a:lnSpc>
            </a:pPr>
            <a:r>
              <a:rPr lang="en-US" sz="10212" i="true" spc="-105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Revisão do semestre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1 - Entrada e Saída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329967"/>
            <a:ext cx="7454873" cy="4837000"/>
            <a:chOff x="0" y="0"/>
            <a:chExt cx="1925494" cy="12493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5494" cy="1249332"/>
            </a:xfrm>
            <a:custGeom>
              <a:avLst/>
              <a:gdLst/>
              <a:ahLst/>
              <a:cxnLst/>
              <a:rect r="r" b="b" t="t" l="l"/>
              <a:pathLst>
                <a:path h="1249332" w="1925494">
                  <a:moveTo>
                    <a:pt x="52964" y="0"/>
                  </a:moveTo>
                  <a:lnTo>
                    <a:pt x="1872530" y="0"/>
                  </a:lnTo>
                  <a:cubicBezTo>
                    <a:pt x="1886577" y="0"/>
                    <a:pt x="1900048" y="5580"/>
                    <a:pt x="1909981" y="15513"/>
                  </a:cubicBezTo>
                  <a:cubicBezTo>
                    <a:pt x="1919913" y="25445"/>
                    <a:pt x="1925494" y="38917"/>
                    <a:pt x="1925494" y="52964"/>
                  </a:cubicBezTo>
                  <a:lnTo>
                    <a:pt x="1925494" y="1196368"/>
                  </a:lnTo>
                  <a:cubicBezTo>
                    <a:pt x="1925494" y="1210415"/>
                    <a:pt x="1919913" y="1223887"/>
                    <a:pt x="1909981" y="1233819"/>
                  </a:cubicBezTo>
                  <a:cubicBezTo>
                    <a:pt x="1900048" y="1243752"/>
                    <a:pt x="1886577" y="1249332"/>
                    <a:pt x="1872530" y="1249332"/>
                  </a:cubicBezTo>
                  <a:lnTo>
                    <a:pt x="52964" y="1249332"/>
                  </a:lnTo>
                  <a:cubicBezTo>
                    <a:pt x="38917" y="1249332"/>
                    <a:pt x="25445" y="1243752"/>
                    <a:pt x="15513" y="1233819"/>
                  </a:cubicBezTo>
                  <a:cubicBezTo>
                    <a:pt x="5580" y="1223887"/>
                    <a:pt x="0" y="1210415"/>
                    <a:pt x="0" y="1196368"/>
                  </a:cubicBezTo>
                  <a:lnTo>
                    <a:pt x="0" y="52964"/>
                  </a:lnTo>
                  <a:cubicBezTo>
                    <a:pt x="0" y="38917"/>
                    <a:pt x="5580" y="25445"/>
                    <a:pt x="15513" y="15513"/>
                  </a:cubicBezTo>
                  <a:cubicBezTo>
                    <a:pt x="25445" y="5580"/>
                    <a:pt x="38917" y="0"/>
                    <a:pt x="5296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925494" cy="1325532"/>
            </a:xfrm>
            <a:prstGeom prst="rect">
              <a:avLst/>
            </a:prstGeom>
          </p:spPr>
          <p:txBody>
            <a:bodyPr anchor="ctr" rtlCol="false" tIns="35394" lIns="35394" bIns="35394" rIns="35394"/>
            <a:lstStyle/>
            <a:p>
              <a:pPr algn="ctr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Crie um programa que peça para o usuário a quantidade de doces que ele quer e responda com a quantidade de doces que ele deseja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08657" y="3465863"/>
            <a:ext cx="6654519" cy="4565208"/>
            <a:chOff x="0" y="0"/>
            <a:chExt cx="1682730" cy="11544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2730" cy="1154406"/>
            </a:xfrm>
            <a:custGeom>
              <a:avLst/>
              <a:gdLst/>
              <a:ahLst/>
              <a:cxnLst/>
              <a:rect r="r" b="b" t="t" l="l"/>
              <a:pathLst>
                <a:path h="1154406" w="1682730">
                  <a:moveTo>
                    <a:pt x="59334" y="0"/>
                  </a:moveTo>
                  <a:lnTo>
                    <a:pt x="1623396" y="0"/>
                  </a:lnTo>
                  <a:cubicBezTo>
                    <a:pt x="1656166" y="0"/>
                    <a:pt x="1682730" y="26565"/>
                    <a:pt x="1682730" y="59334"/>
                  </a:cubicBezTo>
                  <a:lnTo>
                    <a:pt x="1682730" y="1095072"/>
                  </a:lnTo>
                  <a:cubicBezTo>
                    <a:pt x="1682730" y="1110808"/>
                    <a:pt x="1676479" y="1125900"/>
                    <a:pt x="1665352" y="1137027"/>
                  </a:cubicBezTo>
                  <a:cubicBezTo>
                    <a:pt x="1654225" y="1148154"/>
                    <a:pt x="1639133" y="1154406"/>
                    <a:pt x="1623396" y="1154406"/>
                  </a:cubicBezTo>
                  <a:lnTo>
                    <a:pt x="59334" y="1154406"/>
                  </a:lnTo>
                  <a:cubicBezTo>
                    <a:pt x="43597" y="1154406"/>
                    <a:pt x="28506" y="1148154"/>
                    <a:pt x="17378" y="1137027"/>
                  </a:cubicBezTo>
                  <a:cubicBezTo>
                    <a:pt x="6251" y="1125900"/>
                    <a:pt x="0" y="1110808"/>
                    <a:pt x="0" y="1095072"/>
                  </a:cubicBezTo>
                  <a:lnTo>
                    <a:pt x="0" y="59334"/>
                  </a:lnTo>
                  <a:cubicBezTo>
                    <a:pt x="0" y="43597"/>
                    <a:pt x="6251" y="28506"/>
                    <a:pt x="17378" y="17378"/>
                  </a:cubicBezTo>
                  <a:cubicBezTo>
                    <a:pt x="28506" y="6251"/>
                    <a:pt x="43597" y="0"/>
                    <a:pt x="5933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82730" cy="119250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50891" y="4308235"/>
            <a:ext cx="5770051" cy="250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doces voce deseja?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Seu pedido de 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 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foi registrado!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55826" y="7731721"/>
            <a:ext cx="4353513" cy="1002364"/>
            <a:chOff x="0" y="0"/>
            <a:chExt cx="1100874" cy="253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de saída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1 - Entrada e Saída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670092" y="2304558"/>
            <a:ext cx="13083968" cy="6078020"/>
            <a:chOff x="0" y="0"/>
            <a:chExt cx="3308547" cy="1536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88261" y="4264025"/>
            <a:ext cx="11866681" cy="4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967244" y="7881396"/>
            <a:ext cx="4353513" cy="1002364"/>
            <a:chOff x="0" y="0"/>
            <a:chExt cx="1100874" cy="2534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1 - Entrada e Saída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07325" y="4249514"/>
            <a:ext cx="11866681" cy="14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“Seu pedido de”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</a:t>
            </a:r>
            <a:r>
              <a:rPr lang="en-US" b="true" sz="2861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“foi registrado!”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2 - Cálculos simples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7419" y="2593959"/>
            <a:ext cx="9466912" cy="6309015"/>
            <a:chOff x="0" y="0"/>
            <a:chExt cx="2445176" cy="16295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5176" cy="1629534"/>
            </a:xfrm>
            <a:custGeom>
              <a:avLst/>
              <a:gdLst/>
              <a:ahLst/>
              <a:cxnLst/>
              <a:rect r="r" b="b" t="t" l="l"/>
              <a:pathLst>
                <a:path h="1629534" w="2445176">
                  <a:moveTo>
                    <a:pt x="41707" y="0"/>
                  </a:moveTo>
                  <a:lnTo>
                    <a:pt x="2403469" y="0"/>
                  </a:lnTo>
                  <a:cubicBezTo>
                    <a:pt x="2414531" y="0"/>
                    <a:pt x="2425139" y="4394"/>
                    <a:pt x="2432961" y="12216"/>
                  </a:cubicBezTo>
                  <a:cubicBezTo>
                    <a:pt x="2440782" y="20037"/>
                    <a:pt x="2445176" y="30646"/>
                    <a:pt x="2445176" y="41707"/>
                  </a:cubicBezTo>
                  <a:lnTo>
                    <a:pt x="2445176" y="1587827"/>
                  </a:lnTo>
                  <a:cubicBezTo>
                    <a:pt x="2445176" y="1610861"/>
                    <a:pt x="2426503" y="1629534"/>
                    <a:pt x="2403469" y="1629534"/>
                  </a:cubicBezTo>
                  <a:lnTo>
                    <a:pt x="41707" y="1629534"/>
                  </a:lnTo>
                  <a:cubicBezTo>
                    <a:pt x="18673" y="1629534"/>
                    <a:pt x="0" y="1610861"/>
                    <a:pt x="0" y="1587827"/>
                  </a:cubicBezTo>
                  <a:lnTo>
                    <a:pt x="0" y="41707"/>
                  </a:lnTo>
                  <a:cubicBezTo>
                    <a:pt x="0" y="30646"/>
                    <a:pt x="4394" y="20037"/>
                    <a:pt x="12216" y="12216"/>
                  </a:cubicBezTo>
                  <a:cubicBezTo>
                    <a:pt x="20037" y="4394"/>
                    <a:pt x="30646" y="0"/>
                    <a:pt x="4170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445176" cy="170573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Dando continuidade ao programa anterior, faça um novo programa que receba como entrada: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quantidade de doces que o cliente deseja comprar;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valor pago pelo cliente.</a:t>
              </a:r>
            </a:p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programa deve calcular e exibir o troco a ser devolvido.</a:t>
              </a:r>
            </a:p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Considere que cada doce custa     R$ 5,00.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0960" y="3114356"/>
            <a:ext cx="6654519" cy="4565208"/>
            <a:chOff x="0" y="0"/>
            <a:chExt cx="1682730" cy="11544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2730" cy="1154406"/>
            </a:xfrm>
            <a:custGeom>
              <a:avLst/>
              <a:gdLst/>
              <a:ahLst/>
              <a:cxnLst/>
              <a:rect r="r" b="b" t="t" l="l"/>
              <a:pathLst>
                <a:path h="1154406" w="1682730">
                  <a:moveTo>
                    <a:pt x="59334" y="0"/>
                  </a:moveTo>
                  <a:lnTo>
                    <a:pt x="1623396" y="0"/>
                  </a:lnTo>
                  <a:cubicBezTo>
                    <a:pt x="1656166" y="0"/>
                    <a:pt x="1682730" y="26565"/>
                    <a:pt x="1682730" y="59334"/>
                  </a:cubicBezTo>
                  <a:lnTo>
                    <a:pt x="1682730" y="1095072"/>
                  </a:lnTo>
                  <a:cubicBezTo>
                    <a:pt x="1682730" y="1110808"/>
                    <a:pt x="1676479" y="1125900"/>
                    <a:pt x="1665352" y="1137027"/>
                  </a:cubicBezTo>
                  <a:cubicBezTo>
                    <a:pt x="1654225" y="1148154"/>
                    <a:pt x="1639133" y="1154406"/>
                    <a:pt x="1623396" y="1154406"/>
                  </a:cubicBezTo>
                  <a:lnTo>
                    <a:pt x="59334" y="1154406"/>
                  </a:lnTo>
                  <a:cubicBezTo>
                    <a:pt x="43597" y="1154406"/>
                    <a:pt x="28506" y="1148154"/>
                    <a:pt x="17378" y="1137027"/>
                  </a:cubicBezTo>
                  <a:cubicBezTo>
                    <a:pt x="6251" y="1125900"/>
                    <a:pt x="0" y="1110808"/>
                    <a:pt x="0" y="1095072"/>
                  </a:cubicBezTo>
                  <a:lnTo>
                    <a:pt x="0" y="59334"/>
                  </a:lnTo>
                  <a:cubicBezTo>
                    <a:pt x="0" y="43597"/>
                    <a:pt x="6251" y="28506"/>
                    <a:pt x="17378" y="17378"/>
                  </a:cubicBezTo>
                  <a:cubicBezTo>
                    <a:pt x="28506" y="6251"/>
                    <a:pt x="43597" y="0"/>
                    <a:pt x="5933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82730" cy="119250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368224" y="3608211"/>
            <a:ext cx="5891076" cy="301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doces voce deseja?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50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reais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Pagamento: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100</a:t>
            </a:r>
          </a:p>
          <a:p>
            <a:pPr algn="ctr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Troco: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50 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reais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18128" y="7380214"/>
            <a:ext cx="4353513" cy="1002364"/>
            <a:chOff x="0" y="0"/>
            <a:chExt cx="1100874" cy="253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de saída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4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2 - Cálculos simples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14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2 - Cálculos simples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250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2 - Cálculos simples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351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“Pagamento: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= pagamento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-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preco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“Troco: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troco)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2 - Cálculos simples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3 - Condicionais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7419" y="2593959"/>
            <a:ext cx="9466912" cy="6890040"/>
            <a:chOff x="0" y="0"/>
            <a:chExt cx="2445176" cy="17796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5176" cy="1779605"/>
            </a:xfrm>
            <a:custGeom>
              <a:avLst/>
              <a:gdLst/>
              <a:ahLst/>
              <a:cxnLst/>
              <a:rect r="r" b="b" t="t" l="l"/>
              <a:pathLst>
                <a:path h="1779605" w="2445176">
                  <a:moveTo>
                    <a:pt x="41707" y="0"/>
                  </a:moveTo>
                  <a:lnTo>
                    <a:pt x="2403469" y="0"/>
                  </a:lnTo>
                  <a:cubicBezTo>
                    <a:pt x="2414531" y="0"/>
                    <a:pt x="2425139" y="4394"/>
                    <a:pt x="2432961" y="12216"/>
                  </a:cubicBezTo>
                  <a:cubicBezTo>
                    <a:pt x="2440782" y="20037"/>
                    <a:pt x="2445176" y="30646"/>
                    <a:pt x="2445176" y="41707"/>
                  </a:cubicBezTo>
                  <a:lnTo>
                    <a:pt x="2445176" y="1737898"/>
                  </a:lnTo>
                  <a:cubicBezTo>
                    <a:pt x="2445176" y="1760932"/>
                    <a:pt x="2426503" y="1779605"/>
                    <a:pt x="2403469" y="1779605"/>
                  </a:cubicBezTo>
                  <a:lnTo>
                    <a:pt x="41707" y="1779605"/>
                  </a:lnTo>
                  <a:cubicBezTo>
                    <a:pt x="30646" y="1779605"/>
                    <a:pt x="20037" y="1775211"/>
                    <a:pt x="12216" y="1767389"/>
                  </a:cubicBezTo>
                  <a:cubicBezTo>
                    <a:pt x="4394" y="1759568"/>
                    <a:pt x="0" y="1748959"/>
                    <a:pt x="0" y="1737898"/>
                  </a:cubicBezTo>
                  <a:lnTo>
                    <a:pt x="0" y="41707"/>
                  </a:lnTo>
                  <a:cubicBezTo>
                    <a:pt x="0" y="30646"/>
                    <a:pt x="4394" y="20037"/>
                    <a:pt x="12216" y="12216"/>
                  </a:cubicBezTo>
                  <a:cubicBezTo>
                    <a:pt x="20037" y="4394"/>
                    <a:pt x="30646" y="0"/>
                    <a:pt x="4170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445176" cy="185580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Dando continuidade ao programa anterior, faça um novo programa que receba como entrada: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quantidade de doces que o cliente deseja comprar;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valor pago pelo cliente.</a:t>
              </a:r>
            </a:p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programa deve calcular e exibir o troco a ser devolvido, porém, se o valor pago for menor do que o necessário, deve mostrar que o valor foi insuficiente.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0960" y="3114356"/>
            <a:ext cx="6654519" cy="4565208"/>
            <a:chOff x="0" y="0"/>
            <a:chExt cx="1682730" cy="11544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2730" cy="1154406"/>
            </a:xfrm>
            <a:custGeom>
              <a:avLst/>
              <a:gdLst/>
              <a:ahLst/>
              <a:cxnLst/>
              <a:rect r="r" b="b" t="t" l="l"/>
              <a:pathLst>
                <a:path h="1154406" w="1682730">
                  <a:moveTo>
                    <a:pt x="59334" y="0"/>
                  </a:moveTo>
                  <a:lnTo>
                    <a:pt x="1623396" y="0"/>
                  </a:lnTo>
                  <a:cubicBezTo>
                    <a:pt x="1656166" y="0"/>
                    <a:pt x="1682730" y="26565"/>
                    <a:pt x="1682730" y="59334"/>
                  </a:cubicBezTo>
                  <a:lnTo>
                    <a:pt x="1682730" y="1095072"/>
                  </a:lnTo>
                  <a:cubicBezTo>
                    <a:pt x="1682730" y="1110808"/>
                    <a:pt x="1676479" y="1125900"/>
                    <a:pt x="1665352" y="1137027"/>
                  </a:cubicBezTo>
                  <a:cubicBezTo>
                    <a:pt x="1654225" y="1148154"/>
                    <a:pt x="1639133" y="1154406"/>
                    <a:pt x="1623396" y="1154406"/>
                  </a:cubicBezTo>
                  <a:lnTo>
                    <a:pt x="59334" y="1154406"/>
                  </a:lnTo>
                  <a:cubicBezTo>
                    <a:pt x="43597" y="1154406"/>
                    <a:pt x="28506" y="1148154"/>
                    <a:pt x="17378" y="1137027"/>
                  </a:cubicBezTo>
                  <a:cubicBezTo>
                    <a:pt x="6251" y="1125900"/>
                    <a:pt x="0" y="1110808"/>
                    <a:pt x="0" y="1095072"/>
                  </a:cubicBezTo>
                  <a:lnTo>
                    <a:pt x="0" y="59334"/>
                  </a:lnTo>
                  <a:cubicBezTo>
                    <a:pt x="0" y="43597"/>
                    <a:pt x="6251" y="28506"/>
                    <a:pt x="17378" y="17378"/>
                  </a:cubicBezTo>
                  <a:cubicBezTo>
                    <a:pt x="28506" y="6251"/>
                    <a:pt x="43597" y="0"/>
                    <a:pt x="5933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82730" cy="119250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368224" y="3608211"/>
            <a:ext cx="5891076" cy="351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doces voce deseja?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50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reais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Pagamento: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30</a:t>
            </a:r>
          </a:p>
          <a:p>
            <a:pPr algn="ctr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pagamento não é suficiente!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18128" y="7380214"/>
            <a:ext cx="4353513" cy="1002364"/>
            <a:chOff x="0" y="0"/>
            <a:chExt cx="1100874" cy="253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de saída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4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3 - Condicionais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14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3 - Condicionais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250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output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3 - Condicionais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2798629"/>
            <a:ext cx="11866681" cy="503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“Pagamento: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= pagamento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-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preco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&lt; 0: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“O pagamento não é suficiente!“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else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“Troco:“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troco)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3 - Condicionais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4 - Laços de Repetição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7419" y="2593959"/>
            <a:ext cx="9466912" cy="7471065"/>
            <a:chOff x="0" y="0"/>
            <a:chExt cx="2445176" cy="19296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5176" cy="1929676"/>
            </a:xfrm>
            <a:custGeom>
              <a:avLst/>
              <a:gdLst/>
              <a:ahLst/>
              <a:cxnLst/>
              <a:rect r="r" b="b" t="t" l="l"/>
              <a:pathLst>
                <a:path h="1929676" w="2445176">
                  <a:moveTo>
                    <a:pt x="41707" y="0"/>
                  </a:moveTo>
                  <a:lnTo>
                    <a:pt x="2403469" y="0"/>
                  </a:lnTo>
                  <a:cubicBezTo>
                    <a:pt x="2414531" y="0"/>
                    <a:pt x="2425139" y="4394"/>
                    <a:pt x="2432961" y="12216"/>
                  </a:cubicBezTo>
                  <a:cubicBezTo>
                    <a:pt x="2440782" y="20037"/>
                    <a:pt x="2445176" y="30646"/>
                    <a:pt x="2445176" y="41707"/>
                  </a:cubicBezTo>
                  <a:lnTo>
                    <a:pt x="2445176" y="1887969"/>
                  </a:lnTo>
                  <a:cubicBezTo>
                    <a:pt x="2445176" y="1899030"/>
                    <a:pt x="2440782" y="1909638"/>
                    <a:pt x="2432961" y="1917460"/>
                  </a:cubicBezTo>
                  <a:cubicBezTo>
                    <a:pt x="2425139" y="1925282"/>
                    <a:pt x="2414531" y="1929676"/>
                    <a:pt x="2403469" y="1929676"/>
                  </a:cubicBezTo>
                  <a:lnTo>
                    <a:pt x="41707" y="1929676"/>
                  </a:lnTo>
                  <a:cubicBezTo>
                    <a:pt x="30646" y="1929676"/>
                    <a:pt x="20037" y="1925282"/>
                    <a:pt x="12216" y="1917460"/>
                  </a:cubicBezTo>
                  <a:cubicBezTo>
                    <a:pt x="4394" y="1909638"/>
                    <a:pt x="0" y="1899030"/>
                    <a:pt x="0" y="1887969"/>
                  </a:cubicBezTo>
                  <a:lnTo>
                    <a:pt x="0" y="41707"/>
                  </a:lnTo>
                  <a:cubicBezTo>
                    <a:pt x="0" y="30646"/>
                    <a:pt x="4394" y="20037"/>
                    <a:pt x="12216" y="12216"/>
                  </a:cubicBezTo>
                  <a:cubicBezTo>
                    <a:pt x="20037" y="4394"/>
                    <a:pt x="30646" y="0"/>
                    <a:pt x="4170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445176" cy="200587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Dando continuidade ao programa anterior, faça um novo programa que receba como entrada: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quantidade de doces que o cliente deseja comprar;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quantidade de parcelas</a:t>
              </a: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.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valor de cada parcela</a:t>
              </a:r>
            </a:p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programa deve calcular e exibir o troco a ser devolvido, porém, se o valor pago for menor do que o necessário, deve mostrar que o valor foi insuficiente.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0960" y="3114356"/>
            <a:ext cx="6654519" cy="5302142"/>
            <a:chOff x="0" y="0"/>
            <a:chExt cx="1682730" cy="13407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2730" cy="1340754"/>
            </a:xfrm>
            <a:custGeom>
              <a:avLst/>
              <a:gdLst/>
              <a:ahLst/>
              <a:cxnLst/>
              <a:rect r="r" b="b" t="t" l="l"/>
              <a:pathLst>
                <a:path h="1340754" w="1682730">
                  <a:moveTo>
                    <a:pt x="59334" y="0"/>
                  </a:moveTo>
                  <a:lnTo>
                    <a:pt x="1623396" y="0"/>
                  </a:lnTo>
                  <a:cubicBezTo>
                    <a:pt x="1656166" y="0"/>
                    <a:pt x="1682730" y="26565"/>
                    <a:pt x="1682730" y="59334"/>
                  </a:cubicBezTo>
                  <a:lnTo>
                    <a:pt x="1682730" y="1281421"/>
                  </a:lnTo>
                  <a:cubicBezTo>
                    <a:pt x="1682730" y="1297157"/>
                    <a:pt x="1676479" y="1312249"/>
                    <a:pt x="1665352" y="1323376"/>
                  </a:cubicBezTo>
                  <a:cubicBezTo>
                    <a:pt x="1654225" y="1334503"/>
                    <a:pt x="1639133" y="1340754"/>
                    <a:pt x="1623396" y="1340754"/>
                  </a:cubicBezTo>
                  <a:lnTo>
                    <a:pt x="59334" y="1340754"/>
                  </a:lnTo>
                  <a:cubicBezTo>
                    <a:pt x="43597" y="1340754"/>
                    <a:pt x="28506" y="1334503"/>
                    <a:pt x="17378" y="1323376"/>
                  </a:cubicBezTo>
                  <a:cubicBezTo>
                    <a:pt x="6251" y="1312249"/>
                    <a:pt x="0" y="1297157"/>
                    <a:pt x="0" y="1281421"/>
                  </a:cubicBezTo>
                  <a:lnTo>
                    <a:pt x="0" y="59334"/>
                  </a:lnTo>
                  <a:cubicBezTo>
                    <a:pt x="0" y="43597"/>
                    <a:pt x="6251" y="28506"/>
                    <a:pt x="17378" y="17378"/>
                  </a:cubicBezTo>
                  <a:cubicBezTo>
                    <a:pt x="28506" y="6251"/>
                    <a:pt x="43597" y="0"/>
                    <a:pt x="5933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82730" cy="1378854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368224" y="3455940"/>
            <a:ext cx="5891076" cy="452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doces voce deseja?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50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reais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Parcelas: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pagamento não é suficiente!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21463" y="8255936"/>
            <a:ext cx="4353513" cy="1002364"/>
            <a:chOff x="0" y="0"/>
            <a:chExt cx="1100874" cy="253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de saída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4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4 - Laços de Repetição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14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4 - Laços de Repetição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250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output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4 - Laços de Repetição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89156" y="1803377"/>
            <a:ext cx="13083968" cy="6995427"/>
            <a:chOff x="0" y="0"/>
            <a:chExt cx="3308547" cy="17689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768936"/>
            </a:xfrm>
            <a:custGeom>
              <a:avLst/>
              <a:gdLst/>
              <a:ahLst/>
              <a:cxnLst/>
              <a:rect r="r" b="b" t="t" l="l"/>
              <a:pathLst>
                <a:path h="1768936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738759"/>
                  </a:lnTo>
                  <a:cubicBezTo>
                    <a:pt x="3308547" y="1746762"/>
                    <a:pt x="3305368" y="1754438"/>
                    <a:pt x="3299708" y="1760097"/>
                  </a:cubicBezTo>
                  <a:cubicBezTo>
                    <a:pt x="3294049" y="1765756"/>
                    <a:pt x="3286373" y="1768936"/>
                    <a:pt x="3278370" y="1768936"/>
                  </a:cubicBezTo>
                  <a:lnTo>
                    <a:pt x="30177" y="1768936"/>
                  </a:lnTo>
                  <a:cubicBezTo>
                    <a:pt x="22174" y="1768936"/>
                    <a:pt x="14498" y="1765756"/>
                    <a:pt x="8839" y="1760097"/>
                  </a:cubicBezTo>
                  <a:cubicBezTo>
                    <a:pt x="3179" y="1754438"/>
                    <a:pt x="0" y="1746762"/>
                    <a:pt x="0" y="1738759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80703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1971458"/>
            <a:ext cx="11866681" cy="654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parcelas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 = 0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i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(parcelas):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 = pagamento +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= pagamento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-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preco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&lt; 0: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“O pagamento não é suficiente!“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else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“Troco:“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troco)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8530600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4 - Laços de Repetição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-1932915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5 - Laços 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1745" y="1811907"/>
            <a:ext cx="9466912" cy="8052090"/>
            <a:chOff x="0" y="0"/>
            <a:chExt cx="2445176" cy="20797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5176" cy="2079747"/>
            </a:xfrm>
            <a:custGeom>
              <a:avLst/>
              <a:gdLst/>
              <a:ahLst/>
              <a:cxnLst/>
              <a:rect r="r" b="b" t="t" l="l"/>
              <a:pathLst>
                <a:path h="2079747" w="2445176">
                  <a:moveTo>
                    <a:pt x="41707" y="0"/>
                  </a:moveTo>
                  <a:lnTo>
                    <a:pt x="2403469" y="0"/>
                  </a:lnTo>
                  <a:cubicBezTo>
                    <a:pt x="2414531" y="0"/>
                    <a:pt x="2425139" y="4394"/>
                    <a:pt x="2432961" y="12216"/>
                  </a:cubicBezTo>
                  <a:cubicBezTo>
                    <a:pt x="2440782" y="20037"/>
                    <a:pt x="2445176" y="30646"/>
                    <a:pt x="2445176" y="41707"/>
                  </a:cubicBezTo>
                  <a:lnTo>
                    <a:pt x="2445176" y="2038040"/>
                  </a:lnTo>
                  <a:cubicBezTo>
                    <a:pt x="2445176" y="2061074"/>
                    <a:pt x="2426503" y="2079747"/>
                    <a:pt x="2403469" y="2079747"/>
                  </a:cubicBezTo>
                  <a:lnTo>
                    <a:pt x="41707" y="2079747"/>
                  </a:lnTo>
                  <a:cubicBezTo>
                    <a:pt x="30646" y="2079747"/>
                    <a:pt x="20037" y="2075353"/>
                    <a:pt x="12216" y="2067531"/>
                  </a:cubicBezTo>
                  <a:cubicBezTo>
                    <a:pt x="4394" y="2059709"/>
                    <a:pt x="0" y="2049101"/>
                    <a:pt x="0" y="2038040"/>
                  </a:cubicBezTo>
                  <a:lnTo>
                    <a:pt x="0" y="41707"/>
                  </a:lnTo>
                  <a:cubicBezTo>
                    <a:pt x="0" y="30646"/>
                    <a:pt x="4394" y="20037"/>
                    <a:pt x="12216" y="12216"/>
                  </a:cubicBezTo>
                  <a:cubicBezTo>
                    <a:pt x="20037" y="4394"/>
                    <a:pt x="30646" y="0"/>
                    <a:pt x="4170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445176" cy="21559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Dando continuidade ao programa anterior, faça um novo programa que receba como entrada: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quantidade de clientes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cada cliente </a:t>
              </a: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quantidade de doces que o cliente deseja comprar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cada cliente a quantidade de parcelas</a:t>
              </a: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.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cada cliente o valor de cada parcela</a:t>
              </a:r>
            </a:p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programa deve fazer o que fazia antes para cada cliente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35604" y="494563"/>
            <a:ext cx="6654519" cy="9197366"/>
            <a:chOff x="0" y="0"/>
            <a:chExt cx="1682730" cy="23257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2730" cy="2325741"/>
            </a:xfrm>
            <a:custGeom>
              <a:avLst/>
              <a:gdLst/>
              <a:ahLst/>
              <a:cxnLst/>
              <a:rect r="r" b="b" t="t" l="l"/>
              <a:pathLst>
                <a:path h="2325741" w="1682730">
                  <a:moveTo>
                    <a:pt x="59334" y="0"/>
                  </a:moveTo>
                  <a:lnTo>
                    <a:pt x="1623396" y="0"/>
                  </a:lnTo>
                  <a:cubicBezTo>
                    <a:pt x="1656166" y="0"/>
                    <a:pt x="1682730" y="26565"/>
                    <a:pt x="1682730" y="59334"/>
                  </a:cubicBezTo>
                  <a:lnTo>
                    <a:pt x="1682730" y="2266407"/>
                  </a:lnTo>
                  <a:cubicBezTo>
                    <a:pt x="1682730" y="2282143"/>
                    <a:pt x="1676479" y="2297235"/>
                    <a:pt x="1665352" y="2308362"/>
                  </a:cubicBezTo>
                  <a:cubicBezTo>
                    <a:pt x="1654225" y="2319489"/>
                    <a:pt x="1639133" y="2325741"/>
                    <a:pt x="1623396" y="2325741"/>
                  </a:cubicBezTo>
                  <a:lnTo>
                    <a:pt x="59334" y="2325741"/>
                  </a:lnTo>
                  <a:cubicBezTo>
                    <a:pt x="26565" y="2325741"/>
                    <a:pt x="0" y="2299176"/>
                    <a:pt x="0" y="2266407"/>
                  </a:cubicBezTo>
                  <a:lnTo>
                    <a:pt x="0" y="59334"/>
                  </a:lnTo>
                  <a:cubicBezTo>
                    <a:pt x="0" y="43597"/>
                    <a:pt x="6251" y="28506"/>
                    <a:pt x="17378" y="17378"/>
                  </a:cubicBezTo>
                  <a:cubicBezTo>
                    <a:pt x="28506" y="6251"/>
                    <a:pt x="43597" y="0"/>
                    <a:pt x="5933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82730" cy="236384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352681" y="792669"/>
            <a:ext cx="5891076" cy="907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clientes?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doces voce deseja?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50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reais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Parcelas: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15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pagamento não é suficiente!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doces voce deseja?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Total: 15 reais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Parcelas: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5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12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reais</a:t>
            </a:r>
          </a:p>
          <a:p>
            <a:pPr algn="ctr">
              <a:lnSpc>
                <a:spcPts val="4005"/>
              </a:lnSpc>
            </a:pPr>
          </a:p>
          <a:p>
            <a:pPr algn="ctr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2121463" y="9284636"/>
            <a:ext cx="4353513" cy="1002364"/>
            <a:chOff x="0" y="0"/>
            <a:chExt cx="1100874" cy="253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de saída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4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5 - Laços 2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14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5 - Laços 2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250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output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5 - Laços 2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89156" y="1803377"/>
            <a:ext cx="13083968" cy="6995427"/>
            <a:chOff x="0" y="0"/>
            <a:chExt cx="3308547" cy="17689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768936"/>
            </a:xfrm>
            <a:custGeom>
              <a:avLst/>
              <a:gdLst/>
              <a:ahLst/>
              <a:cxnLst/>
              <a:rect r="r" b="b" t="t" l="l"/>
              <a:pathLst>
                <a:path h="1768936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738759"/>
                  </a:lnTo>
                  <a:cubicBezTo>
                    <a:pt x="3308547" y="1746762"/>
                    <a:pt x="3305368" y="1754438"/>
                    <a:pt x="3299708" y="1760097"/>
                  </a:cubicBezTo>
                  <a:cubicBezTo>
                    <a:pt x="3294049" y="1765756"/>
                    <a:pt x="3286373" y="1768936"/>
                    <a:pt x="3278370" y="1768936"/>
                  </a:cubicBezTo>
                  <a:lnTo>
                    <a:pt x="30177" y="1768936"/>
                  </a:lnTo>
                  <a:cubicBezTo>
                    <a:pt x="22174" y="1768936"/>
                    <a:pt x="14498" y="1765756"/>
                    <a:pt x="8839" y="1760097"/>
                  </a:cubicBezTo>
                  <a:cubicBezTo>
                    <a:pt x="3179" y="1754438"/>
                    <a:pt x="0" y="1746762"/>
                    <a:pt x="0" y="1738759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80703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1971458"/>
            <a:ext cx="11866681" cy="654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parcelas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 = 0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i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(parcelas):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 = pagamento +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= pagamento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-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preco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&lt; 0: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“O pagamento não é suficiente!“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else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“Troco:“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troco)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8530600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5 - Laços 2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89156" y="1803377"/>
            <a:ext cx="13083968" cy="7657164"/>
            <a:chOff x="0" y="0"/>
            <a:chExt cx="3308547" cy="19362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936269"/>
            </a:xfrm>
            <a:custGeom>
              <a:avLst/>
              <a:gdLst/>
              <a:ahLst/>
              <a:cxnLst/>
              <a:rect r="r" b="b" t="t" l="l"/>
              <a:pathLst>
                <a:path h="1936269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906092"/>
                  </a:lnTo>
                  <a:cubicBezTo>
                    <a:pt x="3308547" y="1914096"/>
                    <a:pt x="3305368" y="1921771"/>
                    <a:pt x="3299708" y="1927431"/>
                  </a:cubicBezTo>
                  <a:cubicBezTo>
                    <a:pt x="3294049" y="1933090"/>
                    <a:pt x="3286373" y="1936269"/>
                    <a:pt x="3278370" y="1936269"/>
                  </a:cubicBezTo>
                  <a:lnTo>
                    <a:pt x="30177" y="1936269"/>
                  </a:lnTo>
                  <a:cubicBezTo>
                    <a:pt x="22174" y="1936269"/>
                    <a:pt x="14498" y="1933090"/>
                    <a:pt x="8839" y="1927431"/>
                  </a:cubicBezTo>
                  <a:cubicBezTo>
                    <a:pt x="3179" y="1921771"/>
                    <a:pt x="0" y="1914096"/>
                    <a:pt x="0" y="1906092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974369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1971458"/>
            <a:ext cx="11866681" cy="755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clientes =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clientes?”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j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(clientes):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parcelas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pagamento = 0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for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i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(parcelas):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+=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troco = pagamento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-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preco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if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&lt; 0: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“O pagamento não é suficiente!“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else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“Troco:“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troco)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9258300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5 - Laços 2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-1932915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6 - Listas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1745" y="1562837"/>
            <a:ext cx="9466912" cy="8633115"/>
            <a:chOff x="0" y="0"/>
            <a:chExt cx="2445176" cy="22298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5176" cy="2229818"/>
            </a:xfrm>
            <a:custGeom>
              <a:avLst/>
              <a:gdLst/>
              <a:ahLst/>
              <a:cxnLst/>
              <a:rect r="r" b="b" t="t" l="l"/>
              <a:pathLst>
                <a:path h="2229818" w="2445176">
                  <a:moveTo>
                    <a:pt x="41707" y="0"/>
                  </a:moveTo>
                  <a:lnTo>
                    <a:pt x="2403469" y="0"/>
                  </a:lnTo>
                  <a:cubicBezTo>
                    <a:pt x="2414531" y="0"/>
                    <a:pt x="2425139" y="4394"/>
                    <a:pt x="2432961" y="12216"/>
                  </a:cubicBezTo>
                  <a:cubicBezTo>
                    <a:pt x="2440782" y="20037"/>
                    <a:pt x="2445176" y="30646"/>
                    <a:pt x="2445176" y="41707"/>
                  </a:cubicBezTo>
                  <a:lnTo>
                    <a:pt x="2445176" y="2188111"/>
                  </a:lnTo>
                  <a:cubicBezTo>
                    <a:pt x="2445176" y="2211145"/>
                    <a:pt x="2426503" y="2229818"/>
                    <a:pt x="2403469" y="2229818"/>
                  </a:cubicBezTo>
                  <a:lnTo>
                    <a:pt x="41707" y="2229818"/>
                  </a:lnTo>
                  <a:cubicBezTo>
                    <a:pt x="30646" y="2229818"/>
                    <a:pt x="20037" y="2225424"/>
                    <a:pt x="12216" y="2217602"/>
                  </a:cubicBezTo>
                  <a:cubicBezTo>
                    <a:pt x="4394" y="2209780"/>
                    <a:pt x="0" y="2199172"/>
                    <a:pt x="0" y="2188111"/>
                  </a:cubicBezTo>
                  <a:lnTo>
                    <a:pt x="0" y="41707"/>
                  </a:lnTo>
                  <a:cubicBezTo>
                    <a:pt x="0" y="30646"/>
                    <a:pt x="4394" y="20037"/>
                    <a:pt x="12216" y="12216"/>
                  </a:cubicBezTo>
                  <a:cubicBezTo>
                    <a:pt x="20037" y="4394"/>
                    <a:pt x="30646" y="0"/>
                    <a:pt x="4170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445176" cy="230601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Dando continuidade ao programa anterior, faça um novo programa que receba como entrada: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quantidade de clientes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nome de cada cliente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cada cliente </a:t>
              </a: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quantidade de doces que o cliente deseja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cada cliente a quantidade de parcelas</a:t>
              </a: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.</a:t>
              </a:r>
            </a:p>
            <a:p>
              <a:pPr algn="l" marL="712460" indent="-356230" lvl="1">
                <a:lnSpc>
                  <a:spcPts val="4619"/>
                </a:lnSpc>
                <a:buFont typeface="Arial"/>
                <a:buChar char="•"/>
              </a:pPr>
              <a:r>
                <a:rPr lang="en-US" b="true" sz="3299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cada cliente o valor de cada parcela</a:t>
              </a:r>
            </a:p>
            <a:p>
              <a:pPr algn="l">
                <a:lnSpc>
                  <a:spcPts val="4619"/>
                </a:lnSpc>
              </a:pPr>
              <a:r>
                <a:rPr lang="en-US" sz="3299" b="true">
                  <a:solidFill>
                    <a:srgbClr val="160E0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programa deve fazer o que fazia antes para cada cliente e mostrar na tela aqueles que pagaram tudo.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60407" y="0"/>
            <a:ext cx="6654519" cy="9904221"/>
            <a:chOff x="0" y="0"/>
            <a:chExt cx="1682730" cy="25044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2730" cy="2504483"/>
            </a:xfrm>
            <a:custGeom>
              <a:avLst/>
              <a:gdLst/>
              <a:ahLst/>
              <a:cxnLst/>
              <a:rect r="r" b="b" t="t" l="l"/>
              <a:pathLst>
                <a:path h="2504483" w="1682730">
                  <a:moveTo>
                    <a:pt x="59334" y="0"/>
                  </a:moveTo>
                  <a:lnTo>
                    <a:pt x="1623396" y="0"/>
                  </a:lnTo>
                  <a:cubicBezTo>
                    <a:pt x="1656166" y="0"/>
                    <a:pt x="1682730" y="26565"/>
                    <a:pt x="1682730" y="59334"/>
                  </a:cubicBezTo>
                  <a:lnTo>
                    <a:pt x="1682730" y="2445150"/>
                  </a:lnTo>
                  <a:cubicBezTo>
                    <a:pt x="1682730" y="2460886"/>
                    <a:pt x="1676479" y="2475978"/>
                    <a:pt x="1665352" y="2487105"/>
                  </a:cubicBezTo>
                  <a:cubicBezTo>
                    <a:pt x="1654225" y="2498232"/>
                    <a:pt x="1639133" y="2504483"/>
                    <a:pt x="1623396" y="2504483"/>
                  </a:cubicBezTo>
                  <a:lnTo>
                    <a:pt x="59334" y="2504483"/>
                  </a:lnTo>
                  <a:cubicBezTo>
                    <a:pt x="26565" y="2504483"/>
                    <a:pt x="0" y="2477919"/>
                    <a:pt x="0" y="2445150"/>
                  </a:cubicBezTo>
                  <a:lnTo>
                    <a:pt x="0" y="59334"/>
                  </a:lnTo>
                  <a:cubicBezTo>
                    <a:pt x="0" y="43597"/>
                    <a:pt x="6251" y="28506"/>
                    <a:pt x="17378" y="17378"/>
                  </a:cubicBezTo>
                  <a:cubicBezTo>
                    <a:pt x="28506" y="6251"/>
                    <a:pt x="43597" y="0"/>
                    <a:pt x="5933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82730" cy="2542583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006773" y="-57150"/>
            <a:ext cx="5891076" cy="1058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clientes?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Qual seu nome?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Alberto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doces voce deseja?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50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reais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Parcelas: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15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pagamento não é suficiente!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Qual seu nome?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Vanessa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Quantos doces voce deseja?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Total: 15 reais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Parcelas: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5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12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reais</a:t>
            </a:r>
          </a:p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Compradores: 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Vanessa</a:t>
            </a:r>
          </a:p>
          <a:p>
            <a:pPr algn="ctr">
              <a:lnSpc>
                <a:spcPts val="4005"/>
              </a:lnSpc>
            </a:pPr>
          </a:p>
          <a:p>
            <a:pPr algn="ctr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1910910" y="9618471"/>
            <a:ext cx="4353513" cy="863103"/>
            <a:chOff x="0" y="0"/>
            <a:chExt cx="1100874" cy="2182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874" cy="218253"/>
            </a:xfrm>
            <a:custGeom>
              <a:avLst/>
              <a:gdLst/>
              <a:ahLst/>
              <a:cxnLst/>
              <a:rect r="r" b="b" t="t" l="l"/>
              <a:pathLst>
                <a:path h="218253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27559"/>
                  </a:lnTo>
                  <a:cubicBezTo>
                    <a:pt x="1100874" y="177648"/>
                    <a:pt x="1060269" y="218253"/>
                    <a:pt x="1010180" y="218253"/>
                  </a:cubicBezTo>
                  <a:lnTo>
                    <a:pt x="90694" y="218253"/>
                  </a:lnTo>
                  <a:cubicBezTo>
                    <a:pt x="40605" y="218253"/>
                    <a:pt x="0" y="177648"/>
                    <a:pt x="0" y="127559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00874" cy="275403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de saída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4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b="true" sz="286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61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61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b="true" sz="286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6 - Listas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14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6 - Listas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8681" y="2304558"/>
            <a:ext cx="13083968" cy="6078020"/>
            <a:chOff x="0" y="0"/>
            <a:chExt cx="3308547" cy="1536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536951"/>
            </a:xfrm>
            <a:custGeom>
              <a:avLst/>
              <a:gdLst/>
              <a:ahLst/>
              <a:cxnLst/>
              <a:rect r="r" b="b" t="t" l="l"/>
              <a:pathLst>
                <a:path h="1536951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506773"/>
                  </a:lnTo>
                  <a:cubicBezTo>
                    <a:pt x="3308547" y="1523440"/>
                    <a:pt x="3295036" y="1536951"/>
                    <a:pt x="3278370" y="1536951"/>
                  </a:cubicBezTo>
                  <a:lnTo>
                    <a:pt x="30177" y="1536951"/>
                  </a:lnTo>
                  <a:cubicBezTo>
                    <a:pt x="22174" y="1536951"/>
                    <a:pt x="14498" y="1533771"/>
                    <a:pt x="8839" y="1528112"/>
                  </a:cubicBezTo>
                  <a:cubicBezTo>
                    <a:pt x="3179" y="1522453"/>
                    <a:pt x="0" y="1514777"/>
                    <a:pt x="0" y="1506773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575051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3555867"/>
            <a:ext cx="11866681" cy="250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output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7881396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6 - Listas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89156" y="1803377"/>
            <a:ext cx="13083968" cy="6995427"/>
            <a:chOff x="0" y="0"/>
            <a:chExt cx="3308547" cy="17689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768936"/>
            </a:xfrm>
            <a:custGeom>
              <a:avLst/>
              <a:gdLst/>
              <a:ahLst/>
              <a:cxnLst/>
              <a:rect r="r" b="b" t="t" l="l"/>
              <a:pathLst>
                <a:path h="1768936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738759"/>
                  </a:lnTo>
                  <a:cubicBezTo>
                    <a:pt x="3308547" y="1746762"/>
                    <a:pt x="3305368" y="1754438"/>
                    <a:pt x="3299708" y="1760097"/>
                  </a:cubicBezTo>
                  <a:cubicBezTo>
                    <a:pt x="3294049" y="1765756"/>
                    <a:pt x="3286373" y="1768936"/>
                    <a:pt x="3278370" y="1768936"/>
                  </a:cubicBezTo>
                  <a:lnTo>
                    <a:pt x="30177" y="1768936"/>
                  </a:lnTo>
                  <a:cubicBezTo>
                    <a:pt x="22174" y="1768936"/>
                    <a:pt x="14498" y="1765756"/>
                    <a:pt x="8839" y="1760097"/>
                  </a:cubicBezTo>
                  <a:cubicBezTo>
                    <a:pt x="3179" y="1754438"/>
                    <a:pt x="0" y="1746762"/>
                    <a:pt x="0" y="1738759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80703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97800" y="1971458"/>
            <a:ext cx="11866681" cy="654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parcelas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 = 0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i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(parcelas):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+=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= pagamento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-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preco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&lt; 0: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“O pagamento não é suficiente!“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else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“Troco:“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troco)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8530600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6 - Listas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89156" y="1803377"/>
            <a:ext cx="13083968" cy="7657164"/>
            <a:chOff x="0" y="0"/>
            <a:chExt cx="3308547" cy="19362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936269"/>
            </a:xfrm>
            <a:custGeom>
              <a:avLst/>
              <a:gdLst/>
              <a:ahLst/>
              <a:cxnLst/>
              <a:rect r="r" b="b" t="t" l="l"/>
              <a:pathLst>
                <a:path h="1936269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906092"/>
                  </a:lnTo>
                  <a:cubicBezTo>
                    <a:pt x="3308547" y="1914096"/>
                    <a:pt x="3305368" y="1921771"/>
                    <a:pt x="3299708" y="1927431"/>
                  </a:cubicBezTo>
                  <a:cubicBezTo>
                    <a:pt x="3294049" y="1933090"/>
                    <a:pt x="3286373" y="1936269"/>
                    <a:pt x="3278370" y="1936269"/>
                  </a:cubicBezTo>
                  <a:lnTo>
                    <a:pt x="30177" y="1936269"/>
                  </a:lnTo>
                  <a:cubicBezTo>
                    <a:pt x="22174" y="1936269"/>
                    <a:pt x="14498" y="1933090"/>
                    <a:pt x="8839" y="1927431"/>
                  </a:cubicBezTo>
                  <a:cubicBezTo>
                    <a:pt x="3179" y="1921771"/>
                    <a:pt x="0" y="1914096"/>
                    <a:pt x="0" y="1906092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974369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93478" y="1941465"/>
            <a:ext cx="12475325" cy="755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clientes =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clientes?”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 </a:t>
            </a:r>
            <a:r>
              <a:rPr lang="en-US" sz="2861" b="true">
                <a:solidFill>
                  <a:srgbClr val="A6A6A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_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(clientes):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doces 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doces voce deseja?”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preco = 5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*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doces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“Total:”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preco)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parcelas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pagamento = 0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for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i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(parcelas):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pagamento = pagamento +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“Parcelas: 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troco = pagamento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-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preco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if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&lt; 0: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“O pagamento não é suficiente!“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else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“Troco:“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troco)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9258300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9110" y="246913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6 - Listas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89156" y="1803377"/>
            <a:ext cx="13083968" cy="7657164"/>
            <a:chOff x="0" y="0"/>
            <a:chExt cx="3308547" cy="19362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547" cy="1936269"/>
            </a:xfrm>
            <a:custGeom>
              <a:avLst/>
              <a:gdLst/>
              <a:ahLst/>
              <a:cxnLst/>
              <a:rect r="r" b="b" t="t" l="l"/>
              <a:pathLst>
                <a:path h="1936269" w="3308547">
                  <a:moveTo>
                    <a:pt x="30177" y="0"/>
                  </a:moveTo>
                  <a:lnTo>
                    <a:pt x="3278370" y="0"/>
                  </a:lnTo>
                  <a:cubicBezTo>
                    <a:pt x="3286373" y="0"/>
                    <a:pt x="3294049" y="3179"/>
                    <a:pt x="3299708" y="8839"/>
                  </a:cubicBezTo>
                  <a:cubicBezTo>
                    <a:pt x="3305368" y="14498"/>
                    <a:pt x="3308547" y="22174"/>
                    <a:pt x="3308547" y="30177"/>
                  </a:cubicBezTo>
                  <a:lnTo>
                    <a:pt x="3308547" y="1906092"/>
                  </a:lnTo>
                  <a:cubicBezTo>
                    <a:pt x="3308547" y="1914096"/>
                    <a:pt x="3305368" y="1921771"/>
                    <a:pt x="3299708" y="1927431"/>
                  </a:cubicBezTo>
                  <a:cubicBezTo>
                    <a:pt x="3294049" y="1933090"/>
                    <a:pt x="3286373" y="1936269"/>
                    <a:pt x="3278370" y="1936269"/>
                  </a:cubicBezTo>
                  <a:lnTo>
                    <a:pt x="30177" y="1936269"/>
                  </a:lnTo>
                  <a:cubicBezTo>
                    <a:pt x="22174" y="1936269"/>
                    <a:pt x="14498" y="1933090"/>
                    <a:pt x="8839" y="1927431"/>
                  </a:cubicBezTo>
                  <a:cubicBezTo>
                    <a:pt x="3179" y="1921771"/>
                    <a:pt x="0" y="1914096"/>
                    <a:pt x="0" y="1906092"/>
                  </a:cubicBezTo>
                  <a:lnTo>
                    <a:pt x="0" y="30177"/>
                  </a:lnTo>
                  <a:cubicBezTo>
                    <a:pt x="0" y="22174"/>
                    <a:pt x="3179" y="14498"/>
                    <a:pt x="8839" y="8839"/>
                  </a:cubicBezTo>
                  <a:cubicBezTo>
                    <a:pt x="14498" y="3179"/>
                    <a:pt x="22174" y="0"/>
                    <a:pt x="3017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8547" cy="1974369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93478" y="1941465"/>
            <a:ext cx="12475325" cy="755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clientes =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“Quantos clientes? 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nome_clientes = []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j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 </a:t>
            </a:r>
            <a:r>
              <a:rPr lang="en-US" sz="2861" b="true">
                <a:solidFill>
                  <a:srgbClr val="FCC22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(clientes):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nome_clientes.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append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“Qual seu nome? 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...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if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troco &lt; 0: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nome_clientes.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pop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()  # Remove o nome da lista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“O pagamento não é suficiente!“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else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“Troco:“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61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troco)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61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“Compradores: ”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 </a:t>
            </a:r>
            <a:r>
              <a:rPr lang="en-US" sz="2861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 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nome_clientes:</a:t>
            </a:r>
          </a:p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</a:t>
            </a:r>
            <a:r>
              <a:rPr lang="en-US" sz="2861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61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(nome)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54384" y="9258300"/>
            <a:ext cx="4353513" cy="1002364"/>
            <a:chOff x="0" y="0"/>
            <a:chExt cx="1100874" cy="253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74" cy="253468"/>
            </a:xfrm>
            <a:custGeom>
              <a:avLst/>
              <a:gdLst/>
              <a:ahLst/>
              <a:cxnLst/>
              <a:rect r="r" b="b" t="t" l="l"/>
              <a:pathLst>
                <a:path h="253468" w="1100874">
                  <a:moveTo>
                    <a:pt x="90694" y="0"/>
                  </a:moveTo>
                  <a:lnTo>
                    <a:pt x="1010180" y="0"/>
                  </a:lnTo>
                  <a:cubicBezTo>
                    <a:pt x="1034234" y="0"/>
                    <a:pt x="1057302" y="9555"/>
                    <a:pt x="1074310" y="26564"/>
                  </a:cubicBezTo>
                  <a:cubicBezTo>
                    <a:pt x="1091319" y="43572"/>
                    <a:pt x="1100874" y="66641"/>
                    <a:pt x="1100874" y="90694"/>
                  </a:cubicBezTo>
                  <a:lnTo>
                    <a:pt x="1100874" y="162774"/>
                  </a:lnTo>
                  <a:cubicBezTo>
                    <a:pt x="1100874" y="212863"/>
                    <a:pt x="1060269" y="253468"/>
                    <a:pt x="1010180" y="253468"/>
                  </a:cubicBezTo>
                  <a:lnTo>
                    <a:pt x="90694" y="253468"/>
                  </a:lnTo>
                  <a:cubicBezTo>
                    <a:pt x="40605" y="253468"/>
                    <a:pt x="0" y="212863"/>
                    <a:pt x="0" y="162774"/>
                  </a:cubicBezTo>
                  <a:lnTo>
                    <a:pt x="0" y="90694"/>
                  </a:lnTo>
                  <a:cubicBezTo>
                    <a:pt x="0" y="40605"/>
                    <a:pt x="40605" y="0"/>
                    <a:pt x="906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0874" cy="310618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Resposta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49585" y="-247650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6 - Listas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89958" y="9327196"/>
            <a:ext cx="6908084" cy="4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3188" b="true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CODELAB TEEN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3845" y="-85725"/>
            <a:ext cx="12880309" cy="240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9"/>
              </a:lnSpc>
            </a:pPr>
            <a:r>
              <a:rPr lang="en-US" sz="12766" i="true" spc="-1314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OBRIGADO!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-82000"/>
            <a:ext cx="2397565" cy="1010011"/>
            <a:chOff x="0" y="0"/>
            <a:chExt cx="3196753" cy="1346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96717" cy="1346708"/>
            </a:xfrm>
            <a:custGeom>
              <a:avLst/>
              <a:gdLst/>
              <a:ahLst/>
              <a:cxnLst/>
              <a:rect r="r" b="b" t="t" l="l"/>
              <a:pathLst>
                <a:path h="1346708" w="3196717">
                  <a:moveTo>
                    <a:pt x="0" y="0"/>
                  </a:moveTo>
                  <a:lnTo>
                    <a:pt x="3196717" y="0"/>
                  </a:lnTo>
                  <a:lnTo>
                    <a:pt x="3196717" y="1346708"/>
                  </a:lnTo>
                  <a:lnTo>
                    <a:pt x="0" y="1346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7859" r="-1" b="-11785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55964" y="8276808"/>
            <a:ext cx="85760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2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https://forms.gle/Q1BYFnKxjyKuCC647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12237" y="2700980"/>
            <a:ext cx="13263525" cy="1098807"/>
          </a:xfrm>
          <a:custGeom>
            <a:avLst/>
            <a:gdLst/>
            <a:ahLst/>
            <a:cxnLst/>
            <a:rect r="r" b="b" t="t" l="l"/>
            <a:pathLst>
              <a:path h="1098807" w="13263525">
                <a:moveTo>
                  <a:pt x="0" y="0"/>
                </a:moveTo>
                <a:lnTo>
                  <a:pt x="13263526" y="0"/>
                </a:lnTo>
                <a:lnTo>
                  <a:pt x="13263526" y="1098808"/>
                </a:lnTo>
                <a:lnTo>
                  <a:pt x="0" y="1098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98037" y="2983684"/>
            <a:ext cx="1229192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 spc="-198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Contem para a gente o que acharam da aula de hoje: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675120" y="3591510"/>
            <a:ext cx="4937760" cy="4937760"/>
            <a:chOff x="0" y="0"/>
            <a:chExt cx="6583680" cy="6583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DAG4Yyuzsms</dc:identifier>
  <dcterms:modified xsi:type="dcterms:W3CDTF">2011-08-01T06:04:30Z</dcterms:modified>
  <cp:revision>1</cp:revision>
  <dc:title>Aula 8  - Bibliotecas e Revisão</dc:title>
</cp:coreProperties>
</file>