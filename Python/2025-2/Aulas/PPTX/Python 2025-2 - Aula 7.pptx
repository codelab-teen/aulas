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Bugaki Italics" charset="1" panose="00000000000000000000"/>
      <p:regular r:id="rId22"/>
    </p:embeddedFont>
    <p:embeddedFont>
      <p:font typeface="Space Mono Bold" charset="1" panose="02000809030000020004"/>
      <p:regular r:id="rId23"/>
    </p:embeddedFont>
    <p:embeddedFont>
      <p:font typeface="Open Sans Bold" charset="1" panose="000000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sv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9.pn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Relationship Id="rId6" Target="../media/image2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Relationship Id="rId6" Target="../media/image2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Relationship Id="rId6" Target="../media/image2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Relationship Id="rId6" Target="../media/image2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png" Type="http://schemas.openxmlformats.org/officeDocument/2006/relationships/image"/><Relationship Id="rId4" Target="../media/image30.svg" Type="http://schemas.openxmlformats.org/officeDocument/2006/relationships/image"/><Relationship Id="rId5" Target="../media/image3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9D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17989" y="3374177"/>
            <a:ext cx="6652022" cy="6028784"/>
          </a:xfrm>
          <a:custGeom>
            <a:avLst/>
            <a:gdLst/>
            <a:ahLst/>
            <a:cxnLst/>
            <a:rect r="r" b="b" t="t" l="l"/>
            <a:pathLst>
              <a:path h="6028784" w="6652022">
                <a:moveTo>
                  <a:pt x="0" y="0"/>
                </a:moveTo>
                <a:lnTo>
                  <a:pt x="6652022" y="0"/>
                </a:lnTo>
                <a:lnTo>
                  <a:pt x="6652022" y="6028784"/>
                </a:lnTo>
                <a:lnTo>
                  <a:pt x="0" y="6028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85009">
            <a:off x="1092347" y="1274081"/>
            <a:ext cx="4021282" cy="5143500"/>
          </a:xfrm>
          <a:custGeom>
            <a:avLst/>
            <a:gdLst/>
            <a:ahLst/>
            <a:cxnLst/>
            <a:rect r="r" b="b" t="t" l="l"/>
            <a:pathLst>
              <a:path h="5143500" w="4021282">
                <a:moveTo>
                  <a:pt x="0" y="0"/>
                </a:moveTo>
                <a:lnTo>
                  <a:pt x="4021282" y="0"/>
                </a:lnTo>
                <a:lnTo>
                  <a:pt x="4021282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333" t="0" r="-333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79917">
            <a:off x="13831111" y="4077263"/>
            <a:ext cx="3104804" cy="4114800"/>
          </a:xfrm>
          <a:custGeom>
            <a:avLst/>
            <a:gdLst/>
            <a:ahLst/>
            <a:cxnLst/>
            <a:rect r="r" b="b" t="t" l="l"/>
            <a:pathLst>
              <a:path h="4114800" w="3104804">
                <a:moveTo>
                  <a:pt x="0" y="0"/>
                </a:moveTo>
                <a:lnTo>
                  <a:pt x="3104804" y="0"/>
                </a:lnTo>
                <a:lnTo>
                  <a:pt x="31048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10" r="0" b="-11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027633" y="1867390"/>
            <a:ext cx="13357297" cy="5831260"/>
          </a:xfrm>
          <a:custGeom>
            <a:avLst/>
            <a:gdLst/>
            <a:ahLst/>
            <a:cxnLst/>
            <a:rect r="r" b="b" t="t" l="l"/>
            <a:pathLst>
              <a:path h="5831260" w="13357297">
                <a:moveTo>
                  <a:pt x="0" y="0"/>
                </a:moveTo>
                <a:lnTo>
                  <a:pt x="13357298" y="0"/>
                </a:lnTo>
                <a:lnTo>
                  <a:pt x="13357298" y="5831261"/>
                </a:lnTo>
                <a:lnTo>
                  <a:pt x="0" y="58312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625148">
            <a:off x="1548436" y="1767823"/>
            <a:ext cx="3624249" cy="1526770"/>
            <a:chOff x="0" y="0"/>
            <a:chExt cx="4832332" cy="20356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32350" cy="2035683"/>
            </a:xfrm>
            <a:custGeom>
              <a:avLst/>
              <a:gdLst/>
              <a:ahLst/>
              <a:cxnLst/>
              <a:rect r="r" b="b" t="t" l="l"/>
              <a:pathLst>
                <a:path h="2035683" w="4832350">
                  <a:moveTo>
                    <a:pt x="0" y="0"/>
                  </a:moveTo>
                  <a:lnTo>
                    <a:pt x="4832350" y="0"/>
                  </a:lnTo>
                  <a:lnTo>
                    <a:pt x="4832350" y="2035683"/>
                  </a:lnTo>
                  <a:lnTo>
                    <a:pt x="0" y="20356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117862" r="0" b="-117862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1057456">
            <a:off x="13459709" y="7291099"/>
            <a:ext cx="1894937" cy="1884601"/>
          </a:xfrm>
          <a:custGeom>
            <a:avLst/>
            <a:gdLst/>
            <a:ahLst/>
            <a:cxnLst/>
            <a:rect r="r" b="b" t="t" l="l"/>
            <a:pathLst>
              <a:path h="1884601" w="1894937">
                <a:moveTo>
                  <a:pt x="0" y="0"/>
                </a:moveTo>
                <a:lnTo>
                  <a:pt x="1894937" y="0"/>
                </a:lnTo>
                <a:lnTo>
                  <a:pt x="1894937" y="1884601"/>
                </a:lnTo>
                <a:lnTo>
                  <a:pt x="0" y="188460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274" r="0" b="-274"/>
            </a:stretch>
          </a:blipFill>
        </p:spPr>
      </p:sp>
      <p:sp>
        <p:nvSpPr>
          <p:cNvPr name="TextBox 9" id="9"/>
          <p:cNvSpPr txBox="true"/>
          <p:nvPr/>
        </p:nvSpPr>
        <p:spPr>
          <a:xfrm rot="-582495">
            <a:off x="1834657" y="2873592"/>
            <a:ext cx="14872554" cy="3875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95"/>
              </a:lnSpc>
            </a:pPr>
            <a:r>
              <a:rPr lang="en-US" sz="16593" i="true" spc="-1709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PYTHON</a:t>
            </a:r>
          </a:p>
          <a:p>
            <a:pPr algn="ctr">
              <a:lnSpc>
                <a:spcPts val="11640"/>
              </a:lnSpc>
            </a:pPr>
            <a:r>
              <a:rPr lang="en-US" sz="12000" i="true" spc="-1236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AULA 7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8700" y="5679535"/>
            <a:ext cx="2737850" cy="2737850"/>
            <a:chOff x="0" y="0"/>
            <a:chExt cx="3650467" cy="365046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650488" cy="3650488"/>
            </a:xfrm>
            <a:custGeom>
              <a:avLst/>
              <a:gdLst/>
              <a:ahLst/>
              <a:cxnLst/>
              <a:rect r="r" b="b" t="t" l="l"/>
              <a:pathLst>
                <a:path h="3650488" w="3650488">
                  <a:moveTo>
                    <a:pt x="0" y="0"/>
                  </a:moveTo>
                  <a:lnTo>
                    <a:pt x="3650488" y="0"/>
                  </a:lnTo>
                  <a:lnTo>
                    <a:pt x="3650488" y="3650488"/>
                  </a:lnTo>
                  <a:lnTo>
                    <a:pt x="0" y="3650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7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54119" y="801405"/>
            <a:ext cx="2478375" cy="2621358"/>
          </a:xfrm>
          <a:custGeom>
            <a:avLst/>
            <a:gdLst/>
            <a:ahLst/>
            <a:cxnLst/>
            <a:rect r="r" b="b" t="t" l="l"/>
            <a:pathLst>
              <a:path h="2621358" w="2478375">
                <a:moveTo>
                  <a:pt x="0" y="0"/>
                </a:moveTo>
                <a:lnTo>
                  <a:pt x="2478375" y="0"/>
                </a:lnTo>
                <a:lnTo>
                  <a:pt x="2478375" y="2621358"/>
                </a:lnTo>
                <a:lnTo>
                  <a:pt x="0" y="26213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0" t="0" r="-1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93307" y="381000"/>
            <a:ext cx="12718638" cy="2517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4"/>
              </a:lnSpc>
            </a:pPr>
            <a:r>
              <a:rPr lang="en-US" sz="11161" i="true" spc="-1149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BEM - VINDOS!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526237" y="18608"/>
            <a:ext cx="2761763" cy="1181542"/>
            <a:chOff x="0" y="0"/>
            <a:chExt cx="3682351" cy="15753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3511" t="-123567" r="-70535" b="-427893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true" flipV="false" rot="0">
            <a:off x="14287049" y="801405"/>
            <a:ext cx="2478375" cy="2621358"/>
          </a:xfrm>
          <a:custGeom>
            <a:avLst/>
            <a:gdLst/>
            <a:ahLst/>
            <a:cxnLst/>
            <a:rect r="r" b="b" t="t" l="l"/>
            <a:pathLst>
              <a:path h="2621358" w="2478375">
                <a:moveTo>
                  <a:pt x="2478375" y="0"/>
                </a:moveTo>
                <a:lnTo>
                  <a:pt x="0" y="0"/>
                </a:lnTo>
                <a:lnTo>
                  <a:pt x="0" y="2621358"/>
                </a:lnTo>
                <a:lnTo>
                  <a:pt x="2478375" y="2621358"/>
                </a:lnTo>
                <a:lnTo>
                  <a:pt x="247837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0" t="0" r="-1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20204" y="3467297"/>
            <a:ext cx="16447591" cy="5899499"/>
          </a:xfrm>
          <a:custGeom>
            <a:avLst/>
            <a:gdLst/>
            <a:ahLst/>
            <a:cxnLst/>
            <a:rect r="r" b="b" t="t" l="l"/>
            <a:pathLst>
              <a:path h="5899499" w="16447591">
                <a:moveTo>
                  <a:pt x="0" y="0"/>
                </a:moveTo>
                <a:lnTo>
                  <a:pt x="16447592" y="0"/>
                </a:lnTo>
                <a:lnTo>
                  <a:pt x="16447592" y="5899499"/>
                </a:lnTo>
                <a:lnTo>
                  <a:pt x="0" y="589949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854154" y="3069377"/>
            <a:ext cx="6579691" cy="1306319"/>
          </a:xfrm>
          <a:custGeom>
            <a:avLst/>
            <a:gdLst/>
            <a:ahLst/>
            <a:cxnLst/>
            <a:rect r="r" b="b" t="t" l="l"/>
            <a:pathLst>
              <a:path h="1306319" w="6579691">
                <a:moveTo>
                  <a:pt x="0" y="0"/>
                </a:moveTo>
                <a:lnTo>
                  <a:pt x="6579692" y="0"/>
                </a:lnTo>
                <a:lnTo>
                  <a:pt x="6579692" y="1306319"/>
                </a:lnTo>
                <a:lnTo>
                  <a:pt x="0" y="130631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405638" y="4553362"/>
            <a:ext cx="15516169" cy="2543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63150" indent="-321050" lvl="2">
              <a:lnSpc>
                <a:spcPts val="5055"/>
              </a:lnSpc>
              <a:buFont typeface="Arial"/>
              <a:buChar char="⚬"/>
            </a:pPr>
            <a:r>
              <a:rPr lang="en-US" b="true" sz="4213" spc="-251">
                <a:solidFill>
                  <a:srgbClr val="160E0C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Hoje apr</a:t>
            </a:r>
            <a:r>
              <a:rPr lang="en-US" b="true" sz="4213" spc="-251">
                <a:solidFill>
                  <a:srgbClr val="160E0C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enderemos o que são listas, como usá-las para armazena</a:t>
            </a:r>
            <a:r>
              <a:rPr lang="en-US" b="true" sz="4213" spc="-251">
                <a:solidFill>
                  <a:srgbClr val="160E0C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r coleções de dados, acessar itens específicos, adicionar, remover e organizar elemento.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411860" y="3441814"/>
            <a:ext cx="5464280" cy="616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55"/>
              </a:lnSpc>
            </a:pPr>
            <a:r>
              <a:rPr lang="en-US" b="true" sz="4213" spc="-251">
                <a:solidFill>
                  <a:srgbClr val="F2EFEB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AGENDA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7707" y="34028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568510" y="368840"/>
            <a:ext cx="15150979" cy="129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813" i="true" spc="-70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LISTAS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890779" y="3706612"/>
            <a:ext cx="14506442" cy="3788175"/>
            <a:chOff x="0" y="0"/>
            <a:chExt cx="19341922" cy="50509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9341922" cy="5050900"/>
              <a:chOff x="0" y="0"/>
              <a:chExt cx="3820627" cy="99770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3820626" cy="997709"/>
              </a:xfrm>
              <a:custGeom>
                <a:avLst/>
                <a:gdLst/>
                <a:ahLst/>
                <a:cxnLst/>
                <a:rect r="r" b="b" t="t" l="l"/>
                <a:pathLst>
                  <a:path h="997709" w="3820626">
                    <a:moveTo>
                      <a:pt x="27218" y="0"/>
                    </a:moveTo>
                    <a:lnTo>
                      <a:pt x="3793408" y="0"/>
                    </a:lnTo>
                    <a:cubicBezTo>
                      <a:pt x="3800627" y="0"/>
                      <a:pt x="3807550" y="2868"/>
                      <a:pt x="3812654" y="7972"/>
                    </a:cubicBezTo>
                    <a:cubicBezTo>
                      <a:pt x="3817759" y="13076"/>
                      <a:pt x="3820626" y="19999"/>
                      <a:pt x="3820626" y="27218"/>
                    </a:cubicBezTo>
                    <a:lnTo>
                      <a:pt x="3820626" y="970491"/>
                    </a:lnTo>
                    <a:cubicBezTo>
                      <a:pt x="3820626" y="977709"/>
                      <a:pt x="3817759" y="984632"/>
                      <a:pt x="3812654" y="989737"/>
                    </a:cubicBezTo>
                    <a:cubicBezTo>
                      <a:pt x="3807550" y="994841"/>
                      <a:pt x="3800627" y="997709"/>
                      <a:pt x="3793408" y="997709"/>
                    </a:cubicBezTo>
                    <a:lnTo>
                      <a:pt x="27218" y="997709"/>
                    </a:lnTo>
                    <a:cubicBezTo>
                      <a:pt x="19999" y="997709"/>
                      <a:pt x="13076" y="994841"/>
                      <a:pt x="7972" y="989737"/>
                    </a:cubicBezTo>
                    <a:cubicBezTo>
                      <a:pt x="2868" y="984632"/>
                      <a:pt x="0" y="977709"/>
                      <a:pt x="0" y="970491"/>
                    </a:cubicBezTo>
                    <a:lnTo>
                      <a:pt x="0" y="27218"/>
                    </a:lnTo>
                    <a:cubicBezTo>
                      <a:pt x="0" y="19999"/>
                      <a:pt x="2868" y="13076"/>
                      <a:pt x="7972" y="7972"/>
                    </a:cubicBezTo>
                    <a:cubicBezTo>
                      <a:pt x="13076" y="2868"/>
                      <a:pt x="19999" y="0"/>
                      <a:pt x="27218" y="0"/>
                    </a:cubicBezTo>
                    <a:close/>
                  </a:path>
                </a:pathLst>
              </a:custGeom>
              <a:solidFill>
                <a:srgbClr val="F7AC16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3820627" cy="103580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316436" y="337593"/>
              <a:ext cx="18301972" cy="4276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 spc="-17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Uma lista é uma forma de armazenar vários dados do mesmo tipo.</a:t>
              </a:r>
            </a:p>
            <a:p>
              <a:pPr algn="l">
                <a:lnSpc>
                  <a:spcPts val="3600"/>
                </a:lnSpc>
              </a:pPr>
            </a:p>
            <a:p>
              <a:pPr algn="just" marL="647700" indent="-323850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 spc="-17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Usar listas permite manipular esses dados de forma rápida e prática, sem precisar criar uma variável para cada um.</a:t>
              </a:r>
            </a:p>
            <a:p>
              <a:pPr algn="just">
                <a:lnSpc>
                  <a:spcPts val="3600"/>
                </a:lnSpc>
              </a:pPr>
            </a:p>
            <a:p>
              <a:pPr algn="just" marL="647700" indent="-323850" lvl="1">
                <a:lnSpc>
                  <a:spcPts val="36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3000" spc="-17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Como se fosse uma folha de papel com uma lista de compras ou de afazeres.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3142063" y="2445563"/>
            <a:ext cx="1200387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 spc="-17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O que é uma lista em python?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75180" y="62601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68510" y="368840"/>
            <a:ext cx="15150979" cy="129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813" i="true" spc="-70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LISTAS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142063" y="2304194"/>
            <a:ext cx="1200387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 spc="-17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Exemplos de algumas listas em python: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2761763" y="3408312"/>
            <a:ext cx="5092507" cy="1459806"/>
            <a:chOff x="0" y="0"/>
            <a:chExt cx="6790009" cy="194640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496579"/>
              <a:ext cx="3829572" cy="1449828"/>
              <a:chOff x="0" y="0"/>
              <a:chExt cx="854152" cy="323371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54152" cy="323371"/>
              </a:xfrm>
              <a:custGeom>
                <a:avLst/>
                <a:gdLst/>
                <a:ahLst/>
                <a:cxnLst/>
                <a:rect r="r" b="b" t="t" l="l"/>
                <a:pathLst>
                  <a:path h="323371" w="854152">
                    <a:moveTo>
                      <a:pt x="137470" y="0"/>
                    </a:moveTo>
                    <a:lnTo>
                      <a:pt x="716682" y="0"/>
                    </a:lnTo>
                    <a:cubicBezTo>
                      <a:pt x="753141" y="0"/>
                      <a:pt x="788107" y="14483"/>
                      <a:pt x="813888" y="40264"/>
                    </a:cubicBezTo>
                    <a:cubicBezTo>
                      <a:pt x="839669" y="66045"/>
                      <a:pt x="854152" y="101011"/>
                      <a:pt x="854152" y="137470"/>
                    </a:cubicBezTo>
                    <a:lnTo>
                      <a:pt x="854152" y="185901"/>
                    </a:lnTo>
                    <a:cubicBezTo>
                      <a:pt x="854152" y="222361"/>
                      <a:pt x="839669" y="257327"/>
                      <a:pt x="813888" y="283107"/>
                    </a:cubicBezTo>
                    <a:cubicBezTo>
                      <a:pt x="788107" y="308888"/>
                      <a:pt x="753141" y="323371"/>
                      <a:pt x="716682" y="323371"/>
                    </a:cubicBezTo>
                    <a:lnTo>
                      <a:pt x="137470" y="323371"/>
                    </a:lnTo>
                    <a:cubicBezTo>
                      <a:pt x="101011" y="323371"/>
                      <a:pt x="66045" y="308888"/>
                      <a:pt x="40264" y="283107"/>
                    </a:cubicBezTo>
                    <a:cubicBezTo>
                      <a:pt x="14483" y="257327"/>
                      <a:pt x="0" y="222361"/>
                      <a:pt x="0" y="185901"/>
                    </a:cubicBezTo>
                    <a:lnTo>
                      <a:pt x="0" y="137470"/>
                    </a:lnTo>
                    <a:cubicBezTo>
                      <a:pt x="0" y="101011"/>
                      <a:pt x="14483" y="66045"/>
                      <a:pt x="40264" y="40264"/>
                    </a:cubicBezTo>
                    <a:cubicBezTo>
                      <a:pt x="66045" y="14483"/>
                      <a:pt x="101011" y="0"/>
                      <a:pt x="137470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854152" cy="361471"/>
              </a:xfrm>
              <a:prstGeom prst="rect">
                <a:avLst/>
              </a:prstGeom>
            </p:spPr>
            <p:txBody>
              <a:bodyPr anchor="ctr" rtlCol="false" tIns="68158" lIns="68158" bIns="68158" rIns="6815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0" y="0"/>
              <a:ext cx="4319678" cy="873742"/>
              <a:chOff x="0" y="0"/>
              <a:chExt cx="963466" cy="19488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963466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963466">
                    <a:moveTo>
                      <a:pt x="97440" y="0"/>
                    </a:moveTo>
                    <a:lnTo>
                      <a:pt x="866025" y="0"/>
                    </a:lnTo>
                    <a:cubicBezTo>
                      <a:pt x="891868" y="0"/>
                      <a:pt x="916652" y="10266"/>
                      <a:pt x="934926" y="28540"/>
                    </a:cubicBezTo>
                    <a:cubicBezTo>
                      <a:pt x="953200" y="46813"/>
                      <a:pt x="963466" y="71597"/>
                      <a:pt x="963466" y="97440"/>
                    </a:cubicBezTo>
                    <a:lnTo>
                      <a:pt x="963466" y="97440"/>
                    </a:lnTo>
                    <a:cubicBezTo>
                      <a:pt x="963466" y="123283"/>
                      <a:pt x="953200" y="148067"/>
                      <a:pt x="934926" y="166341"/>
                    </a:cubicBezTo>
                    <a:cubicBezTo>
                      <a:pt x="916652" y="184614"/>
                      <a:pt x="891868" y="194880"/>
                      <a:pt x="866025" y="194880"/>
                    </a:cubicBezTo>
                    <a:lnTo>
                      <a:pt x="97440" y="194880"/>
                    </a:lnTo>
                    <a:cubicBezTo>
                      <a:pt x="71597" y="194880"/>
                      <a:pt x="46813" y="184614"/>
                      <a:pt x="28540" y="166341"/>
                    </a:cubicBezTo>
                    <a:cubicBezTo>
                      <a:pt x="10266" y="148067"/>
                      <a:pt x="0" y="123283"/>
                      <a:pt x="0" y="97440"/>
                    </a:cubicBezTo>
                    <a:lnTo>
                      <a:pt x="0" y="97440"/>
                    </a:lnTo>
                    <a:cubicBezTo>
                      <a:pt x="0" y="71597"/>
                      <a:pt x="10266" y="46813"/>
                      <a:pt x="28540" y="28540"/>
                    </a:cubicBezTo>
                    <a:cubicBezTo>
                      <a:pt x="46813" y="10266"/>
                      <a:pt x="71597" y="0"/>
                      <a:pt x="97440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963466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335996" y="985855"/>
              <a:ext cx="3468177" cy="5174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499" spc="-14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Lista = []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35996" y="179552"/>
              <a:ext cx="6454013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Lista vazia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761763" y="6149628"/>
            <a:ext cx="5218978" cy="1459806"/>
            <a:chOff x="0" y="0"/>
            <a:chExt cx="6958637" cy="1946408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496579"/>
              <a:ext cx="6552776" cy="1449828"/>
              <a:chOff x="0" y="0"/>
              <a:chExt cx="1461538" cy="323371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461538" cy="323371"/>
              </a:xfrm>
              <a:custGeom>
                <a:avLst/>
                <a:gdLst/>
                <a:ahLst/>
                <a:cxnLst/>
                <a:rect r="r" b="b" t="t" l="l"/>
                <a:pathLst>
                  <a:path h="323371" w="1461538">
                    <a:moveTo>
                      <a:pt x="80340" y="0"/>
                    </a:moveTo>
                    <a:lnTo>
                      <a:pt x="1381198" y="0"/>
                    </a:lnTo>
                    <a:cubicBezTo>
                      <a:pt x="1425569" y="0"/>
                      <a:pt x="1461538" y="35969"/>
                      <a:pt x="1461538" y="80340"/>
                    </a:cubicBezTo>
                    <a:lnTo>
                      <a:pt x="1461538" y="243031"/>
                    </a:lnTo>
                    <a:cubicBezTo>
                      <a:pt x="1461538" y="287402"/>
                      <a:pt x="1425569" y="323371"/>
                      <a:pt x="1381198" y="323371"/>
                    </a:cubicBezTo>
                    <a:lnTo>
                      <a:pt x="80340" y="323371"/>
                    </a:lnTo>
                    <a:cubicBezTo>
                      <a:pt x="35969" y="323371"/>
                      <a:pt x="0" y="287402"/>
                      <a:pt x="0" y="243031"/>
                    </a:cubicBezTo>
                    <a:lnTo>
                      <a:pt x="0" y="80340"/>
                    </a:lnTo>
                    <a:cubicBezTo>
                      <a:pt x="0" y="35969"/>
                      <a:pt x="35969" y="0"/>
                      <a:pt x="80340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461538" cy="361471"/>
              </a:xfrm>
              <a:prstGeom prst="rect">
                <a:avLst/>
              </a:prstGeom>
            </p:spPr>
            <p:txBody>
              <a:bodyPr anchor="ctr" rtlCol="false" tIns="68158" lIns="68158" bIns="68158" rIns="6815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0" y="0"/>
              <a:ext cx="6958637" cy="873742"/>
              <a:chOff x="0" y="0"/>
              <a:chExt cx="1552062" cy="19488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552062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1552062">
                    <a:moveTo>
                      <a:pt x="75654" y="0"/>
                    </a:moveTo>
                    <a:lnTo>
                      <a:pt x="1476408" y="0"/>
                    </a:lnTo>
                    <a:cubicBezTo>
                      <a:pt x="1496472" y="0"/>
                      <a:pt x="1515715" y="7971"/>
                      <a:pt x="1529903" y="22159"/>
                    </a:cubicBezTo>
                    <a:cubicBezTo>
                      <a:pt x="1544091" y="36347"/>
                      <a:pt x="1552062" y="55590"/>
                      <a:pt x="1552062" y="75654"/>
                    </a:cubicBezTo>
                    <a:lnTo>
                      <a:pt x="1552062" y="119226"/>
                    </a:lnTo>
                    <a:cubicBezTo>
                      <a:pt x="1552062" y="139291"/>
                      <a:pt x="1544091" y="158534"/>
                      <a:pt x="1529903" y="172722"/>
                    </a:cubicBezTo>
                    <a:cubicBezTo>
                      <a:pt x="1515715" y="186910"/>
                      <a:pt x="1496472" y="194880"/>
                      <a:pt x="1476408" y="194880"/>
                    </a:cubicBezTo>
                    <a:lnTo>
                      <a:pt x="75654" y="194880"/>
                    </a:lnTo>
                    <a:cubicBezTo>
                      <a:pt x="55590" y="194880"/>
                      <a:pt x="36347" y="186910"/>
                      <a:pt x="22159" y="172722"/>
                    </a:cubicBezTo>
                    <a:cubicBezTo>
                      <a:pt x="7971" y="158534"/>
                      <a:pt x="0" y="139291"/>
                      <a:pt x="0" y="119226"/>
                    </a:cubicBezTo>
                    <a:lnTo>
                      <a:pt x="0" y="75654"/>
                    </a:lnTo>
                    <a:cubicBezTo>
                      <a:pt x="0" y="55590"/>
                      <a:pt x="7971" y="36347"/>
                      <a:pt x="22159" y="22159"/>
                    </a:cubicBezTo>
                    <a:cubicBezTo>
                      <a:pt x="36347" y="7971"/>
                      <a:pt x="55590" y="0"/>
                      <a:pt x="75654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552062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335996" y="985855"/>
              <a:ext cx="6454013" cy="5174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499" spc="-14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Numeros = [10, 20, 30, 40]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335996" y="179552"/>
              <a:ext cx="6454013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Lista com inteiros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575180" y="3428144"/>
            <a:ext cx="6353991" cy="1459806"/>
            <a:chOff x="0" y="0"/>
            <a:chExt cx="8471988" cy="1946408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496579"/>
              <a:ext cx="8114614" cy="1449828"/>
              <a:chOff x="0" y="0"/>
              <a:chExt cx="1809892" cy="323371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809892" cy="323371"/>
              </a:xfrm>
              <a:custGeom>
                <a:avLst/>
                <a:gdLst/>
                <a:ahLst/>
                <a:cxnLst/>
                <a:rect r="r" b="b" t="t" l="l"/>
                <a:pathLst>
                  <a:path h="323371" w="1809892">
                    <a:moveTo>
                      <a:pt x="64877" y="0"/>
                    </a:moveTo>
                    <a:lnTo>
                      <a:pt x="1745015" y="0"/>
                    </a:lnTo>
                    <a:cubicBezTo>
                      <a:pt x="1762222" y="0"/>
                      <a:pt x="1778723" y="6835"/>
                      <a:pt x="1790890" y="19002"/>
                    </a:cubicBezTo>
                    <a:cubicBezTo>
                      <a:pt x="1803057" y="31169"/>
                      <a:pt x="1809892" y="47670"/>
                      <a:pt x="1809892" y="64877"/>
                    </a:cubicBezTo>
                    <a:lnTo>
                      <a:pt x="1809892" y="258494"/>
                    </a:lnTo>
                    <a:cubicBezTo>
                      <a:pt x="1809892" y="275701"/>
                      <a:pt x="1803057" y="292203"/>
                      <a:pt x="1790890" y="304369"/>
                    </a:cubicBezTo>
                    <a:cubicBezTo>
                      <a:pt x="1778723" y="316536"/>
                      <a:pt x="1762222" y="323371"/>
                      <a:pt x="1745015" y="323371"/>
                    </a:cubicBezTo>
                    <a:lnTo>
                      <a:pt x="64877" y="323371"/>
                    </a:lnTo>
                    <a:cubicBezTo>
                      <a:pt x="47670" y="323371"/>
                      <a:pt x="31169" y="316536"/>
                      <a:pt x="19002" y="304369"/>
                    </a:cubicBezTo>
                    <a:cubicBezTo>
                      <a:pt x="6835" y="292203"/>
                      <a:pt x="0" y="275701"/>
                      <a:pt x="0" y="258494"/>
                    </a:cubicBezTo>
                    <a:lnTo>
                      <a:pt x="0" y="64877"/>
                    </a:lnTo>
                    <a:cubicBezTo>
                      <a:pt x="0" y="47670"/>
                      <a:pt x="6835" y="31169"/>
                      <a:pt x="19002" y="19002"/>
                    </a:cubicBezTo>
                    <a:cubicBezTo>
                      <a:pt x="31169" y="6835"/>
                      <a:pt x="47670" y="0"/>
                      <a:pt x="64877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809892" cy="361471"/>
              </a:xfrm>
              <a:prstGeom prst="rect">
                <a:avLst/>
              </a:prstGeom>
            </p:spPr>
            <p:txBody>
              <a:bodyPr anchor="ctr" rtlCol="false" tIns="68158" lIns="68158" bIns="68158" rIns="6815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0" y="0"/>
              <a:ext cx="8471988" cy="873742"/>
              <a:chOff x="0" y="0"/>
              <a:chExt cx="1889601" cy="19488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889601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1889601">
                    <a:moveTo>
                      <a:pt x="62140" y="0"/>
                    </a:moveTo>
                    <a:lnTo>
                      <a:pt x="1827461" y="0"/>
                    </a:lnTo>
                    <a:cubicBezTo>
                      <a:pt x="1861780" y="0"/>
                      <a:pt x="1889601" y="27821"/>
                      <a:pt x="1889601" y="62140"/>
                    </a:cubicBezTo>
                    <a:lnTo>
                      <a:pt x="1889601" y="132740"/>
                    </a:lnTo>
                    <a:cubicBezTo>
                      <a:pt x="1889601" y="149221"/>
                      <a:pt x="1883054" y="165026"/>
                      <a:pt x="1871401" y="176680"/>
                    </a:cubicBezTo>
                    <a:cubicBezTo>
                      <a:pt x="1859747" y="188334"/>
                      <a:pt x="1843942" y="194880"/>
                      <a:pt x="1827461" y="194880"/>
                    </a:cubicBezTo>
                    <a:lnTo>
                      <a:pt x="62140" y="194880"/>
                    </a:lnTo>
                    <a:cubicBezTo>
                      <a:pt x="27821" y="194880"/>
                      <a:pt x="0" y="167059"/>
                      <a:pt x="0" y="132740"/>
                    </a:cubicBezTo>
                    <a:lnTo>
                      <a:pt x="0" y="62140"/>
                    </a:lnTo>
                    <a:cubicBezTo>
                      <a:pt x="0" y="27821"/>
                      <a:pt x="27821" y="0"/>
                      <a:pt x="62140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1889601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335996" y="985855"/>
              <a:ext cx="8135992" cy="5174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499" spc="-14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Nomes = ["Ana", "Bruno", "Carla"]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335996" y="179552"/>
              <a:ext cx="6454013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Lista com strings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575180" y="6149628"/>
            <a:ext cx="6564238" cy="1459806"/>
            <a:chOff x="0" y="0"/>
            <a:chExt cx="8752318" cy="1946408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496579"/>
              <a:ext cx="8471988" cy="1449828"/>
              <a:chOff x="0" y="0"/>
              <a:chExt cx="1889601" cy="323371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889601" cy="323371"/>
              </a:xfrm>
              <a:custGeom>
                <a:avLst/>
                <a:gdLst/>
                <a:ahLst/>
                <a:cxnLst/>
                <a:rect r="r" b="b" t="t" l="l"/>
                <a:pathLst>
                  <a:path h="323371" w="1889601">
                    <a:moveTo>
                      <a:pt x="62140" y="0"/>
                    </a:moveTo>
                    <a:lnTo>
                      <a:pt x="1827461" y="0"/>
                    </a:lnTo>
                    <a:cubicBezTo>
                      <a:pt x="1861780" y="0"/>
                      <a:pt x="1889601" y="27821"/>
                      <a:pt x="1889601" y="62140"/>
                    </a:cubicBezTo>
                    <a:lnTo>
                      <a:pt x="1889601" y="261231"/>
                    </a:lnTo>
                    <a:cubicBezTo>
                      <a:pt x="1889601" y="277712"/>
                      <a:pt x="1883054" y="293517"/>
                      <a:pt x="1871401" y="305171"/>
                    </a:cubicBezTo>
                    <a:cubicBezTo>
                      <a:pt x="1859747" y="316824"/>
                      <a:pt x="1843942" y="323371"/>
                      <a:pt x="1827461" y="323371"/>
                    </a:cubicBezTo>
                    <a:lnTo>
                      <a:pt x="62140" y="323371"/>
                    </a:lnTo>
                    <a:cubicBezTo>
                      <a:pt x="27821" y="323371"/>
                      <a:pt x="0" y="295550"/>
                      <a:pt x="0" y="261231"/>
                    </a:cubicBezTo>
                    <a:lnTo>
                      <a:pt x="0" y="62140"/>
                    </a:lnTo>
                    <a:cubicBezTo>
                      <a:pt x="0" y="27821"/>
                      <a:pt x="27821" y="0"/>
                      <a:pt x="62140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38100"/>
                <a:ext cx="1889601" cy="361471"/>
              </a:xfrm>
              <a:prstGeom prst="rect">
                <a:avLst/>
              </a:prstGeom>
            </p:spPr>
            <p:txBody>
              <a:bodyPr anchor="ctr" rtlCol="false" tIns="68158" lIns="68158" bIns="68158" rIns="6815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0" y="0"/>
              <a:ext cx="8752318" cy="873742"/>
              <a:chOff x="0" y="0"/>
              <a:chExt cx="1952126" cy="19488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1952126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1952126">
                    <a:moveTo>
                      <a:pt x="60150" y="0"/>
                    </a:moveTo>
                    <a:lnTo>
                      <a:pt x="1891977" y="0"/>
                    </a:lnTo>
                    <a:cubicBezTo>
                      <a:pt x="1907929" y="0"/>
                      <a:pt x="1923229" y="6337"/>
                      <a:pt x="1934509" y="17617"/>
                    </a:cubicBezTo>
                    <a:cubicBezTo>
                      <a:pt x="1945789" y="28898"/>
                      <a:pt x="1952126" y="44197"/>
                      <a:pt x="1952126" y="60150"/>
                    </a:cubicBezTo>
                    <a:lnTo>
                      <a:pt x="1952126" y="134731"/>
                    </a:lnTo>
                    <a:cubicBezTo>
                      <a:pt x="1952126" y="167950"/>
                      <a:pt x="1925196" y="194880"/>
                      <a:pt x="1891977" y="194880"/>
                    </a:cubicBezTo>
                    <a:lnTo>
                      <a:pt x="60150" y="194880"/>
                    </a:lnTo>
                    <a:cubicBezTo>
                      <a:pt x="26930" y="194880"/>
                      <a:pt x="0" y="167950"/>
                      <a:pt x="0" y="134731"/>
                    </a:cubicBezTo>
                    <a:lnTo>
                      <a:pt x="0" y="60150"/>
                    </a:lnTo>
                    <a:cubicBezTo>
                      <a:pt x="0" y="26930"/>
                      <a:pt x="26930" y="0"/>
                      <a:pt x="60150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38100"/>
                <a:ext cx="1952126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43" id="43"/>
            <p:cNvSpPr txBox="true"/>
            <p:nvPr/>
          </p:nvSpPr>
          <p:spPr>
            <a:xfrm rot="0">
              <a:off x="335996" y="985855"/>
              <a:ext cx="8135992" cy="5174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499" spc="-14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Misturada = [1, "Olá", True, 3.14]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335996" y="179552"/>
              <a:ext cx="6454013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Lista com vários tipos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75180" y="62601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142063" y="2304194"/>
            <a:ext cx="1200387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 spc="-17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Acessando dados da lista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69490" y="3199365"/>
            <a:ext cx="15865946" cy="947114"/>
            <a:chOff x="0" y="0"/>
            <a:chExt cx="4178685" cy="24944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78686" cy="249446"/>
            </a:xfrm>
            <a:custGeom>
              <a:avLst/>
              <a:gdLst/>
              <a:ahLst/>
              <a:cxnLst/>
              <a:rect r="r" b="b" t="t" l="l"/>
              <a:pathLst>
                <a:path h="249446" w="4178686">
                  <a:moveTo>
                    <a:pt x="24886" y="0"/>
                  </a:moveTo>
                  <a:lnTo>
                    <a:pt x="4153800" y="0"/>
                  </a:lnTo>
                  <a:cubicBezTo>
                    <a:pt x="4167544" y="0"/>
                    <a:pt x="4178686" y="11142"/>
                    <a:pt x="4178686" y="24886"/>
                  </a:cubicBezTo>
                  <a:lnTo>
                    <a:pt x="4178686" y="224560"/>
                  </a:lnTo>
                  <a:cubicBezTo>
                    <a:pt x="4178686" y="231160"/>
                    <a:pt x="4176064" y="237490"/>
                    <a:pt x="4171397" y="242157"/>
                  </a:cubicBezTo>
                  <a:cubicBezTo>
                    <a:pt x="4166730" y="246824"/>
                    <a:pt x="4160400" y="249446"/>
                    <a:pt x="4153800" y="249446"/>
                  </a:cubicBezTo>
                  <a:lnTo>
                    <a:pt x="24886" y="249446"/>
                  </a:lnTo>
                  <a:cubicBezTo>
                    <a:pt x="11142" y="249446"/>
                    <a:pt x="0" y="238304"/>
                    <a:pt x="0" y="224560"/>
                  </a:cubicBezTo>
                  <a:lnTo>
                    <a:pt x="0" y="24886"/>
                  </a:lnTo>
                  <a:cubicBezTo>
                    <a:pt x="0" y="11142"/>
                    <a:pt x="11142" y="0"/>
                    <a:pt x="24886" y="0"/>
                  </a:cubicBezTo>
                  <a:close/>
                </a:path>
              </a:pathLst>
            </a:custGeom>
            <a:solidFill>
              <a:srgbClr val="F7AC1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178685" cy="2875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32485" y="3418619"/>
            <a:ext cx="1625000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 spc="-177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Os elementos possuem </a:t>
            </a:r>
            <a:r>
              <a:rPr lang="en-US" b="true" sz="3000" spc="-177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índices </a:t>
            </a:r>
            <a:r>
              <a:rPr lang="en-US" b="true" sz="3000" spc="-177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que começam do 0 e vão aumentando de 1 em 1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469490" y="4146480"/>
            <a:ext cx="15865946" cy="1508100"/>
            <a:chOff x="0" y="0"/>
            <a:chExt cx="5161896" cy="49065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161896" cy="490652"/>
            </a:xfrm>
            <a:custGeom>
              <a:avLst/>
              <a:gdLst/>
              <a:ahLst/>
              <a:cxnLst/>
              <a:rect r="r" b="b" t="t" l="l"/>
              <a:pathLst>
                <a:path h="490652" w="5161896">
                  <a:moveTo>
                    <a:pt x="24886" y="0"/>
                  </a:moveTo>
                  <a:lnTo>
                    <a:pt x="5137010" y="0"/>
                  </a:lnTo>
                  <a:cubicBezTo>
                    <a:pt x="5143610" y="0"/>
                    <a:pt x="5149940" y="2622"/>
                    <a:pt x="5154607" y="7289"/>
                  </a:cubicBezTo>
                  <a:cubicBezTo>
                    <a:pt x="5159274" y="11956"/>
                    <a:pt x="5161896" y="18286"/>
                    <a:pt x="5161896" y="24886"/>
                  </a:cubicBezTo>
                  <a:lnTo>
                    <a:pt x="5161896" y="465766"/>
                  </a:lnTo>
                  <a:cubicBezTo>
                    <a:pt x="5161896" y="479510"/>
                    <a:pt x="5150754" y="490652"/>
                    <a:pt x="5137010" y="490652"/>
                  </a:cubicBezTo>
                  <a:lnTo>
                    <a:pt x="24886" y="490652"/>
                  </a:lnTo>
                  <a:cubicBezTo>
                    <a:pt x="18286" y="490652"/>
                    <a:pt x="11956" y="488030"/>
                    <a:pt x="7289" y="483363"/>
                  </a:cubicBezTo>
                  <a:cubicBezTo>
                    <a:pt x="2622" y="478696"/>
                    <a:pt x="0" y="472366"/>
                    <a:pt x="0" y="465766"/>
                  </a:cubicBezTo>
                  <a:lnTo>
                    <a:pt x="0" y="24886"/>
                  </a:lnTo>
                  <a:cubicBezTo>
                    <a:pt x="0" y="11142"/>
                    <a:pt x="11142" y="0"/>
                    <a:pt x="24886" y="0"/>
                  </a:cubicBezTo>
                  <a:close/>
                </a:path>
              </a:pathLst>
            </a:custGeom>
            <a:solidFill>
              <a:srgbClr val="38383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161896" cy="528752"/>
            </a:xfrm>
            <a:prstGeom prst="rect">
              <a:avLst/>
            </a:prstGeom>
          </p:spPr>
          <p:txBody>
            <a:bodyPr anchor="ctr" rtlCol="false" tIns="62302" lIns="62302" bIns="62302" rIns="62302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-1163121" y="4772025"/>
            <a:ext cx="19131167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Lista = ["Ana", "Bruno", "Carla", "Diego", "Eduarda", "Felipe"]</a:t>
            </a:r>
          </a:p>
          <a:p>
            <a:pPr algn="ctr">
              <a:lnSpc>
                <a:spcPts val="2999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4689662" y="4273515"/>
            <a:ext cx="8753959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0        1       2        3         4          5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469490" y="6540405"/>
            <a:ext cx="14829727" cy="947114"/>
            <a:chOff x="0" y="0"/>
            <a:chExt cx="3905772" cy="24944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905772" cy="249446"/>
            </a:xfrm>
            <a:custGeom>
              <a:avLst/>
              <a:gdLst/>
              <a:ahLst/>
              <a:cxnLst/>
              <a:rect r="r" b="b" t="t" l="l"/>
              <a:pathLst>
                <a:path h="249446" w="3905772">
                  <a:moveTo>
                    <a:pt x="26625" y="0"/>
                  </a:moveTo>
                  <a:lnTo>
                    <a:pt x="3879147" y="0"/>
                  </a:lnTo>
                  <a:cubicBezTo>
                    <a:pt x="3893851" y="0"/>
                    <a:pt x="3905772" y="11920"/>
                    <a:pt x="3905772" y="26625"/>
                  </a:cubicBezTo>
                  <a:lnTo>
                    <a:pt x="3905772" y="222821"/>
                  </a:lnTo>
                  <a:cubicBezTo>
                    <a:pt x="3905772" y="229882"/>
                    <a:pt x="3902966" y="236654"/>
                    <a:pt x="3897973" y="241648"/>
                  </a:cubicBezTo>
                  <a:cubicBezTo>
                    <a:pt x="3892980" y="246641"/>
                    <a:pt x="3886208" y="249446"/>
                    <a:pt x="3879147" y="249446"/>
                  </a:cubicBezTo>
                  <a:lnTo>
                    <a:pt x="26625" y="249446"/>
                  </a:lnTo>
                  <a:cubicBezTo>
                    <a:pt x="11920" y="249446"/>
                    <a:pt x="0" y="237525"/>
                    <a:pt x="0" y="222821"/>
                  </a:cubicBezTo>
                  <a:lnTo>
                    <a:pt x="0" y="26625"/>
                  </a:lnTo>
                  <a:cubicBezTo>
                    <a:pt x="0" y="11920"/>
                    <a:pt x="11920" y="0"/>
                    <a:pt x="26625" y="0"/>
                  </a:cubicBezTo>
                  <a:close/>
                </a:path>
              </a:pathLst>
            </a:custGeom>
            <a:solidFill>
              <a:srgbClr val="F7AC16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3905772" cy="2875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832485" y="6759658"/>
            <a:ext cx="1625000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 spc="-177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O exemplo possui uma lista com </a:t>
            </a:r>
            <a:r>
              <a:rPr lang="en-US" b="true" sz="3000" spc="-177">
                <a:solidFill>
                  <a:srgbClr val="88081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6</a:t>
            </a:r>
            <a:r>
              <a:rPr lang="en-US" b="true" sz="3000" spc="-177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nomes com </a:t>
            </a:r>
            <a:r>
              <a:rPr lang="en-US" b="true" sz="3000" spc="-177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índices </a:t>
            </a:r>
            <a:r>
              <a:rPr lang="en-US" b="true" sz="3000" spc="-177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que vão de </a:t>
            </a:r>
            <a:r>
              <a:rPr lang="en-US" b="true" sz="3000" spc="-177">
                <a:solidFill>
                  <a:srgbClr val="88081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0 a 5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68510" y="368840"/>
            <a:ext cx="15150979" cy="129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813" i="true" spc="-70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LISTAS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75180" y="62601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142063" y="2304194"/>
            <a:ext cx="1200387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 spc="-17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Acessando dados da lista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69490" y="3199365"/>
            <a:ext cx="12922483" cy="947114"/>
            <a:chOff x="0" y="0"/>
            <a:chExt cx="3403452" cy="24944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03452" cy="249446"/>
            </a:xfrm>
            <a:custGeom>
              <a:avLst/>
              <a:gdLst/>
              <a:ahLst/>
              <a:cxnLst/>
              <a:rect r="r" b="b" t="t" l="l"/>
              <a:pathLst>
                <a:path h="249446" w="3403452">
                  <a:moveTo>
                    <a:pt x="30554" y="0"/>
                  </a:moveTo>
                  <a:lnTo>
                    <a:pt x="3372898" y="0"/>
                  </a:lnTo>
                  <a:cubicBezTo>
                    <a:pt x="3389773" y="0"/>
                    <a:pt x="3403452" y="13680"/>
                    <a:pt x="3403452" y="30554"/>
                  </a:cubicBezTo>
                  <a:lnTo>
                    <a:pt x="3403452" y="218891"/>
                  </a:lnTo>
                  <a:cubicBezTo>
                    <a:pt x="3403452" y="235766"/>
                    <a:pt x="3389773" y="249446"/>
                    <a:pt x="3372898" y="249446"/>
                  </a:cubicBezTo>
                  <a:lnTo>
                    <a:pt x="30554" y="249446"/>
                  </a:lnTo>
                  <a:cubicBezTo>
                    <a:pt x="13680" y="249446"/>
                    <a:pt x="0" y="235766"/>
                    <a:pt x="0" y="218891"/>
                  </a:cubicBezTo>
                  <a:lnTo>
                    <a:pt x="0" y="30554"/>
                  </a:lnTo>
                  <a:cubicBezTo>
                    <a:pt x="0" y="13680"/>
                    <a:pt x="13680" y="0"/>
                    <a:pt x="30554" y="0"/>
                  </a:cubicBezTo>
                  <a:close/>
                </a:path>
              </a:pathLst>
            </a:custGeom>
            <a:solidFill>
              <a:srgbClr val="F7AC1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403452" cy="2875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32485" y="3418619"/>
            <a:ext cx="1625000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 spc="-177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Usando a lista anterior, para mostrar o nome de Ana usamos: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469490" y="4146480"/>
            <a:ext cx="3163517" cy="811283"/>
            <a:chOff x="0" y="0"/>
            <a:chExt cx="1029232" cy="26394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29232" cy="263946"/>
            </a:xfrm>
            <a:custGeom>
              <a:avLst/>
              <a:gdLst/>
              <a:ahLst/>
              <a:cxnLst/>
              <a:rect r="r" b="b" t="t" l="l"/>
              <a:pathLst>
                <a:path h="263946" w="1029232">
                  <a:moveTo>
                    <a:pt x="124810" y="0"/>
                  </a:moveTo>
                  <a:lnTo>
                    <a:pt x="904423" y="0"/>
                  </a:lnTo>
                  <a:cubicBezTo>
                    <a:pt x="973353" y="0"/>
                    <a:pt x="1029232" y="55879"/>
                    <a:pt x="1029232" y="124810"/>
                  </a:cubicBezTo>
                  <a:lnTo>
                    <a:pt x="1029232" y="139136"/>
                  </a:lnTo>
                  <a:cubicBezTo>
                    <a:pt x="1029232" y="172238"/>
                    <a:pt x="1016083" y="203984"/>
                    <a:pt x="992677" y="227390"/>
                  </a:cubicBezTo>
                  <a:cubicBezTo>
                    <a:pt x="969270" y="250797"/>
                    <a:pt x="937524" y="263946"/>
                    <a:pt x="904423" y="263946"/>
                  </a:cubicBezTo>
                  <a:lnTo>
                    <a:pt x="124810" y="263946"/>
                  </a:lnTo>
                  <a:cubicBezTo>
                    <a:pt x="91708" y="263946"/>
                    <a:pt x="59962" y="250797"/>
                    <a:pt x="36556" y="227390"/>
                  </a:cubicBezTo>
                  <a:cubicBezTo>
                    <a:pt x="13150" y="203984"/>
                    <a:pt x="0" y="172238"/>
                    <a:pt x="0" y="139136"/>
                  </a:cubicBezTo>
                  <a:lnTo>
                    <a:pt x="0" y="124810"/>
                  </a:lnTo>
                  <a:cubicBezTo>
                    <a:pt x="0" y="55879"/>
                    <a:pt x="55879" y="0"/>
                    <a:pt x="124810" y="0"/>
                  </a:cubicBezTo>
                  <a:close/>
                </a:path>
              </a:pathLst>
            </a:custGeom>
            <a:solidFill>
              <a:srgbClr val="38383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029232" cy="302046"/>
            </a:xfrm>
            <a:prstGeom prst="rect">
              <a:avLst/>
            </a:prstGeom>
          </p:spPr>
          <p:txBody>
            <a:bodyPr anchor="ctr" rtlCol="false" tIns="62302" lIns="62302" bIns="62302" rIns="62302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760027" y="4366384"/>
            <a:ext cx="3963323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print(Lista[0])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469490" y="5560640"/>
            <a:ext cx="6431206" cy="947114"/>
            <a:chOff x="0" y="0"/>
            <a:chExt cx="1693816" cy="24944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93816" cy="249446"/>
            </a:xfrm>
            <a:custGeom>
              <a:avLst/>
              <a:gdLst/>
              <a:ahLst/>
              <a:cxnLst/>
              <a:rect r="r" b="b" t="t" l="l"/>
              <a:pathLst>
                <a:path h="249446" w="1693816">
                  <a:moveTo>
                    <a:pt x="61394" y="0"/>
                  </a:moveTo>
                  <a:lnTo>
                    <a:pt x="1632421" y="0"/>
                  </a:lnTo>
                  <a:cubicBezTo>
                    <a:pt x="1666329" y="0"/>
                    <a:pt x="1693816" y="27487"/>
                    <a:pt x="1693816" y="61394"/>
                  </a:cubicBezTo>
                  <a:lnTo>
                    <a:pt x="1693816" y="188052"/>
                  </a:lnTo>
                  <a:cubicBezTo>
                    <a:pt x="1693816" y="204334"/>
                    <a:pt x="1687347" y="219950"/>
                    <a:pt x="1675834" y="231464"/>
                  </a:cubicBezTo>
                  <a:cubicBezTo>
                    <a:pt x="1664320" y="242977"/>
                    <a:pt x="1648704" y="249446"/>
                    <a:pt x="1632421" y="249446"/>
                  </a:cubicBezTo>
                  <a:lnTo>
                    <a:pt x="61394" y="249446"/>
                  </a:lnTo>
                  <a:cubicBezTo>
                    <a:pt x="45111" y="249446"/>
                    <a:pt x="29496" y="242977"/>
                    <a:pt x="17982" y="231464"/>
                  </a:cubicBezTo>
                  <a:cubicBezTo>
                    <a:pt x="6468" y="219950"/>
                    <a:pt x="0" y="204334"/>
                    <a:pt x="0" y="188052"/>
                  </a:cubicBezTo>
                  <a:lnTo>
                    <a:pt x="0" y="61394"/>
                  </a:lnTo>
                  <a:cubicBezTo>
                    <a:pt x="0" y="45111"/>
                    <a:pt x="6468" y="29496"/>
                    <a:pt x="17982" y="17982"/>
                  </a:cubicBezTo>
                  <a:cubicBezTo>
                    <a:pt x="29496" y="6468"/>
                    <a:pt x="45111" y="0"/>
                    <a:pt x="61394" y="0"/>
                  </a:cubicBezTo>
                  <a:close/>
                </a:path>
              </a:pathLst>
            </a:custGeom>
            <a:solidFill>
              <a:srgbClr val="F7AC16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693816" cy="2875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832485" y="5779893"/>
            <a:ext cx="1625000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 spc="-177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Se quiser o de Diego usamos:</a:t>
            </a:r>
          </a:p>
        </p:txBody>
      </p:sp>
      <p:sp>
        <p:nvSpPr>
          <p:cNvPr name="Freeform 20" id="20"/>
          <p:cNvSpPr/>
          <p:nvPr/>
        </p:nvSpPr>
        <p:spPr>
          <a:xfrm flipH="false" flipV="true" rot="0">
            <a:off x="919945" y="4880237"/>
            <a:ext cx="489055" cy="500953"/>
          </a:xfrm>
          <a:custGeom>
            <a:avLst/>
            <a:gdLst/>
            <a:ahLst/>
            <a:cxnLst/>
            <a:rect r="r" b="b" t="t" l="l"/>
            <a:pathLst>
              <a:path h="500953" w="489055">
                <a:moveTo>
                  <a:pt x="0" y="500952"/>
                </a:moveTo>
                <a:lnTo>
                  <a:pt x="489055" y="500952"/>
                </a:lnTo>
                <a:lnTo>
                  <a:pt x="489055" y="0"/>
                </a:lnTo>
                <a:lnTo>
                  <a:pt x="0" y="0"/>
                </a:lnTo>
                <a:lnTo>
                  <a:pt x="0" y="50095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530907" y="5006349"/>
            <a:ext cx="1611156" cy="400414"/>
            <a:chOff x="0" y="0"/>
            <a:chExt cx="771185" cy="19165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71185" cy="191659"/>
            </a:xfrm>
            <a:custGeom>
              <a:avLst/>
              <a:gdLst/>
              <a:ahLst/>
              <a:cxnLst/>
              <a:rect r="r" b="b" t="t" l="l"/>
              <a:pathLst>
                <a:path h="191659" w="771185">
                  <a:moveTo>
                    <a:pt x="95830" y="0"/>
                  </a:moveTo>
                  <a:lnTo>
                    <a:pt x="675355" y="0"/>
                  </a:lnTo>
                  <a:cubicBezTo>
                    <a:pt x="728281" y="0"/>
                    <a:pt x="771185" y="42904"/>
                    <a:pt x="771185" y="95830"/>
                  </a:cubicBezTo>
                  <a:lnTo>
                    <a:pt x="771185" y="95830"/>
                  </a:lnTo>
                  <a:cubicBezTo>
                    <a:pt x="771185" y="121245"/>
                    <a:pt x="761089" y="145620"/>
                    <a:pt x="743117" y="163591"/>
                  </a:cubicBezTo>
                  <a:cubicBezTo>
                    <a:pt x="725146" y="181563"/>
                    <a:pt x="700771" y="191659"/>
                    <a:pt x="675355" y="191659"/>
                  </a:cubicBezTo>
                  <a:lnTo>
                    <a:pt x="95830" y="191659"/>
                  </a:lnTo>
                  <a:cubicBezTo>
                    <a:pt x="42904" y="191659"/>
                    <a:pt x="0" y="148755"/>
                    <a:pt x="0" y="95830"/>
                  </a:cubicBezTo>
                  <a:lnTo>
                    <a:pt x="0" y="95830"/>
                  </a:lnTo>
                  <a:cubicBezTo>
                    <a:pt x="0" y="42904"/>
                    <a:pt x="42904" y="0"/>
                    <a:pt x="95830" y="0"/>
                  </a:cubicBezTo>
                  <a:close/>
                </a:path>
              </a:pathLst>
            </a:custGeom>
            <a:solidFill>
              <a:srgbClr val="3777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771185" cy="229759"/>
            </a:xfrm>
            <a:prstGeom prst="rect">
              <a:avLst/>
            </a:prstGeom>
          </p:spPr>
          <p:txBody>
            <a:bodyPr anchor="ctr" rtlCol="false" tIns="27952" lIns="27952" bIns="27952" rIns="27952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616647" y="5060474"/>
            <a:ext cx="1439676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b="true" sz="2000" spc="-118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Saída: Ana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469490" y="6507754"/>
            <a:ext cx="3163517" cy="811283"/>
            <a:chOff x="0" y="0"/>
            <a:chExt cx="1029232" cy="26394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29232" cy="263946"/>
            </a:xfrm>
            <a:custGeom>
              <a:avLst/>
              <a:gdLst/>
              <a:ahLst/>
              <a:cxnLst/>
              <a:rect r="r" b="b" t="t" l="l"/>
              <a:pathLst>
                <a:path h="263946" w="1029232">
                  <a:moveTo>
                    <a:pt x="124810" y="0"/>
                  </a:moveTo>
                  <a:lnTo>
                    <a:pt x="904423" y="0"/>
                  </a:lnTo>
                  <a:cubicBezTo>
                    <a:pt x="973353" y="0"/>
                    <a:pt x="1029232" y="55879"/>
                    <a:pt x="1029232" y="124810"/>
                  </a:cubicBezTo>
                  <a:lnTo>
                    <a:pt x="1029232" y="139136"/>
                  </a:lnTo>
                  <a:cubicBezTo>
                    <a:pt x="1029232" y="172238"/>
                    <a:pt x="1016083" y="203984"/>
                    <a:pt x="992677" y="227390"/>
                  </a:cubicBezTo>
                  <a:cubicBezTo>
                    <a:pt x="969270" y="250797"/>
                    <a:pt x="937524" y="263946"/>
                    <a:pt x="904423" y="263946"/>
                  </a:cubicBezTo>
                  <a:lnTo>
                    <a:pt x="124810" y="263946"/>
                  </a:lnTo>
                  <a:cubicBezTo>
                    <a:pt x="91708" y="263946"/>
                    <a:pt x="59962" y="250797"/>
                    <a:pt x="36556" y="227390"/>
                  </a:cubicBezTo>
                  <a:cubicBezTo>
                    <a:pt x="13150" y="203984"/>
                    <a:pt x="0" y="172238"/>
                    <a:pt x="0" y="139136"/>
                  </a:cubicBezTo>
                  <a:lnTo>
                    <a:pt x="0" y="124810"/>
                  </a:lnTo>
                  <a:cubicBezTo>
                    <a:pt x="0" y="55879"/>
                    <a:pt x="55879" y="0"/>
                    <a:pt x="124810" y="0"/>
                  </a:cubicBezTo>
                  <a:close/>
                </a:path>
              </a:pathLst>
            </a:custGeom>
            <a:solidFill>
              <a:srgbClr val="383838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029232" cy="302046"/>
            </a:xfrm>
            <a:prstGeom prst="rect">
              <a:avLst/>
            </a:prstGeom>
          </p:spPr>
          <p:txBody>
            <a:bodyPr anchor="ctr" rtlCol="false" tIns="62302" lIns="62302" bIns="62302" rIns="62302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760027" y="6727658"/>
            <a:ext cx="3963323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print(Lista[3])</a:t>
            </a:r>
          </a:p>
        </p:txBody>
      </p:sp>
      <p:sp>
        <p:nvSpPr>
          <p:cNvPr name="Freeform 29" id="29"/>
          <p:cNvSpPr/>
          <p:nvPr/>
        </p:nvSpPr>
        <p:spPr>
          <a:xfrm flipH="false" flipV="true" rot="0">
            <a:off x="919945" y="7241511"/>
            <a:ext cx="489055" cy="500953"/>
          </a:xfrm>
          <a:custGeom>
            <a:avLst/>
            <a:gdLst/>
            <a:ahLst/>
            <a:cxnLst/>
            <a:rect r="r" b="b" t="t" l="l"/>
            <a:pathLst>
              <a:path h="500953" w="489055">
                <a:moveTo>
                  <a:pt x="0" y="500953"/>
                </a:moveTo>
                <a:lnTo>
                  <a:pt x="489055" y="500953"/>
                </a:lnTo>
                <a:lnTo>
                  <a:pt x="489055" y="0"/>
                </a:lnTo>
                <a:lnTo>
                  <a:pt x="0" y="0"/>
                </a:lnTo>
                <a:lnTo>
                  <a:pt x="0" y="50095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1530907" y="7367624"/>
            <a:ext cx="1900858" cy="400414"/>
            <a:chOff x="0" y="0"/>
            <a:chExt cx="909852" cy="19165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09852" cy="191659"/>
            </a:xfrm>
            <a:custGeom>
              <a:avLst/>
              <a:gdLst/>
              <a:ahLst/>
              <a:cxnLst/>
              <a:rect r="r" b="b" t="t" l="l"/>
              <a:pathLst>
                <a:path h="191659" w="909852">
                  <a:moveTo>
                    <a:pt x="95830" y="0"/>
                  </a:moveTo>
                  <a:lnTo>
                    <a:pt x="814022" y="0"/>
                  </a:lnTo>
                  <a:cubicBezTo>
                    <a:pt x="866947" y="0"/>
                    <a:pt x="909852" y="42904"/>
                    <a:pt x="909852" y="95830"/>
                  </a:cubicBezTo>
                  <a:lnTo>
                    <a:pt x="909852" y="95830"/>
                  </a:lnTo>
                  <a:cubicBezTo>
                    <a:pt x="909852" y="121245"/>
                    <a:pt x="899755" y="145620"/>
                    <a:pt x="881784" y="163591"/>
                  </a:cubicBezTo>
                  <a:cubicBezTo>
                    <a:pt x="863812" y="181563"/>
                    <a:pt x="839438" y="191659"/>
                    <a:pt x="814022" y="191659"/>
                  </a:cubicBezTo>
                  <a:lnTo>
                    <a:pt x="95830" y="191659"/>
                  </a:lnTo>
                  <a:cubicBezTo>
                    <a:pt x="42904" y="191659"/>
                    <a:pt x="0" y="148755"/>
                    <a:pt x="0" y="95830"/>
                  </a:cubicBezTo>
                  <a:lnTo>
                    <a:pt x="0" y="95830"/>
                  </a:lnTo>
                  <a:cubicBezTo>
                    <a:pt x="0" y="42904"/>
                    <a:pt x="42904" y="0"/>
                    <a:pt x="95830" y="0"/>
                  </a:cubicBezTo>
                  <a:close/>
                </a:path>
              </a:pathLst>
            </a:custGeom>
            <a:solidFill>
              <a:srgbClr val="3777F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909852" cy="229759"/>
            </a:xfrm>
            <a:prstGeom prst="rect">
              <a:avLst/>
            </a:prstGeom>
          </p:spPr>
          <p:txBody>
            <a:bodyPr anchor="ctr" rtlCol="false" tIns="27952" lIns="27952" bIns="27952" rIns="27952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616647" y="7421749"/>
            <a:ext cx="181511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b="true" sz="2000" spc="-118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Saída: Diego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568510" y="368840"/>
            <a:ext cx="15150979" cy="129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813" i="true" spc="-70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LISTAS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75180" y="62601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142063" y="1846815"/>
            <a:ext cx="1200387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 spc="-17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Acessando dados da lista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94815" y="2480917"/>
            <a:ext cx="7501105" cy="1245203"/>
            <a:chOff x="0" y="0"/>
            <a:chExt cx="1975600" cy="32795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75600" cy="327955"/>
            </a:xfrm>
            <a:custGeom>
              <a:avLst/>
              <a:gdLst/>
              <a:ahLst/>
              <a:cxnLst/>
              <a:rect r="r" b="b" t="t" l="l"/>
              <a:pathLst>
                <a:path h="327955" w="1975600">
                  <a:moveTo>
                    <a:pt x="52637" y="0"/>
                  </a:moveTo>
                  <a:lnTo>
                    <a:pt x="1922962" y="0"/>
                  </a:lnTo>
                  <a:cubicBezTo>
                    <a:pt x="1952033" y="0"/>
                    <a:pt x="1975600" y="23567"/>
                    <a:pt x="1975600" y="52637"/>
                  </a:cubicBezTo>
                  <a:lnTo>
                    <a:pt x="1975600" y="275317"/>
                  </a:lnTo>
                  <a:cubicBezTo>
                    <a:pt x="1975600" y="289278"/>
                    <a:pt x="1970054" y="302666"/>
                    <a:pt x="1960183" y="312538"/>
                  </a:cubicBezTo>
                  <a:cubicBezTo>
                    <a:pt x="1950311" y="322409"/>
                    <a:pt x="1936923" y="327955"/>
                    <a:pt x="1922962" y="327955"/>
                  </a:cubicBezTo>
                  <a:lnTo>
                    <a:pt x="52637" y="327955"/>
                  </a:lnTo>
                  <a:cubicBezTo>
                    <a:pt x="38677" y="327955"/>
                    <a:pt x="25289" y="322409"/>
                    <a:pt x="15417" y="312538"/>
                  </a:cubicBezTo>
                  <a:cubicBezTo>
                    <a:pt x="5546" y="302666"/>
                    <a:pt x="0" y="289278"/>
                    <a:pt x="0" y="275317"/>
                  </a:cubicBezTo>
                  <a:lnTo>
                    <a:pt x="0" y="52637"/>
                  </a:lnTo>
                  <a:cubicBezTo>
                    <a:pt x="0" y="38677"/>
                    <a:pt x="5546" y="25289"/>
                    <a:pt x="15417" y="15417"/>
                  </a:cubicBezTo>
                  <a:cubicBezTo>
                    <a:pt x="25289" y="5546"/>
                    <a:pt x="38677" y="0"/>
                    <a:pt x="52637" y="0"/>
                  </a:cubicBezTo>
                  <a:close/>
                </a:path>
              </a:pathLst>
            </a:custGeom>
            <a:solidFill>
              <a:srgbClr val="F7AC1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975600" cy="3660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19711" y="2639441"/>
            <a:ext cx="7138109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 spc="-177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Podemos também acessar a lista de trás pra frente: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303965" y="3706241"/>
            <a:ext cx="3163517" cy="811283"/>
            <a:chOff x="0" y="0"/>
            <a:chExt cx="1029232" cy="26394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29232" cy="263946"/>
            </a:xfrm>
            <a:custGeom>
              <a:avLst/>
              <a:gdLst/>
              <a:ahLst/>
              <a:cxnLst/>
              <a:rect r="r" b="b" t="t" l="l"/>
              <a:pathLst>
                <a:path h="263946" w="1029232">
                  <a:moveTo>
                    <a:pt x="124810" y="0"/>
                  </a:moveTo>
                  <a:lnTo>
                    <a:pt x="904423" y="0"/>
                  </a:lnTo>
                  <a:cubicBezTo>
                    <a:pt x="973353" y="0"/>
                    <a:pt x="1029232" y="55879"/>
                    <a:pt x="1029232" y="124810"/>
                  </a:cubicBezTo>
                  <a:lnTo>
                    <a:pt x="1029232" y="139136"/>
                  </a:lnTo>
                  <a:cubicBezTo>
                    <a:pt x="1029232" y="172238"/>
                    <a:pt x="1016083" y="203984"/>
                    <a:pt x="992677" y="227390"/>
                  </a:cubicBezTo>
                  <a:cubicBezTo>
                    <a:pt x="969270" y="250797"/>
                    <a:pt x="937524" y="263946"/>
                    <a:pt x="904423" y="263946"/>
                  </a:cubicBezTo>
                  <a:lnTo>
                    <a:pt x="124810" y="263946"/>
                  </a:lnTo>
                  <a:cubicBezTo>
                    <a:pt x="91708" y="263946"/>
                    <a:pt x="59962" y="250797"/>
                    <a:pt x="36556" y="227390"/>
                  </a:cubicBezTo>
                  <a:cubicBezTo>
                    <a:pt x="13150" y="203984"/>
                    <a:pt x="0" y="172238"/>
                    <a:pt x="0" y="139136"/>
                  </a:cubicBezTo>
                  <a:lnTo>
                    <a:pt x="0" y="124810"/>
                  </a:lnTo>
                  <a:cubicBezTo>
                    <a:pt x="0" y="55879"/>
                    <a:pt x="55879" y="0"/>
                    <a:pt x="124810" y="0"/>
                  </a:cubicBezTo>
                  <a:close/>
                </a:path>
              </a:pathLst>
            </a:custGeom>
            <a:solidFill>
              <a:srgbClr val="38383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029232" cy="302046"/>
            </a:xfrm>
            <a:prstGeom prst="rect">
              <a:avLst/>
            </a:prstGeom>
          </p:spPr>
          <p:txBody>
            <a:bodyPr anchor="ctr" rtlCol="false" tIns="62302" lIns="62302" bIns="62302" rIns="62302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594502" y="3926145"/>
            <a:ext cx="3963323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print(Lista[-1])</a:t>
            </a:r>
          </a:p>
        </p:txBody>
      </p:sp>
      <p:sp>
        <p:nvSpPr>
          <p:cNvPr name="Freeform 16" id="16"/>
          <p:cNvSpPr/>
          <p:nvPr/>
        </p:nvSpPr>
        <p:spPr>
          <a:xfrm flipH="false" flipV="true" rot="0">
            <a:off x="754420" y="4439998"/>
            <a:ext cx="489055" cy="500953"/>
          </a:xfrm>
          <a:custGeom>
            <a:avLst/>
            <a:gdLst/>
            <a:ahLst/>
            <a:cxnLst/>
            <a:rect r="r" b="b" t="t" l="l"/>
            <a:pathLst>
              <a:path h="500953" w="489055">
                <a:moveTo>
                  <a:pt x="0" y="500952"/>
                </a:moveTo>
                <a:lnTo>
                  <a:pt x="489055" y="500952"/>
                </a:lnTo>
                <a:lnTo>
                  <a:pt x="489055" y="0"/>
                </a:lnTo>
                <a:lnTo>
                  <a:pt x="0" y="0"/>
                </a:lnTo>
                <a:lnTo>
                  <a:pt x="0" y="50095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365382" y="4566110"/>
            <a:ext cx="2102100" cy="400414"/>
            <a:chOff x="0" y="0"/>
            <a:chExt cx="1006177" cy="19165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06177" cy="191659"/>
            </a:xfrm>
            <a:custGeom>
              <a:avLst/>
              <a:gdLst/>
              <a:ahLst/>
              <a:cxnLst/>
              <a:rect r="r" b="b" t="t" l="l"/>
              <a:pathLst>
                <a:path h="191659" w="1006177">
                  <a:moveTo>
                    <a:pt x="95830" y="0"/>
                  </a:moveTo>
                  <a:lnTo>
                    <a:pt x="910347" y="0"/>
                  </a:lnTo>
                  <a:cubicBezTo>
                    <a:pt x="963272" y="0"/>
                    <a:pt x="1006177" y="42904"/>
                    <a:pt x="1006177" y="95830"/>
                  </a:cubicBezTo>
                  <a:lnTo>
                    <a:pt x="1006177" y="95830"/>
                  </a:lnTo>
                  <a:cubicBezTo>
                    <a:pt x="1006177" y="148755"/>
                    <a:pt x="963272" y="191659"/>
                    <a:pt x="910347" y="191659"/>
                  </a:cubicBezTo>
                  <a:lnTo>
                    <a:pt x="95830" y="191659"/>
                  </a:lnTo>
                  <a:cubicBezTo>
                    <a:pt x="42904" y="191659"/>
                    <a:pt x="0" y="148755"/>
                    <a:pt x="0" y="95830"/>
                  </a:cubicBezTo>
                  <a:lnTo>
                    <a:pt x="0" y="95830"/>
                  </a:lnTo>
                  <a:cubicBezTo>
                    <a:pt x="0" y="42904"/>
                    <a:pt x="42904" y="0"/>
                    <a:pt x="95830" y="0"/>
                  </a:cubicBezTo>
                  <a:close/>
                </a:path>
              </a:pathLst>
            </a:custGeom>
            <a:solidFill>
              <a:srgbClr val="3777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006177" cy="229759"/>
            </a:xfrm>
            <a:prstGeom prst="rect">
              <a:avLst/>
            </a:prstGeom>
          </p:spPr>
          <p:txBody>
            <a:bodyPr anchor="ctr" rtlCol="false" tIns="27952" lIns="27952" bIns="27952" rIns="27952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499873" y="4613917"/>
            <a:ext cx="2258253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b="true" sz="2000" spc="-118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Saída: Felipe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294815" y="5221714"/>
            <a:ext cx="6596401" cy="947114"/>
            <a:chOff x="0" y="0"/>
            <a:chExt cx="1737324" cy="24944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737324" cy="249446"/>
            </a:xfrm>
            <a:custGeom>
              <a:avLst/>
              <a:gdLst/>
              <a:ahLst/>
              <a:cxnLst/>
              <a:rect r="r" b="b" t="t" l="l"/>
              <a:pathLst>
                <a:path h="249446" w="1737324">
                  <a:moveTo>
                    <a:pt x="59857" y="0"/>
                  </a:moveTo>
                  <a:lnTo>
                    <a:pt x="1677467" y="0"/>
                  </a:lnTo>
                  <a:cubicBezTo>
                    <a:pt x="1710525" y="0"/>
                    <a:pt x="1737324" y="26799"/>
                    <a:pt x="1737324" y="59857"/>
                  </a:cubicBezTo>
                  <a:lnTo>
                    <a:pt x="1737324" y="189589"/>
                  </a:lnTo>
                  <a:cubicBezTo>
                    <a:pt x="1737324" y="205464"/>
                    <a:pt x="1731017" y="220689"/>
                    <a:pt x="1719792" y="231914"/>
                  </a:cubicBezTo>
                  <a:cubicBezTo>
                    <a:pt x="1708567" y="243139"/>
                    <a:pt x="1693342" y="249446"/>
                    <a:pt x="1677467" y="249446"/>
                  </a:cubicBezTo>
                  <a:lnTo>
                    <a:pt x="59857" y="249446"/>
                  </a:lnTo>
                  <a:cubicBezTo>
                    <a:pt x="26799" y="249446"/>
                    <a:pt x="0" y="222647"/>
                    <a:pt x="0" y="189589"/>
                  </a:cubicBezTo>
                  <a:lnTo>
                    <a:pt x="0" y="59857"/>
                  </a:lnTo>
                  <a:cubicBezTo>
                    <a:pt x="0" y="26799"/>
                    <a:pt x="26799" y="0"/>
                    <a:pt x="59857" y="0"/>
                  </a:cubicBezTo>
                  <a:close/>
                </a:path>
              </a:pathLst>
            </a:custGeom>
            <a:solidFill>
              <a:srgbClr val="F7AC16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737324" cy="2875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657811" y="5440968"/>
            <a:ext cx="6563604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 spc="-177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Para alterar um nome fazemos: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294815" y="6168829"/>
            <a:ext cx="4019524" cy="1637255"/>
            <a:chOff x="0" y="0"/>
            <a:chExt cx="1307729" cy="53267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07729" cy="532672"/>
            </a:xfrm>
            <a:custGeom>
              <a:avLst/>
              <a:gdLst/>
              <a:ahLst/>
              <a:cxnLst/>
              <a:rect r="r" b="b" t="t" l="l"/>
              <a:pathLst>
                <a:path h="532672" w="1307729">
                  <a:moveTo>
                    <a:pt x="98230" y="0"/>
                  </a:moveTo>
                  <a:lnTo>
                    <a:pt x="1209499" y="0"/>
                  </a:lnTo>
                  <a:cubicBezTo>
                    <a:pt x="1235552" y="0"/>
                    <a:pt x="1260537" y="10349"/>
                    <a:pt x="1278959" y="28771"/>
                  </a:cubicBezTo>
                  <a:cubicBezTo>
                    <a:pt x="1297380" y="47193"/>
                    <a:pt x="1307729" y="72178"/>
                    <a:pt x="1307729" y="98230"/>
                  </a:cubicBezTo>
                  <a:lnTo>
                    <a:pt x="1307729" y="434442"/>
                  </a:lnTo>
                  <a:cubicBezTo>
                    <a:pt x="1307729" y="460494"/>
                    <a:pt x="1297380" y="485479"/>
                    <a:pt x="1278959" y="503901"/>
                  </a:cubicBezTo>
                  <a:cubicBezTo>
                    <a:pt x="1260537" y="522322"/>
                    <a:pt x="1235552" y="532672"/>
                    <a:pt x="1209499" y="532672"/>
                  </a:cubicBezTo>
                  <a:lnTo>
                    <a:pt x="98230" y="532672"/>
                  </a:lnTo>
                  <a:cubicBezTo>
                    <a:pt x="43979" y="532672"/>
                    <a:pt x="0" y="488692"/>
                    <a:pt x="0" y="434442"/>
                  </a:cubicBezTo>
                  <a:lnTo>
                    <a:pt x="0" y="98230"/>
                  </a:lnTo>
                  <a:cubicBezTo>
                    <a:pt x="0" y="72178"/>
                    <a:pt x="10349" y="47193"/>
                    <a:pt x="28771" y="28771"/>
                  </a:cubicBezTo>
                  <a:cubicBezTo>
                    <a:pt x="47193" y="10349"/>
                    <a:pt x="72178" y="0"/>
                    <a:pt x="98230" y="0"/>
                  </a:cubicBezTo>
                  <a:close/>
                </a:path>
              </a:pathLst>
            </a:custGeom>
            <a:solidFill>
              <a:srgbClr val="383838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307729" cy="570771"/>
            </a:xfrm>
            <a:prstGeom prst="rect">
              <a:avLst/>
            </a:prstGeom>
          </p:spPr>
          <p:txBody>
            <a:bodyPr anchor="ctr" rtlCol="false" tIns="62302" lIns="62302" bIns="62302" rIns="62302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585353" y="6388733"/>
            <a:ext cx="3963323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spc="-147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print(Lista[2])</a:t>
            </a:r>
          </a:p>
          <a:p>
            <a:pPr algn="l">
              <a:lnSpc>
                <a:spcPts val="2999"/>
              </a:lnSpc>
            </a:pPr>
            <a:r>
              <a:rPr lang="en-US" sz="2499" spc="-147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Lista[2] = “Rodrigo”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print(Lista[2])</a:t>
            </a:r>
          </a:p>
        </p:txBody>
      </p:sp>
      <p:sp>
        <p:nvSpPr>
          <p:cNvPr name="Freeform 29" id="29"/>
          <p:cNvSpPr/>
          <p:nvPr/>
        </p:nvSpPr>
        <p:spPr>
          <a:xfrm flipH="false" flipV="true" rot="0">
            <a:off x="952627" y="7716781"/>
            <a:ext cx="489055" cy="500953"/>
          </a:xfrm>
          <a:custGeom>
            <a:avLst/>
            <a:gdLst/>
            <a:ahLst/>
            <a:cxnLst/>
            <a:rect r="r" b="b" t="t" l="l"/>
            <a:pathLst>
              <a:path h="500953" w="489055">
                <a:moveTo>
                  <a:pt x="0" y="500953"/>
                </a:moveTo>
                <a:lnTo>
                  <a:pt x="489055" y="500953"/>
                </a:lnTo>
                <a:lnTo>
                  <a:pt x="489055" y="0"/>
                </a:lnTo>
                <a:lnTo>
                  <a:pt x="0" y="0"/>
                </a:lnTo>
                <a:lnTo>
                  <a:pt x="0" y="50095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1563589" y="7842894"/>
            <a:ext cx="2324242" cy="663725"/>
            <a:chOff x="0" y="0"/>
            <a:chExt cx="1112506" cy="31769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12506" cy="317694"/>
            </a:xfrm>
            <a:custGeom>
              <a:avLst/>
              <a:gdLst/>
              <a:ahLst/>
              <a:cxnLst/>
              <a:rect r="r" b="b" t="t" l="l"/>
              <a:pathLst>
                <a:path h="317694" w="1112506">
                  <a:moveTo>
                    <a:pt x="158847" y="0"/>
                  </a:moveTo>
                  <a:lnTo>
                    <a:pt x="953659" y="0"/>
                  </a:lnTo>
                  <a:cubicBezTo>
                    <a:pt x="995788" y="0"/>
                    <a:pt x="1036191" y="16736"/>
                    <a:pt x="1065981" y="46525"/>
                  </a:cubicBezTo>
                  <a:cubicBezTo>
                    <a:pt x="1095770" y="76315"/>
                    <a:pt x="1112506" y="116718"/>
                    <a:pt x="1112506" y="158847"/>
                  </a:cubicBezTo>
                  <a:lnTo>
                    <a:pt x="1112506" y="158847"/>
                  </a:lnTo>
                  <a:cubicBezTo>
                    <a:pt x="1112506" y="200976"/>
                    <a:pt x="1095770" y="241379"/>
                    <a:pt x="1065981" y="271169"/>
                  </a:cubicBezTo>
                  <a:cubicBezTo>
                    <a:pt x="1036191" y="300958"/>
                    <a:pt x="995788" y="317694"/>
                    <a:pt x="953659" y="317694"/>
                  </a:cubicBezTo>
                  <a:lnTo>
                    <a:pt x="158847" y="317694"/>
                  </a:lnTo>
                  <a:cubicBezTo>
                    <a:pt x="116718" y="317694"/>
                    <a:pt x="76315" y="300958"/>
                    <a:pt x="46525" y="271169"/>
                  </a:cubicBezTo>
                  <a:cubicBezTo>
                    <a:pt x="16736" y="241379"/>
                    <a:pt x="0" y="200976"/>
                    <a:pt x="0" y="158847"/>
                  </a:cubicBezTo>
                  <a:lnTo>
                    <a:pt x="0" y="158847"/>
                  </a:lnTo>
                  <a:cubicBezTo>
                    <a:pt x="0" y="116718"/>
                    <a:pt x="16736" y="76315"/>
                    <a:pt x="46525" y="46525"/>
                  </a:cubicBezTo>
                  <a:cubicBezTo>
                    <a:pt x="76315" y="16736"/>
                    <a:pt x="116718" y="0"/>
                    <a:pt x="158847" y="0"/>
                  </a:cubicBezTo>
                  <a:close/>
                </a:path>
              </a:pathLst>
            </a:custGeom>
            <a:solidFill>
              <a:srgbClr val="3777F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112506" cy="355794"/>
            </a:xfrm>
            <a:prstGeom prst="rect">
              <a:avLst/>
            </a:prstGeom>
          </p:spPr>
          <p:txBody>
            <a:bodyPr anchor="ctr" rtlCol="false" tIns="27952" lIns="27952" bIns="27952" rIns="27952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698080" y="7869957"/>
            <a:ext cx="2258253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spc="-118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Saída: Carla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b="true" sz="2000" spc="-118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    Rodrigo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8969326" y="2480917"/>
            <a:ext cx="7482254" cy="2065020"/>
            <a:chOff x="0" y="0"/>
            <a:chExt cx="9976338" cy="2753360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0" y="0"/>
              <a:ext cx="9756332" cy="1262819"/>
              <a:chOff x="0" y="0"/>
              <a:chExt cx="1927177" cy="249446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927177" cy="249446"/>
              </a:xfrm>
              <a:custGeom>
                <a:avLst/>
                <a:gdLst/>
                <a:ahLst/>
                <a:cxnLst/>
                <a:rect r="r" b="b" t="t" l="l"/>
                <a:pathLst>
                  <a:path h="249446" w="1927177">
                    <a:moveTo>
                      <a:pt x="53960" y="0"/>
                    </a:moveTo>
                    <a:lnTo>
                      <a:pt x="1873217" y="0"/>
                    </a:lnTo>
                    <a:cubicBezTo>
                      <a:pt x="1887528" y="0"/>
                      <a:pt x="1901253" y="5685"/>
                      <a:pt x="1911372" y="15804"/>
                    </a:cubicBezTo>
                    <a:cubicBezTo>
                      <a:pt x="1921492" y="25924"/>
                      <a:pt x="1927177" y="39649"/>
                      <a:pt x="1927177" y="53960"/>
                    </a:cubicBezTo>
                    <a:lnTo>
                      <a:pt x="1927177" y="195486"/>
                    </a:lnTo>
                    <a:cubicBezTo>
                      <a:pt x="1927177" y="209797"/>
                      <a:pt x="1921492" y="223522"/>
                      <a:pt x="1911372" y="233641"/>
                    </a:cubicBezTo>
                    <a:cubicBezTo>
                      <a:pt x="1901253" y="243761"/>
                      <a:pt x="1887528" y="249446"/>
                      <a:pt x="1873217" y="249446"/>
                    </a:cubicBezTo>
                    <a:lnTo>
                      <a:pt x="53960" y="249446"/>
                    </a:lnTo>
                    <a:cubicBezTo>
                      <a:pt x="39649" y="249446"/>
                      <a:pt x="25924" y="243761"/>
                      <a:pt x="15804" y="233641"/>
                    </a:cubicBezTo>
                    <a:cubicBezTo>
                      <a:pt x="5685" y="223522"/>
                      <a:pt x="0" y="209797"/>
                      <a:pt x="0" y="195486"/>
                    </a:cubicBezTo>
                    <a:lnTo>
                      <a:pt x="0" y="53960"/>
                    </a:lnTo>
                    <a:cubicBezTo>
                      <a:pt x="0" y="39649"/>
                      <a:pt x="5685" y="25924"/>
                      <a:pt x="15804" y="15804"/>
                    </a:cubicBezTo>
                    <a:cubicBezTo>
                      <a:pt x="25924" y="5685"/>
                      <a:pt x="39649" y="0"/>
                      <a:pt x="53960" y="0"/>
                    </a:cubicBezTo>
                    <a:close/>
                  </a:path>
                </a:pathLst>
              </a:custGeom>
              <a:solidFill>
                <a:srgbClr val="F7AC16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38100"/>
                <a:ext cx="1927177" cy="28754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8" id="38"/>
            <p:cNvSpPr txBox="true"/>
            <p:nvPr/>
          </p:nvSpPr>
          <p:spPr>
            <a:xfrm rot="0">
              <a:off x="483995" y="295513"/>
              <a:ext cx="9492344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17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Para saber quantos elementos há:</a:t>
              </a:r>
            </a:p>
          </p:txBody>
        </p:sp>
        <p:grpSp>
          <p:nvGrpSpPr>
            <p:cNvPr name="Group 39" id="39"/>
            <p:cNvGrpSpPr/>
            <p:nvPr/>
          </p:nvGrpSpPr>
          <p:grpSpPr>
            <a:xfrm rot="0">
              <a:off x="0" y="1262819"/>
              <a:ext cx="5359366" cy="1036155"/>
              <a:chOff x="0" y="0"/>
              <a:chExt cx="1307729" cy="25283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1307729" cy="252830"/>
              </a:xfrm>
              <a:custGeom>
                <a:avLst/>
                <a:gdLst/>
                <a:ahLst/>
                <a:cxnLst/>
                <a:rect r="r" b="b" t="t" l="l"/>
                <a:pathLst>
                  <a:path h="252830" w="1307729">
                    <a:moveTo>
                      <a:pt x="98230" y="0"/>
                    </a:moveTo>
                    <a:lnTo>
                      <a:pt x="1209499" y="0"/>
                    </a:lnTo>
                    <a:cubicBezTo>
                      <a:pt x="1235552" y="0"/>
                      <a:pt x="1260537" y="10349"/>
                      <a:pt x="1278959" y="28771"/>
                    </a:cubicBezTo>
                    <a:cubicBezTo>
                      <a:pt x="1297380" y="47193"/>
                      <a:pt x="1307729" y="72178"/>
                      <a:pt x="1307729" y="98230"/>
                    </a:cubicBezTo>
                    <a:lnTo>
                      <a:pt x="1307729" y="154600"/>
                    </a:lnTo>
                    <a:cubicBezTo>
                      <a:pt x="1307729" y="180653"/>
                      <a:pt x="1297380" y="205638"/>
                      <a:pt x="1278959" y="224060"/>
                    </a:cubicBezTo>
                    <a:cubicBezTo>
                      <a:pt x="1260537" y="242481"/>
                      <a:pt x="1235552" y="252830"/>
                      <a:pt x="1209499" y="252830"/>
                    </a:cubicBezTo>
                    <a:lnTo>
                      <a:pt x="98230" y="252830"/>
                    </a:lnTo>
                    <a:cubicBezTo>
                      <a:pt x="72178" y="252830"/>
                      <a:pt x="47193" y="242481"/>
                      <a:pt x="28771" y="224060"/>
                    </a:cubicBezTo>
                    <a:cubicBezTo>
                      <a:pt x="10349" y="205638"/>
                      <a:pt x="0" y="180653"/>
                      <a:pt x="0" y="154600"/>
                    </a:cubicBezTo>
                    <a:lnTo>
                      <a:pt x="0" y="98230"/>
                    </a:lnTo>
                    <a:cubicBezTo>
                      <a:pt x="0" y="72178"/>
                      <a:pt x="10349" y="47193"/>
                      <a:pt x="28771" y="28771"/>
                    </a:cubicBezTo>
                    <a:cubicBezTo>
                      <a:pt x="47193" y="10349"/>
                      <a:pt x="72178" y="0"/>
                      <a:pt x="98230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38100"/>
                <a:ext cx="1307729" cy="290930"/>
              </a:xfrm>
              <a:prstGeom prst="rect">
                <a:avLst/>
              </a:prstGeom>
            </p:spPr>
            <p:txBody>
              <a:bodyPr anchor="ctr" rtlCol="false" tIns="62302" lIns="62302" bIns="62302" rIns="62302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42" id="42"/>
            <p:cNvSpPr txBox="true"/>
            <p:nvPr/>
          </p:nvSpPr>
          <p:spPr>
            <a:xfrm rot="0">
              <a:off x="387384" y="1556024"/>
              <a:ext cx="5284430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len(Lista)</a:t>
              </a:r>
            </a:p>
          </p:txBody>
        </p:sp>
        <p:sp>
          <p:nvSpPr>
            <p:cNvPr name="Freeform 43" id="43"/>
            <p:cNvSpPr/>
            <p:nvPr/>
          </p:nvSpPr>
          <p:spPr>
            <a:xfrm flipH="false" flipV="true" rot="0">
              <a:off x="483995" y="2051324"/>
              <a:ext cx="652073" cy="667937"/>
            </a:xfrm>
            <a:custGeom>
              <a:avLst/>
              <a:gdLst/>
              <a:ahLst/>
              <a:cxnLst/>
              <a:rect r="r" b="b" t="t" l="l"/>
              <a:pathLst>
                <a:path h="667937" w="652073">
                  <a:moveTo>
                    <a:pt x="0" y="667937"/>
                  </a:moveTo>
                  <a:lnTo>
                    <a:pt x="652073" y="667937"/>
                  </a:lnTo>
                  <a:lnTo>
                    <a:pt x="652073" y="0"/>
                  </a:lnTo>
                  <a:lnTo>
                    <a:pt x="0" y="0"/>
                  </a:lnTo>
                  <a:lnTo>
                    <a:pt x="0" y="667937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44" id="44"/>
            <p:cNvGrpSpPr/>
            <p:nvPr/>
          </p:nvGrpSpPr>
          <p:grpSpPr>
            <a:xfrm rot="0">
              <a:off x="1298611" y="2219475"/>
              <a:ext cx="1921763" cy="533885"/>
              <a:chOff x="0" y="0"/>
              <a:chExt cx="689893" cy="191659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689893" cy="191659"/>
              </a:xfrm>
              <a:custGeom>
                <a:avLst/>
                <a:gdLst/>
                <a:ahLst/>
                <a:cxnLst/>
                <a:rect r="r" b="b" t="t" l="l"/>
                <a:pathLst>
                  <a:path h="191659" w="689893">
                    <a:moveTo>
                      <a:pt x="95830" y="0"/>
                    </a:moveTo>
                    <a:lnTo>
                      <a:pt x="594064" y="0"/>
                    </a:lnTo>
                    <a:cubicBezTo>
                      <a:pt x="619479" y="0"/>
                      <a:pt x="643854" y="10096"/>
                      <a:pt x="661826" y="28068"/>
                    </a:cubicBezTo>
                    <a:cubicBezTo>
                      <a:pt x="679797" y="46039"/>
                      <a:pt x="689893" y="70414"/>
                      <a:pt x="689893" y="95830"/>
                    </a:cubicBezTo>
                    <a:lnTo>
                      <a:pt x="689893" y="95830"/>
                    </a:lnTo>
                    <a:cubicBezTo>
                      <a:pt x="689893" y="148755"/>
                      <a:pt x="646989" y="191659"/>
                      <a:pt x="594064" y="191659"/>
                    </a:cubicBezTo>
                    <a:lnTo>
                      <a:pt x="95830" y="191659"/>
                    </a:lnTo>
                    <a:cubicBezTo>
                      <a:pt x="42904" y="191659"/>
                      <a:pt x="0" y="148755"/>
                      <a:pt x="0" y="95830"/>
                    </a:cubicBezTo>
                    <a:lnTo>
                      <a:pt x="0" y="95830"/>
                    </a:lnTo>
                    <a:cubicBezTo>
                      <a:pt x="0" y="42904"/>
                      <a:pt x="42904" y="0"/>
                      <a:pt x="95830" y="0"/>
                    </a:cubicBezTo>
                    <a:close/>
                  </a:path>
                </a:pathLst>
              </a:custGeom>
              <a:solidFill>
                <a:srgbClr val="3777FF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38100"/>
                <a:ext cx="689893" cy="229759"/>
              </a:xfrm>
              <a:prstGeom prst="rect">
                <a:avLst/>
              </a:prstGeom>
            </p:spPr>
            <p:txBody>
              <a:bodyPr anchor="ctr" rtlCol="false" tIns="27952" lIns="27952" bIns="27952" rIns="27952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47" id="47"/>
            <p:cNvSpPr txBox="true"/>
            <p:nvPr/>
          </p:nvSpPr>
          <p:spPr>
            <a:xfrm rot="0">
              <a:off x="1477932" y="2283217"/>
              <a:ext cx="3011003" cy="40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 spc="-118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Saída: 6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1568510" y="368840"/>
            <a:ext cx="15150979" cy="129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813" i="true" spc="-70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LISTAS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8969326" y="5221714"/>
            <a:ext cx="9023859" cy="2118554"/>
            <a:chOff x="0" y="0"/>
            <a:chExt cx="12031812" cy="2824739"/>
          </a:xfrm>
        </p:grpSpPr>
        <p:grpSp>
          <p:nvGrpSpPr>
            <p:cNvPr name="Group 50" id="50"/>
            <p:cNvGrpSpPr/>
            <p:nvPr/>
          </p:nvGrpSpPr>
          <p:grpSpPr>
            <a:xfrm rot="0">
              <a:off x="0" y="0"/>
              <a:ext cx="12031812" cy="1262819"/>
              <a:chOff x="0" y="0"/>
              <a:chExt cx="2376654" cy="249446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2376654" cy="249446"/>
              </a:xfrm>
              <a:custGeom>
                <a:avLst/>
                <a:gdLst/>
                <a:ahLst/>
                <a:cxnLst/>
                <a:rect r="r" b="b" t="t" l="l"/>
                <a:pathLst>
                  <a:path h="249446" w="2376654">
                    <a:moveTo>
                      <a:pt x="43755" y="0"/>
                    </a:moveTo>
                    <a:lnTo>
                      <a:pt x="2332899" y="0"/>
                    </a:lnTo>
                    <a:cubicBezTo>
                      <a:pt x="2344504" y="0"/>
                      <a:pt x="2355633" y="4610"/>
                      <a:pt x="2363839" y="12816"/>
                    </a:cubicBezTo>
                    <a:cubicBezTo>
                      <a:pt x="2372044" y="21021"/>
                      <a:pt x="2376654" y="32150"/>
                      <a:pt x="2376654" y="43755"/>
                    </a:cubicBezTo>
                    <a:lnTo>
                      <a:pt x="2376654" y="205691"/>
                    </a:lnTo>
                    <a:cubicBezTo>
                      <a:pt x="2376654" y="217295"/>
                      <a:pt x="2372044" y="228425"/>
                      <a:pt x="2363839" y="236630"/>
                    </a:cubicBezTo>
                    <a:cubicBezTo>
                      <a:pt x="2355633" y="244836"/>
                      <a:pt x="2344504" y="249446"/>
                      <a:pt x="2332899" y="249446"/>
                    </a:cubicBezTo>
                    <a:lnTo>
                      <a:pt x="43755" y="249446"/>
                    </a:lnTo>
                    <a:cubicBezTo>
                      <a:pt x="19590" y="249446"/>
                      <a:pt x="0" y="229856"/>
                      <a:pt x="0" y="205691"/>
                    </a:cubicBezTo>
                    <a:lnTo>
                      <a:pt x="0" y="43755"/>
                    </a:lnTo>
                    <a:cubicBezTo>
                      <a:pt x="0" y="19590"/>
                      <a:pt x="19590" y="0"/>
                      <a:pt x="43755" y="0"/>
                    </a:cubicBezTo>
                    <a:close/>
                  </a:path>
                </a:pathLst>
              </a:custGeom>
              <a:solidFill>
                <a:srgbClr val="F7AC16"/>
              </a:solidFill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-38100"/>
                <a:ext cx="2376654" cy="28754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53" id="53"/>
            <p:cNvSpPr txBox="true"/>
            <p:nvPr/>
          </p:nvSpPr>
          <p:spPr>
            <a:xfrm rot="0">
              <a:off x="483995" y="295513"/>
              <a:ext cx="11547817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17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Para somar todos os numeros de uma lista:</a:t>
              </a:r>
            </a:p>
          </p:txBody>
        </p:sp>
        <p:grpSp>
          <p:nvGrpSpPr>
            <p:cNvPr name="Group 54" id="54"/>
            <p:cNvGrpSpPr/>
            <p:nvPr/>
          </p:nvGrpSpPr>
          <p:grpSpPr>
            <a:xfrm rot="0">
              <a:off x="0" y="1262819"/>
              <a:ext cx="5359366" cy="1036155"/>
              <a:chOff x="0" y="0"/>
              <a:chExt cx="1307729" cy="252830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1307729" cy="252830"/>
              </a:xfrm>
              <a:custGeom>
                <a:avLst/>
                <a:gdLst/>
                <a:ahLst/>
                <a:cxnLst/>
                <a:rect r="r" b="b" t="t" l="l"/>
                <a:pathLst>
                  <a:path h="252830" w="1307729">
                    <a:moveTo>
                      <a:pt x="98230" y="0"/>
                    </a:moveTo>
                    <a:lnTo>
                      <a:pt x="1209499" y="0"/>
                    </a:lnTo>
                    <a:cubicBezTo>
                      <a:pt x="1235552" y="0"/>
                      <a:pt x="1260537" y="10349"/>
                      <a:pt x="1278959" y="28771"/>
                    </a:cubicBezTo>
                    <a:cubicBezTo>
                      <a:pt x="1297380" y="47193"/>
                      <a:pt x="1307729" y="72178"/>
                      <a:pt x="1307729" y="98230"/>
                    </a:cubicBezTo>
                    <a:lnTo>
                      <a:pt x="1307729" y="154600"/>
                    </a:lnTo>
                    <a:cubicBezTo>
                      <a:pt x="1307729" y="180653"/>
                      <a:pt x="1297380" y="205638"/>
                      <a:pt x="1278959" y="224060"/>
                    </a:cubicBezTo>
                    <a:cubicBezTo>
                      <a:pt x="1260537" y="242481"/>
                      <a:pt x="1235552" y="252830"/>
                      <a:pt x="1209499" y="252830"/>
                    </a:cubicBezTo>
                    <a:lnTo>
                      <a:pt x="98230" y="252830"/>
                    </a:lnTo>
                    <a:cubicBezTo>
                      <a:pt x="72178" y="252830"/>
                      <a:pt x="47193" y="242481"/>
                      <a:pt x="28771" y="224060"/>
                    </a:cubicBezTo>
                    <a:cubicBezTo>
                      <a:pt x="10349" y="205638"/>
                      <a:pt x="0" y="180653"/>
                      <a:pt x="0" y="154600"/>
                    </a:cubicBezTo>
                    <a:lnTo>
                      <a:pt x="0" y="98230"/>
                    </a:lnTo>
                    <a:cubicBezTo>
                      <a:pt x="0" y="72178"/>
                      <a:pt x="10349" y="47193"/>
                      <a:pt x="28771" y="28771"/>
                    </a:cubicBezTo>
                    <a:cubicBezTo>
                      <a:pt x="47193" y="10349"/>
                      <a:pt x="72178" y="0"/>
                      <a:pt x="98230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-38100"/>
                <a:ext cx="1307729" cy="290930"/>
              </a:xfrm>
              <a:prstGeom prst="rect">
                <a:avLst/>
              </a:prstGeom>
            </p:spPr>
            <p:txBody>
              <a:bodyPr anchor="ctr" rtlCol="false" tIns="62302" lIns="62302" bIns="62302" rIns="62302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57" id="57"/>
            <p:cNvSpPr txBox="true"/>
            <p:nvPr/>
          </p:nvSpPr>
          <p:spPr>
            <a:xfrm rot="0">
              <a:off x="387384" y="1556024"/>
              <a:ext cx="5284430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sum(Numeros)</a:t>
              </a:r>
            </a:p>
          </p:txBody>
        </p:sp>
        <p:sp>
          <p:nvSpPr>
            <p:cNvPr name="Freeform 58" id="58"/>
            <p:cNvSpPr/>
            <p:nvPr/>
          </p:nvSpPr>
          <p:spPr>
            <a:xfrm flipH="false" flipV="true" rot="0">
              <a:off x="387384" y="2122704"/>
              <a:ext cx="652073" cy="667937"/>
            </a:xfrm>
            <a:custGeom>
              <a:avLst/>
              <a:gdLst/>
              <a:ahLst/>
              <a:cxnLst/>
              <a:rect r="r" b="b" t="t" l="l"/>
              <a:pathLst>
                <a:path h="667937" w="652073">
                  <a:moveTo>
                    <a:pt x="0" y="667937"/>
                  </a:moveTo>
                  <a:lnTo>
                    <a:pt x="652073" y="667937"/>
                  </a:lnTo>
                  <a:lnTo>
                    <a:pt x="652073" y="0"/>
                  </a:lnTo>
                  <a:lnTo>
                    <a:pt x="0" y="0"/>
                  </a:lnTo>
                  <a:lnTo>
                    <a:pt x="0" y="667937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59" id="59"/>
            <p:cNvGrpSpPr/>
            <p:nvPr/>
          </p:nvGrpSpPr>
          <p:grpSpPr>
            <a:xfrm rot="0">
              <a:off x="1202000" y="2290854"/>
              <a:ext cx="2282187" cy="533885"/>
              <a:chOff x="0" y="0"/>
              <a:chExt cx="819282" cy="191659"/>
            </a:xfrm>
          </p:grpSpPr>
          <p:sp>
            <p:nvSpPr>
              <p:cNvPr name="Freeform 60" id="60"/>
              <p:cNvSpPr/>
              <p:nvPr/>
            </p:nvSpPr>
            <p:spPr>
              <a:xfrm flipH="false" flipV="false" rot="0">
                <a:off x="0" y="0"/>
                <a:ext cx="819282" cy="191659"/>
              </a:xfrm>
              <a:custGeom>
                <a:avLst/>
                <a:gdLst/>
                <a:ahLst/>
                <a:cxnLst/>
                <a:rect r="r" b="b" t="t" l="l"/>
                <a:pathLst>
                  <a:path h="191659" w="819282">
                    <a:moveTo>
                      <a:pt x="95830" y="0"/>
                    </a:moveTo>
                    <a:lnTo>
                      <a:pt x="723452" y="0"/>
                    </a:lnTo>
                    <a:cubicBezTo>
                      <a:pt x="748868" y="0"/>
                      <a:pt x="773243" y="10096"/>
                      <a:pt x="791214" y="28068"/>
                    </a:cubicBezTo>
                    <a:cubicBezTo>
                      <a:pt x="809186" y="46039"/>
                      <a:pt x="819282" y="70414"/>
                      <a:pt x="819282" y="95830"/>
                    </a:cubicBezTo>
                    <a:lnTo>
                      <a:pt x="819282" y="95830"/>
                    </a:lnTo>
                    <a:cubicBezTo>
                      <a:pt x="819282" y="148755"/>
                      <a:pt x="776378" y="191659"/>
                      <a:pt x="723452" y="191659"/>
                    </a:cubicBezTo>
                    <a:lnTo>
                      <a:pt x="95830" y="191659"/>
                    </a:lnTo>
                    <a:cubicBezTo>
                      <a:pt x="42904" y="191659"/>
                      <a:pt x="0" y="148755"/>
                      <a:pt x="0" y="95830"/>
                    </a:cubicBezTo>
                    <a:lnTo>
                      <a:pt x="0" y="95830"/>
                    </a:lnTo>
                    <a:cubicBezTo>
                      <a:pt x="0" y="42904"/>
                      <a:pt x="42904" y="0"/>
                      <a:pt x="95830" y="0"/>
                    </a:cubicBezTo>
                    <a:close/>
                  </a:path>
                </a:pathLst>
              </a:custGeom>
              <a:solidFill>
                <a:srgbClr val="3777FF"/>
              </a:solidFill>
            </p:spPr>
          </p:sp>
          <p:sp>
            <p:nvSpPr>
              <p:cNvPr name="TextBox 61" id="61"/>
              <p:cNvSpPr txBox="true"/>
              <p:nvPr/>
            </p:nvSpPr>
            <p:spPr>
              <a:xfrm>
                <a:off x="0" y="-38100"/>
                <a:ext cx="819282" cy="229759"/>
              </a:xfrm>
              <a:prstGeom prst="rect">
                <a:avLst/>
              </a:prstGeom>
            </p:spPr>
            <p:txBody>
              <a:bodyPr anchor="ctr" rtlCol="false" tIns="27952" lIns="27952" bIns="27952" rIns="27952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62" id="62"/>
            <p:cNvSpPr txBox="true"/>
            <p:nvPr/>
          </p:nvSpPr>
          <p:spPr>
            <a:xfrm rot="0">
              <a:off x="1381321" y="2354597"/>
              <a:ext cx="3011003" cy="40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 spc="-118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Saída: 100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8969326" y="7806083"/>
            <a:ext cx="9023859" cy="947114"/>
            <a:chOff x="0" y="0"/>
            <a:chExt cx="2376654" cy="24944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376654" cy="249446"/>
            </a:xfrm>
            <a:custGeom>
              <a:avLst/>
              <a:gdLst/>
              <a:ahLst/>
              <a:cxnLst/>
              <a:rect r="r" b="b" t="t" l="l"/>
              <a:pathLst>
                <a:path h="249446" w="2376654">
                  <a:moveTo>
                    <a:pt x="43755" y="0"/>
                  </a:moveTo>
                  <a:lnTo>
                    <a:pt x="2332899" y="0"/>
                  </a:lnTo>
                  <a:cubicBezTo>
                    <a:pt x="2344504" y="0"/>
                    <a:pt x="2355633" y="4610"/>
                    <a:pt x="2363839" y="12816"/>
                  </a:cubicBezTo>
                  <a:cubicBezTo>
                    <a:pt x="2372044" y="21021"/>
                    <a:pt x="2376654" y="32150"/>
                    <a:pt x="2376654" y="43755"/>
                  </a:cubicBezTo>
                  <a:lnTo>
                    <a:pt x="2376654" y="205691"/>
                  </a:lnTo>
                  <a:cubicBezTo>
                    <a:pt x="2376654" y="217295"/>
                    <a:pt x="2372044" y="228425"/>
                    <a:pt x="2363839" y="236630"/>
                  </a:cubicBezTo>
                  <a:cubicBezTo>
                    <a:pt x="2355633" y="244836"/>
                    <a:pt x="2344504" y="249446"/>
                    <a:pt x="2332899" y="249446"/>
                  </a:cubicBezTo>
                  <a:lnTo>
                    <a:pt x="43755" y="249446"/>
                  </a:lnTo>
                  <a:cubicBezTo>
                    <a:pt x="19590" y="249446"/>
                    <a:pt x="0" y="229856"/>
                    <a:pt x="0" y="205691"/>
                  </a:cubicBezTo>
                  <a:lnTo>
                    <a:pt x="0" y="43755"/>
                  </a:lnTo>
                  <a:cubicBezTo>
                    <a:pt x="0" y="19590"/>
                    <a:pt x="19590" y="0"/>
                    <a:pt x="43755" y="0"/>
                  </a:cubicBezTo>
                  <a:close/>
                </a:path>
              </a:pathLst>
            </a:custGeom>
            <a:solidFill>
              <a:srgbClr val="F7AC16"/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2376654" cy="2875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6" id="66"/>
          <p:cNvSpPr txBox="true"/>
          <p:nvPr/>
        </p:nvSpPr>
        <p:spPr>
          <a:xfrm rot="0">
            <a:off x="9332322" y="8025337"/>
            <a:ext cx="866086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 spc="-177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Para adicionar um item na lista: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8969326" y="8753198"/>
            <a:ext cx="3466381" cy="777116"/>
            <a:chOff x="0" y="0"/>
            <a:chExt cx="1127768" cy="25283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127768" cy="252830"/>
            </a:xfrm>
            <a:custGeom>
              <a:avLst/>
              <a:gdLst/>
              <a:ahLst/>
              <a:cxnLst/>
              <a:rect r="r" b="b" t="t" l="l"/>
              <a:pathLst>
                <a:path h="252830" w="1127768">
                  <a:moveTo>
                    <a:pt x="113905" y="0"/>
                  </a:moveTo>
                  <a:lnTo>
                    <a:pt x="1013863" y="0"/>
                  </a:lnTo>
                  <a:cubicBezTo>
                    <a:pt x="1076771" y="0"/>
                    <a:pt x="1127768" y="50997"/>
                    <a:pt x="1127768" y="113905"/>
                  </a:cubicBezTo>
                  <a:lnTo>
                    <a:pt x="1127768" y="138925"/>
                  </a:lnTo>
                  <a:cubicBezTo>
                    <a:pt x="1127768" y="169135"/>
                    <a:pt x="1115767" y="198107"/>
                    <a:pt x="1094406" y="219468"/>
                  </a:cubicBezTo>
                  <a:cubicBezTo>
                    <a:pt x="1073044" y="240830"/>
                    <a:pt x="1044072" y="252830"/>
                    <a:pt x="1013863" y="252830"/>
                  </a:cubicBezTo>
                  <a:lnTo>
                    <a:pt x="113905" y="252830"/>
                  </a:lnTo>
                  <a:cubicBezTo>
                    <a:pt x="83695" y="252830"/>
                    <a:pt x="54723" y="240830"/>
                    <a:pt x="33362" y="219468"/>
                  </a:cubicBezTo>
                  <a:cubicBezTo>
                    <a:pt x="12001" y="198107"/>
                    <a:pt x="0" y="169135"/>
                    <a:pt x="0" y="138925"/>
                  </a:cubicBezTo>
                  <a:lnTo>
                    <a:pt x="0" y="113905"/>
                  </a:lnTo>
                  <a:cubicBezTo>
                    <a:pt x="0" y="83695"/>
                    <a:pt x="12001" y="54723"/>
                    <a:pt x="33362" y="33362"/>
                  </a:cubicBezTo>
                  <a:cubicBezTo>
                    <a:pt x="54723" y="12001"/>
                    <a:pt x="83695" y="0"/>
                    <a:pt x="113905" y="0"/>
                  </a:cubicBezTo>
                  <a:close/>
                </a:path>
              </a:pathLst>
            </a:custGeom>
            <a:solidFill>
              <a:srgbClr val="383838"/>
            </a:solid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1127768" cy="290930"/>
            </a:xfrm>
            <a:prstGeom prst="rect">
              <a:avLst/>
            </a:prstGeom>
          </p:spPr>
          <p:txBody>
            <a:bodyPr anchor="ctr" rtlCol="false" tIns="62302" lIns="62302" bIns="62302" rIns="62302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0" id="70"/>
          <p:cNvSpPr txBox="true"/>
          <p:nvPr/>
        </p:nvSpPr>
        <p:spPr>
          <a:xfrm rot="0">
            <a:off x="9144000" y="8953223"/>
            <a:ext cx="329170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Numeros.append(50)</a:t>
            </a:r>
          </a:p>
        </p:txBody>
      </p:sp>
      <p:sp>
        <p:nvSpPr>
          <p:cNvPr name="Freeform 71" id="71"/>
          <p:cNvSpPr/>
          <p:nvPr/>
        </p:nvSpPr>
        <p:spPr>
          <a:xfrm flipH="false" flipV="true" rot="0">
            <a:off x="9259864" y="9398111"/>
            <a:ext cx="489055" cy="500953"/>
          </a:xfrm>
          <a:custGeom>
            <a:avLst/>
            <a:gdLst/>
            <a:ahLst/>
            <a:cxnLst/>
            <a:rect r="r" b="b" t="t" l="l"/>
            <a:pathLst>
              <a:path h="500953" w="489055">
                <a:moveTo>
                  <a:pt x="0" y="500953"/>
                </a:moveTo>
                <a:lnTo>
                  <a:pt x="489055" y="500953"/>
                </a:lnTo>
                <a:lnTo>
                  <a:pt x="489055" y="0"/>
                </a:lnTo>
                <a:lnTo>
                  <a:pt x="0" y="0"/>
                </a:lnTo>
                <a:lnTo>
                  <a:pt x="0" y="50095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2" id="72"/>
          <p:cNvGrpSpPr/>
          <p:nvPr/>
        </p:nvGrpSpPr>
        <p:grpSpPr>
          <a:xfrm rot="0">
            <a:off x="9882409" y="9567201"/>
            <a:ext cx="4737164" cy="431302"/>
            <a:chOff x="0" y="0"/>
            <a:chExt cx="2267459" cy="206444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267459" cy="206444"/>
            </a:xfrm>
            <a:custGeom>
              <a:avLst/>
              <a:gdLst/>
              <a:ahLst/>
              <a:cxnLst/>
              <a:rect r="r" b="b" t="t" l="l"/>
              <a:pathLst>
                <a:path h="206444" w="2267459">
                  <a:moveTo>
                    <a:pt x="83349" y="0"/>
                  </a:moveTo>
                  <a:lnTo>
                    <a:pt x="2184110" y="0"/>
                  </a:lnTo>
                  <a:cubicBezTo>
                    <a:pt x="2230142" y="0"/>
                    <a:pt x="2267459" y="37317"/>
                    <a:pt x="2267459" y="83349"/>
                  </a:cubicBezTo>
                  <a:lnTo>
                    <a:pt x="2267459" y="123095"/>
                  </a:lnTo>
                  <a:cubicBezTo>
                    <a:pt x="2267459" y="145200"/>
                    <a:pt x="2258677" y="166401"/>
                    <a:pt x="2243046" y="182032"/>
                  </a:cubicBezTo>
                  <a:cubicBezTo>
                    <a:pt x="2227415" y="197663"/>
                    <a:pt x="2206215" y="206444"/>
                    <a:pt x="2184110" y="206444"/>
                  </a:cubicBezTo>
                  <a:lnTo>
                    <a:pt x="83349" y="206444"/>
                  </a:lnTo>
                  <a:cubicBezTo>
                    <a:pt x="37317" y="206444"/>
                    <a:pt x="0" y="169127"/>
                    <a:pt x="0" y="123095"/>
                  </a:cubicBezTo>
                  <a:lnTo>
                    <a:pt x="0" y="83349"/>
                  </a:lnTo>
                  <a:cubicBezTo>
                    <a:pt x="0" y="37317"/>
                    <a:pt x="37317" y="0"/>
                    <a:pt x="83349" y="0"/>
                  </a:cubicBezTo>
                  <a:close/>
                </a:path>
              </a:pathLst>
            </a:custGeom>
            <a:solidFill>
              <a:srgbClr val="3777FF"/>
            </a:solid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2267459" cy="244544"/>
            </a:xfrm>
            <a:prstGeom prst="rect">
              <a:avLst/>
            </a:prstGeom>
          </p:spPr>
          <p:txBody>
            <a:bodyPr anchor="ctr" rtlCol="false" tIns="27952" lIns="27952" bIns="27952" rIns="27952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75" id="75"/>
          <p:cNvSpPr txBox="true"/>
          <p:nvPr/>
        </p:nvSpPr>
        <p:spPr>
          <a:xfrm rot="0">
            <a:off x="10057320" y="9641364"/>
            <a:ext cx="4413854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b="true" sz="2000" spc="-118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Numeros =  [10, 20, 30, 40, 50]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75180" y="62601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568510" y="368840"/>
            <a:ext cx="15150979" cy="129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813" i="true" spc="-70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EXERCÍCIO 1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80753" y="2720722"/>
            <a:ext cx="9801598" cy="3330975"/>
            <a:chOff x="0" y="0"/>
            <a:chExt cx="13068797" cy="44413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3068797" cy="4441300"/>
              <a:chOff x="0" y="0"/>
              <a:chExt cx="2581491" cy="877294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581491" cy="877294"/>
              </a:xfrm>
              <a:custGeom>
                <a:avLst/>
                <a:gdLst/>
                <a:ahLst/>
                <a:cxnLst/>
                <a:rect r="r" b="b" t="t" l="l"/>
                <a:pathLst>
                  <a:path h="877294" w="2581491">
                    <a:moveTo>
                      <a:pt x="40283" y="0"/>
                    </a:moveTo>
                    <a:lnTo>
                      <a:pt x="2541208" y="0"/>
                    </a:lnTo>
                    <a:cubicBezTo>
                      <a:pt x="2563456" y="0"/>
                      <a:pt x="2581491" y="18035"/>
                      <a:pt x="2581491" y="40283"/>
                    </a:cubicBezTo>
                    <a:lnTo>
                      <a:pt x="2581491" y="837011"/>
                    </a:lnTo>
                    <a:cubicBezTo>
                      <a:pt x="2581491" y="859259"/>
                      <a:pt x="2563456" y="877294"/>
                      <a:pt x="2541208" y="877294"/>
                    </a:cubicBezTo>
                    <a:lnTo>
                      <a:pt x="40283" y="877294"/>
                    </a:lnTo>
                    <a:cubicBezTo>
                      <a:pt x="18035" y="877294"/>
                      <a:pt x="0" y="859259"/>
                      <a:pt x="0" y="837011"/>
                    </a:cubicBezTo>
                    <a:lnTo>
                      <a:pt x="0" y="40283"/>
                    </a:lnTo>
                    <a:cubicBezTo>
                      <a:pt x="0" y="18035"/>
                      <a:pt x="18035" y="0"/>
                      <a:pt x="40283" y="0"/>
                    </a:cubicBezTo>
                    <a:close/>
                  </a:path>
                </a:pathLst>
              </a:custGeom>
              <a:solidFill>
                <a:srgbClr val="F7AC16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2581491" cy="91539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213807" y="337593"/>
              <a:ext cx="12366132" cy="3667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 spc="-17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Crie um programa que pergunta ao usuário a nota de 4 p</a:t>
              </a:r>
              <a:r>
                <a:rPr lang="en-US" b="true" sz="3000" spc="-17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rovas (bimestres).O programa deve retornar:</a:t>
              </a:r>
            </a:p>
            <a:p>
              <a:pPr algn="l" marL="647700" indent="-323850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 spc="-17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A média final do aluno;</a:t>
              </a:r>
            </a:p>
            <a:p>
              <a:pPr algn="l" marL="647700" indent="-323850" lvl="1">
                <a:lnSpc>
                  <a:spcPts val="36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3000" spc="-17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O valor da nota mais baixa.</a:t>
              </a:r>
            </a:p>
            <a:p>
              <a:pPr algn="just">
                <a:lnSpc>
                  <a:spcPts val="36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954525" y="6853967"/>
            <a:ext cx="3949948" cy="1249235"/>
            <a:chOff x="0" y="0"/>
            <a:chExt cx="1040315" cy="32901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40315" cy="329017"/>
            </a:xfrm>
            <a:custGeom>
              <a:avLst/>
              <a:gdLst/>
              <a:ahLst/>
              <a:cxnLst/>
              <a:rect r="r" b="b" t="t" l="l"/>
              <a:pathLst>
                <a:path h="329017" w="1040315">
                  <a:moveTo>
                    <a:pt x="99960" y="0"/>
                  </a:moveTo>
                  <a:lnTo>
                    <a:pt x="940355" y="0"/>
                  </a:lnTo>
                  <a:cubicBezTo>
                    <a:pt x="966866" y="0"/>
                    <a:pt x="992291" y="10532"/>
                    <a:pt x="1011038" y="29278"/>
                  </a:cubicBezTo>
                  <a:cubicBezTo>
                    <a:pt x="1029784" y="48024"/>
                    <a:pt x="1040315" y="73449"/>
                    <a:pt x="1040315" y="99960"/>
                  </a:cubicBezTo>
                  <a:lnTo>
                    <a:pt x="1040315" y="229056"/>
                  </a:lnTo>
                  <a:cubicBezTo>
                    <a:pt x="1040315" y="255567"/>
                    <a:pt x="1029784" y="280993"/>
                    <a:pt x="1011038" y="299739"/>
                  </a:cubicBezTo>
                  <a:cubicBezTo>
                    <a:pt x="992291" y="318485"/>
                    <a:pt x="966866" y="329017"/>
                    <a:pt x="940355" y="329017"/>
                  </a:cubicBezTo>
                  <a:lnTo>
                    <a:pt x="99960" y="329017"/>
                  </a:lnTo>
                  <a:cubicBezTo>
                    <a:pt x="73449" y="329017"/>
                    <a:pt x="48024" y="318485"/>
                    <a:pt x="29278" y="299739"/>
                  </a:cubicBezTo>
                  <a:cubicBezTo>
                    <a:pt x="10532" y="280993"/>
                    <a:pt x="0" y="255567"/>
                    <a:pt x="0" y="229056"/>
                  </a:cubicBezTo>
                  <a:lnTo>
                    <a:pt x="0" y="99960"/>
                  </a:lnTo>
                  <a:cubicBezTo>
                    <a:pt x="0" y="73449"/>
                    <a:pt x="10532" y="48024"/>
                    <a:pt x="29278" y="29278"/>
                  </a:cubicBezTo>
                  <a:cubicBezTo>
                    <a:pt x="48024" y="10532"/>
                    <a:pt x="73449" y="0"/>
                    <a:pt x="99960" y="0"/>
                  </a:cubicBezTo>
                  <a:close/>
                </a:path>
              </a:pathLst>
            </a:custGeom>
            <a:solidFill>
              <a:srgbClr val="F7AC16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040315" cy="3290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4191713" y="6864540"/>
            <a:ext cx="3475572" cy="1170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0"/>
              </a:lnSpc>
            </a:pPr>
            <a:r>
              <a:rPr lang="en-US" sz="3400" b="tru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UTILIZE WHILE</a:t>
            </a:r>
          </a:p>
          <a:p>
            <a:pPr algn="l">
              <a:lnSpc>
                <a:spcPts val="4760"/>
              </a:lnSpc>
              <a:spcBef>
                <a:spcPct val="0"/>
              </a:spcBef>
            </a:pPr>
            <a:r>
              <a:rPr lang="en-US" b="true" sz="3400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E FOR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161954" y="3423376"/>
            <a:ext cx="3481352" cy="3021917"/>
            <a:chOff x="0" y="0"/>
            <a:chExt cx="1030412" cy="89442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30412" cy="894428"/>
            </a:xfrm>
            <a:custGeom>
              <a:avLst/>
              <a:gdLst/>
              <a:ahLst/>
              <a:cxnLst/>
              <a:rect r="r" b="b" t="t" l="l"/>
              <a:pathLst>
                <a:path h="894428" w="1030412">
                  <a:moveTo>
                    <a:pt x="113415" y="0"/>
                  </a:moveTo>
                  <a:lnTo>
                    <a:pt x="916997" y="0"/>
                  </a:lnTo>
                  <a:cubicBezTo>
                    <a:pt x="979634" y="0"/>
                    <a:pt x="1030412" y="50778"/>
                    <a:pt x="1030412" y="113415"/>
                  </a:cubicBezTo>
                  <a:lnTo>
                    <a:pt x="1030412" y="781013"/>
                  </a:lnTo>
                  <a:cubicBezTo>
                    <a:pt x="1030412" y="843650"/>
                    <a:pt x="979634" y="894428"/>
                    <a:pt x="916997" y="894428"/>
                  </a:cubicBezTo>
                  <a:lnTo>
                    <a:pt x="113415" y="894428"/>
                  </a:lnTo>
                  <a:cubicBezTo>
                    <a:pt x="50778" y="894428"/>
                    <a:pt x="0" y="843650"/>
                    <a:pt x="0" y="781013"/>
                  </a:cubicBezTo>
                  <a:lnTo>
                    <a:pt x="0" y="113415"/>
                  </a:lnTo>
                  <a:cubicBezTo>
                    <a:pt x="0" y="50778"/>
                    <a:pt x="50778" y="0"/>
                    <a:pt x="113415" y="0"/>
                  </a:cubicBezTo>
                  <a:close/>
                </a:path>
              </a:pathLst>
            </a:custGeom>
            <a:solidFill>
              <a:srgbClr val="387EB8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030412" cy="8944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296570" y="3131817"/>
            <a:ext cx="2299229" cy="583116"/>
            <a:chOff x="0" y="0"/>
            <a:chExt cx="3065639" cy="777489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3065639" cy="777489"/>
              <a:chOff x="0" y="0"/>
              <a:chExt cx="768414" cy="19488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768414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768414">
                    <a:moveTo>
                      <a:pt x="97440" y="0"/>
                    </a:moveTo>
                    <a:lnTo>
                      <a:pt x="670974" y="0"/>
                    </a:lnTo>
                    <a:cubicBezTo>
                      <a:pt x="696816" y="0"/>
                      <a:pt x="721601" y="10266"/>
                      <a:pt x="739874" y="28540"/>
                    </a:cubicBezTo>
                    <a:cubicBezTo>
                      <a:pt x="758148" y="46813"/>
                      <a:pt x="768414" y="71597"/>
                      <a:pt x="768414" y="97440"/>
                    </a:cubicBezTo>
                    <a:lnTo>
                      <a:pt x="768414" y="97440"/>
                    </a:lnTo>
                    <a:cubicBezTo>
                      <a:pt x="768414" y="123283"/>
                      <a:pt x="758148" y="148067"/>
                      <a:pt x="739874" y="166341"/>
                    </a:cubicBezTo>
                    <a:cubicBezTo>
                      <a:pt x="721601" y="184614"/>
                      <a:pt x="696816" y="194880"/>
                      <a:pt x="670974" y="194880"/>
                    </a:cubicBezTo>
                    <a:lnTo>
                      <a:pt x="97440" y="194880"/>
                    </a:lnTo>
                    <a:cubicBezTo>
                      <a:pt x="71597" y="194880"/>
                      <a:pt x="46813" y="184614"/>
                      <a:pt x="28540" y="166341"/>
                    </a:cubicBezTo>
                    <a:cubicBezTo>
                      <a:pt x="10266" y="148067"/>
                      <a:pt x="0" y="123283"/>
                      <a:pt x="0" y="97440"/>
                    </a:cubicBezTo>
                    <a:lnTo>
                      <a:pt x="0" y="97440"/>
                    </a:lnTo>
                    <a:cubicBezTo>
                      <a:pt x="0" y="71597"/>
                      <a:pt x="10266" y="46813"/>
                      <a:pt x="28540" y="28540"/>
                    </a:cubicBezTo>
                    <a:cubicBezTo>
                      <a:pt x="46813" y="10266"/>
                      <a:pt x="71597" y="0"/>
                      <a:pt x="97440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768414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138384" y="159772"/>
              <a:ext cx="2658167" cy="4407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69"/>
                </a:lnSpc>
                <a:spcBef>
                  <a:spcPct val="0"/>
                </a:spcBef>
              </a:pPr>
              <a:r>
                <a:rPr lang="en-US" b="true" sz="2224" spc="-131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Entrada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1970930" y="3880165"/>
            <a:ext cx="3863400" cy="2051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7"/>
              </a:lnSpc>
              <a:spcBef>
                <a:spcPct val="0"/>
              </a:spcBef>
            </a:pPr>
            <a:r>
              <a:rPr lang="en-US" b="true" sz="2962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Nota 1: 7.5</a:t>
            </a:r>
          </a:p>
          <a:p>
            <a:pPr algn="ctr">
              <a:lnSpc>
                <a:spcPts val="4147"/>
              </a:lnSpc>
              <a:spcBef>
                <a:spcPct val="0"/>
              </a:spcBef>
            </a:pPr>
            <a:r>
              <a:rPr lang="en-US" b="true" sz="2962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Nota 2: 9.0 </a:t>
            </a:r>
          </a:p>
          <a:p>
            <a:pPr algn="ctr">
              <a:lnSpc>
                <a:spcPts val="4147"/>
              </a:lnSpc>
              <a:spcBef>
                <a:spcPct val="0"/>
              </a:spcBef>
            </a:pPr>
            <a:r>
              <a:rPr lang="en-US" b="true" sz="2962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Nota 3: 6.0 </a:t>
            </a:r>
          </a:p>
          <a:p>
            <a:pPr algn="ctr">
              <a:lnSpc>
                <a:spcPts val="4147"/>
              </a:lnSpc>
              <a:spcBef>
                <a:spcPct val="0"/>
              </a:spcBef>
            </a:pPr>
            <a:r>
              <a:rPr lang="en-US" b="true" sz="2962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Nota 4: 8.0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830298" y="7014277"/>
            <a:ext cx="6144665" cy="1632423"/>
            <a:chOff x="0" y="0"/>
            <a:chExt cx="1618348" cy="4299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618348" cy="429938"/>
            </a:xfrm>
            <a:custGeom>
              <a:avLst/>
              <a:gdLst/>
              <a:ahLst/>
              <a:cxnLst/>
              <a:rect r="r" b="b" t="t" l="l"/>
              <a:pathLst>
                <a:path h="429938" w="1618348">
                  <a:moveTo>
                    <a:pt x="64257" y="0"/>
                  </a:moveTo>
                  <a:lnTo>
                    <a:pt x="1554091" y="0"/>
                  </a:lnTo>
                  <a:cubicBezTo>
                    <a:pt x="1571133" y="0"/>
                    <a:pt x="1587477" y="6770"/>
                    <a:pt x="1599527" y="18820"/>
                  </a:cubicBezTo>
                  <a:cubicBezTo>
                    <a:pt x="1611578" y="30871"/>
                    <a:pt x="1618348" y="47215"/>
                    <a:pt x="1618348" y="64257"/>
                  </a:cubicBezTo>
                  <a:lnTo>
                    <a:pt x="1618348" y="365681"/>
                  </a:lnTo>
                  <a:cubicBezTo>
                    <a:pt x="1618348" y="401170"/>
                    <a:pt x="1589579" y="429938"/>
                    <a:pt x="1554091" y="429938"/>
                  </a:cubicBezTo>
                  <a:lnTo>
                    <a:pt x="64257" y="429938"/>
                  </a:lnTo>
                  <a:cubicBezTo>
                    <a:pt x="47215" y="429938"/>
                    <a:pt x="30871" y="423169"/>
                    <a:pt x="18820" y="411118"/>
                  </a:cubicBezTo>
                  <a:cubicBezTo>
                    <a:pt x="6770" y="399068"/>
                    <a:pt x="0" y="382723"/>
                    <a:pt x="0" y="365681"/>
                  </a:cubicBezTo>
                  <a:lnTo>
                    <a:pt x="0" y="64257"/>
                  </a:lnTo>
                  <a:cubicBezTo>
                    <a:pt x="0" y="47215"/>
                    <a:pt x="6770" y="30871"/>
                    <a:pt x="18820" y="18820"/>
                  </a:cubicBezTo>
                  <a:cubicBezTo>
                    <a:pt x="30871" y="6770"/>
                    <a:pt x="47215" y="0"/>
                    <a:pt x="64257" y="0"/>
                  </a:cubicBezTo>
                  <a:close/>
                </a:path>
              </a:pathLst>
            </a:custGeom>
            <a:solidFill>
              <a:srgbClr val="387EB8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1618348" cy="429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908885" y="6686623"/>
            <a:ext cx="2583875" cy="655307"/>
            <a:chOff x="0" y="0"/>
            <a:chExt cx="3445167" cy="873742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3445167" cy="873742"/>
              <a:chOff x="0" y="0"/>
              <a:chExt cx="768414" cy="19488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768414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768414">
                    <a:moveTo>
                      <a:pt x="97440" y="0"/>
                    </a:moveTo>
                    <a:lnTo>
                      <a:pt x="670974" y="0"/>
                    </a:lnTo>
                    <a:cubicBezTo>
                      <a:pt x="696816" y="0"/>
                      <a:pt x="721601" y="10266"/>
                      <a:pt x="739874" y="28540"/>
                    </a:cubicBezTo>
                    <a:cubicBezTo>
                      <a:pt x="758148" y="46813"/>
                      <a:pt x="768414" y="71597"/>
                      <a:pt x="768414" y="97440"/>
                    </a:cubicBezTo>
                    <a:lnTo>
                      <a:pt x="768414" y="97440"/>
                    </a:lnTo>
                    <a:cubicBezTo>
                      <a:pt x="768414" y="123283"/>
                      <a:pt x="758148" y="148067"/>
                      <a:pt x="739874" y="166341"/>
                    </a:cubicBezTo>
                    <a:cubicBezTo>
                      <a:pt x="721601" y="184614"/>
                      <a:pt x="696816" y="194880"/>
                      <a:pt x="670974" y="194880"/>
                    </a:cubicBezTo>
                    <a:lnTo>
                      <a:pt x="97440" y="194880"/>
                    </a:lnTo>
                    <a:cubicBezTo>
                      <a:pt x="71597" y="194880"/>
                      <a:pt x="46813" y="184614"/>
                      <a:pt x="28540" y="166341"/>
                    </a:cubicBezTo>
                    <a:cubicBezTo>
                      <a:pt x="10266" y="148067"/>
                      <a:pt x="0" y="123283"/>
                      <a:pt x="0" y="97440"/>
                    </a:cubicBezTo>
                    <a:lnTo>
                      <a:pt x="0" y="97440"/>
                    </a:lnTo>
                    <a:cubicBezTo>
                      <a:pt x="0" y="71597"/>
                      <a:pt x="10266" y="46813"/>
                      <a:pt x="28540" y="28540"/>
                    </a:cubicBezTo>
                    <a:cubicBezTo>
                      <a:pt x="46813" y="10266"/>
                      <a:pt x="71597" y="0"/>
                      <a:pt x="97440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38100"/>
                <a:ext cx="768414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155516" y="179552"/>
              <a:ext cx="2987250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Saída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1110482" y="7284780"/>
            <a:ext cx="6059457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spc="-188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Média Final: 7.625 </a:t>
            </a:r>
          </a:p>
          <a:p>
            <a:pPr algn="l">
              <a:lnSpc>
                <a:spcPts val="4480"/>
              </a:lnSpc>
            </a:pPr>
            <a:r>
              <a:rPr lang="en-US" sz="3200" spc="-188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Pior Nota: 6.0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144000" y="2096108"/>
            <a:ext cx="8643199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9"/>
              </a:lnSpc>
              <a:spcBef>
                <a:spcPct val="0"/>
              </a:spcBef>
            </a:pPr>
            <a:r>
              <a:rPr lang="en-US" b="true" sz="3099" spc="-182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Exemplo: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75180" y="62601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5918185" y="1660764"/>
            <a:ext cx="6451629" cy="8061068"/>
          </a:xfrm>
          <a:custGeom>
            <a:avLst/>
            <a:gdLst/>
            <a:ahLst/>
            <a:cxnLst/>
            <a:rect r="r" b="b" t="t" l="l"/>
            <a:pathLst>
              <a:path h="8061068" w="6451629">
                <a:moveTo>
                  <a:pt x="0" y="0"/>
                </a:moveTo>
                <a:lnTo>
                  <a:pt x="6451630" y="0"/>
                </a:lnTo>
                <a:lnTo>
                  <a:pt x="6451630" y="8061068"/>
                </a:lnTo>
                <a:lnTo>
                  <a:pt x="0" y="80610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68510" y="368840"/>
            <a:ext cx="15150979" cy="129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813" i="true" spc="-70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EXERCÍCIO 1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75180" y="62601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568510" y="368840"/>
            <a:ext cx="15150979" cy="129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813" i="true" spc="-70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EXERCÍCIO 2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8700" y="1853643"/>
            <a:ext cx="8088759" cy="5869825"/>
            <a:chOff x="0" y="0"/>
            <a:chExt cx="2130373" cy="15459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30373" cy="1545962"/>
            </a:xfrm>
            <a:custGeom>
              <a:avLst/>
              <a:gdLst/>
              <a:ahLst/>
              <a:cxnLst/>
              <a:rect r="r" b="b" t="t" l="l"/>
              <a:pathLst>
                <a:path h="1545962" w="2130373">
                  <a:moveTo>
                    <a:pt x="48813" y="0"/>
                  </a:moveTo>
                  <a:lnTo>
                    <a:pt x="2081560" y="0"/>
                  </a:lnTo>
                  <a:cubicBezTo>
                    <a:pt x="2094506" y="0"/>
                    <a:pt x="2106922" y="5143"/>
                    <a:pt x="2116076" y="14297"/>
                  </a:cubicBezTo>
                  <a:cubicBezTo>
                    <a:pt x="2125230" y="23451"/>
                    <a:pt x="2130373" y="35867"/>
                    <a:pt x="2130373" y="48813"/>
                  </a:cubicBezTo>
                  <a:lnTo>
                    <a:pt x="2130373" y="1497149"/>
                  </a:lnTo>
                  <a:cubicBezTo>
                    <a:pt x="2130373" y="1524108"/>
                    <a:pt x="2108518" y="1545962"/>
                    <a:pt x="2081560" y="1545962"/>
                  </a:cubicBezTo>
                  <a:lnTo>
                    <a:pt x="48813" y="1545962"/>
                  </a:lnTo>
                  <a:cubicBezTo>
                    <a:pt x="35867" y="1545962"/>
                    <a:pt x="23451" y="1540819"/>
                    <a:pt x="14297" y="1531665"/>
                  </a:cubicBezTo>
                  <a:cubicBezTo>
                    <a:pt x="5143" y="1522511"/>
                    <a:pt x="0" y="1510095"/>
                    <a:pt x="0" y="1497149"/>
                  </a:cubicBezTo>
                  <a:lnTo>
                    <a:pt x="0" y="48813"/>
                  </a:lnTo>
                  <a:cubicBezTo>
                    <a:pt x="0" y="21854"/>
                    <a:pt x="21854" y="0"/>
                    <a:pt x="48813" y="0"/>
                  </a:cubicBezTo>
                  <a:close/>
                </a:path>
              </a:pathLst>
            </a:custGeom>
            <a:solidFill>
              <a:srgbClr val="F7AC1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130373" cy="15459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186676" y="2019372"/>
            <a:ext cx="7643909" cy="5424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b="tru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Lucas está participando de um torneio de video game com várias rodadas, onde criou uma lista dos pontos que fez durante 3 rodadas, e agora quer atualizar esses resultados. Faça um programa que:</a:t>
            </a:r>
          </a:p>
          <a:p>
            <a:pPr algn="l" marL="604529" indent="-302265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Receba a lista de pontos</a:t>
            </a:r>
          </a:p>
          <a:p>
            <a:pPr algn="l" marL="604529" indent="-302265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Adicione um valor na lista, e mostre a lista final</a:t>
            </a:r>
          </a:p>
          <a:p>
            <a:pPr algn="l" marL="604529" indent="-302265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Some os pontos totais do torneio</a:t>
            </a:r>
          </a:p>
          <a:p>
            <a:pPr algn="l" marL="604529" indent="-302265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Conte quantas rodadas ele jogou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3200297" y="8082663"/>
            <a:ext cx="6175618" cy="1613566"/>
            <a:chOff x="0" y="0"/>
            <a:chExt cx="1626500" cy="4249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26500" cy="424972"/>
            </a:xfrm>
            <a:custGeom>
              <a:avLst/>
              <a:gdLst/>
              <a:ahLst/>
              <a:cxnLst/>
              <a:rect r="r" b="b" t="t" l="l"/>
              <a:pathLst>
                <a:path h="424972" w="1626500">
                  <a:moveTo>
                    <a:pt x="63935" y="0"/>
                  </a:moveTo>
                  <a:lnTo>
                    <a:pt x="1562565" y="0"/>
                  </a:lnTo>
                  <a:cubicBezTo>
                    <a:pt x="1579522" y="0"/>
                    <a:pt x="1595784" y="6736"/>
                    <a:pt x="1607774" y="18726"/>
                  </a:cubicBezTo>
                  <a:cubicBezTo>
                    <a:pt x="1619764" y="30716"/>
                    <a:pt x="1626500" y="46978"/>
                    <a:pt x="1626500" y="63935"/>
                  </a:cubicBezTo>
                  <a:lnTo>
                    <a:pt x="1626500" y="361037"/>
                  </a:lnTo>
                  <a:cubicBezTo>
                    <a:pt x="1626500" y="396347"/>
                    <a:pt x="1597875" y="424972"/>
                    <a:pt x="1562565" y="424972"/>
                  </a:cubicBezTo>
                  <a:lnTo>
                    <a:pt x="63935" y="424972"/>
                  </a:lnTo>
                  <a:cubicBezTo>
                    <a:pt x="28625" y="424972"/>
                    <a:pt x="0" y="396347"/>
                    <a:pt x="0" y="361037"/>
                  </a:cubicBezTo>
                  <a:lnTo>
                    <a:pt x="0" y="63935"/>
                  </a:lnTo>
                  <a:cubicBezTo>
                    <a:pt x="0" y="28625"/>
                    <a:pt x="28625" y="0"/>
                    <a:pt x="63935" y="0"/>
                  </a:cubicBezTo>
                  <a:close/>
                </a:path>
              </a:pathLst>
            </a:custGeom>
            <a:solidFill>
              <a:srgbClr val="F7AC1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626500" cy="4249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391372" y="8104467"/>
            <a:ext cx="5793468" cy="1363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8"/>
              </a:lnSpc>
            </a:pPr>
            <a:r>
              <a:rPr lang="en-US" sz="2584" b="tru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Use as funções de lista para as tarefas, e for para mostrar a lista final.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202845" y="2701038"/>
            <a:ext cx="4062665" cy="2610821"/>
            <a:chOff x="0" y="0"/>
            <a:chExt cx="1202469" cy="77275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02469" cy="772752"/>
            </a:xfrm>
            <a:custGeom>
              <a:avLst/>
              <a:gdLst/>
              <a:ahLst/>
              <a:cxnLst/>
              <a:rect r="r" b="b" t="t" l="l"/>
              <a:pathLst>
                <a:path h="772752" w="1202469">
                  <a:moveTo>
                    <a:pt x="97187" y="0"/>
                  </a:moveTo>
                  <a:lnTo>
                    <a:pt x="1105282" y="0"/>
                  </a:lnTo>
                  <a:cubicBezTo>
                    <a:pt x="1131058" y="0"/>
                    <a:pt x="1155778" y="10239"/>
                    <a:pt x="1174004" y="28465"/>
                  </a:cubicBezTo>
                  <a:cubicBezTo>
                    <a:pt x="1192230" y="46691"/>
                    <a:pt x="1202469" y="71411"/>
                    <a:pt x="1202469" y="97187"/>
                  </a:cubicBezTo>
                  <a:lnTo>
                    <a:pt x="1202469" y="675565"/>
                  </a:lnTo>
                  <a:cubicBezTo>
                    <a:pt x="1202469" y="729240"/>
                    <a:pt x="1158957" y="772752"/>
                    <a:pt x="1105282" y="772752"/>
                  </a:cubicBezTo>
                  <a:lnTo>
                    <a:pt x="97187" y="772752"/>
                  </a:lnTo>
                  <a:cubicBezTo>
                    <a:pt x="71411" y="772752"/>
                    <a:pt x="46691" y="762513"/>
                    <a:pt x="28465" y="744287"/>
                  </a:cubicBezTo>
                  <a:cubicBezTo>
                    <a:pt x="10239" y="726060"/>
                    <a:pt x="0" y="701341"/>
                    <a:pt x="0" y="675565"/>
                  </a:cubicBezTo>
                  <a:lnTo>
                    <a:pt x="0" y="97187"/>
                  </a:lnTo>
                  <a:cubicBezTo>
                    <a:pt x="0" y="71411"/>
                    <a:pt x="10239" y="46691"/>
                    <a:pt x="28465" y="28465"/>
                  </a:cubicBezTo>
                  <a:cubicBezTo>
                    <a:pt x="46691" y="10239"/>
                    <a:pt x="71411" y="0"/>
                    <a:pt x="97187" y="0"/>
                  </a:cubicBezTo>
                  <a:close/>
                </a:path>
              </a:pathLst>
            </a:custGeom>
            <a:solidFill>
              <a:srgbClr val="387EB8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1202469" cy="7727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727750" y="2409480"/>
            <a:ext cx="2299229" cy="583116"/>
            <a:chOff x="0" y="0"/>
            <a:chExt cx="3065639" cy="777489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3065639" cy="777489"/>
              <a:chOff x="0" y="0"/>
              <a:chExt cx="768414" cy="19488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768414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768414">
                    <a:moveTo>
                      <a:pt x="97440" y="0"/>
                    </a:moveTo>
                    <a:lnTo>
                      <a:pt x="670974" y="0"/>
                    </a:lnTo>
                    <a:cubicBezTo>
                      <a:pt x="696816" y="0"/>
                      <a:pt x="721601" y="10266"/>
                      <a:pt x="739874" y="28540"/>
                    </a:cubicBezTo>
                    <a:cubicBezTo>
                      <a:pt x="758148" y="46813"/>
                      <a:pt x="768414" y="71597"/>
                      <a:pt x="768414" y="97440"/>
                    </a:cubicBezTo>
                    <a:lnTo>
                      <a:pt x="768414" y="97440"/>
                    </a:lnTo>
                    <a:cubicBezTo>
                      <a:pt x="768414" y="123283"/>
                      <a:pt x="758148" y="148067"/>
                      <a:pt x="739874" y="166341"/>
                    </a:cubicBezTo>
                    <a:cubicBezTo>
                      <a:pt x="721601" y="184614"/>
                      <a:pt x="696816" y="194880"/>
                      <a:pt x="670974" y="194880"/>
                    </a:cubicBezTo>
                    <a:lnTo>
                      <a:pt x="97440" y="194880"/>
                    </a:lnTo>
                    <a:cubicBezTo>
                      <a:pt x="71597" y="194880"/>
                      <a:pt x="46813" y="184614"/>
                      <a:pt x="28540" y="166341"/>
                    </a:cubicBezTo>
                    <a:cubicBezTo>
                      <a:pt x="10266" y="148067"/>
                      <a:pt x="0" y="123283"/>
                      <a:pt x="0" y="97440"/>
                    </a:cubicBezTo>
                    <a:lnTo>
                      <a:pt x="0" y="97440"/>
                    </a:lnTo>
                    <a:cubicBezTo>
                      <a:pt x="0" y="71597"/>
                      <a:pt x="10266" y="46813"/>
                      <a:pt x="28540" y="28540"/>
                    </a:cubicBezTo>
                    <a:cubicBezTo>
                      <a:pt x="46813" y="10266"/>
                      <a:pt x="71597" y="0"/>
                      <a:pt x="97440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768414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138384" y="159772"/>
              <a:ext cx="2658167" cy="4407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69"/>
                </a:lnSpc>
                <a:spcBef>
                  <a:spcPct val="0"/>
                </a:spcBef>
              </a:pPr>
              <a:r>
                <a:rPr lang="en-US" b="true" sz="2224" spc="-131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Entrada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2302478" y="3012048"/>
            <a:ext cx="3863400" cy="2051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7"/>
              </a:lnSpc>
            </a:pPr>
            <a:r>
              <a:rPr lang="en-US" sz="2962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Rodada 1: 15.0</a:t>
            </a:r>
          </a:p>
          <a:p>
            <a:pPr algn="ctr">
              <a:lnSpc>
                <a:spcPts val="4147"/>
              </a:lnSpc>
            </a:pPr>
            <a:r>
              <a:rPr lang="en-US" sz="2962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Rodada 2: 20.5</a:t>
            </a:r>
          </a:p>
          <a:p>
            <a:pPr algn="ctr">
              <a:lnSpc>
                <a:spcPts val="4147"/>
              </a:lnSpc>
            </a:pPr>
            <a:r>
              <a:rPr lang="en-US" sz="2962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Rodada 3: 12.8</a:t>
            </a:r>
          </a:p>
          <a:p>
            <a:pPr algn="ctr">
              <a:lnSpc>
                <a:spcPts val="4147"/>
              </a:lnSpc>
              <a:spcBef>
                <a:spcPct val="0"/>
              </a:spcBef>
            </a:pPr>
            <a:r>
              <a:rPr lang="en-US" b="true" sz="2962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Novo valor: 18.2 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0606124" y="5715712"/>
            <a:ext cx="6956901" cy="4354140"/>
            <a:chOff x="0" y="0"/>
            <a:chExt cx="1832270" cy="114676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832270" cy="1146769"/>
            </a:xfrm>
            <a:custGeom>
              <a:avLst/>
              <a:gdLst/>
              <a:ahLst/>
              <a:cxnLst/>
              <a:rect r="r" b="b" t="t" l="l"/>
              <a:pathLst>
                <a:path h="1146769" w="1832270">
                  <a:moveTo>
                    <a:pt x="56755" y="0"/>
                  </a:moveTo>
                  <a:lnTo>
                    <a:pt x="1775515" y="0"/>
                  </a:lnTo>
                  <a:cubicBezTo>
                    <a:pt x="1790568" y="0"/>
                    <a:pt x="1805003" y="5980"/>
                    <a:pt x="1815647" y="16623"/>
                  </a:cubicBezTo>
                  <a:cubicBezTo>
                    <a:pt x="1826291" y="27267"/>
                    <a:pt x="1832270" y="41703"/>
                    <a:pt x="1832270" y="56755"/>
                  </a:cubicBezTo>
                  <a:lnTo>
                    <a:pt x="1832270" y="1090014"/>
                  </a:lnTo>
                  <a:cubicBezTo>
                    <a:pt x="1832270" y="1121359"/>
                    <a:pt x="1806860" y="1146769"/>
                    <a:pt x="1775515" y="1146769"/>
                  </a:cubicBezTo>
                  <a:lnTo>
                    <a:pt x="56755" y="1146769"/>
                  </a:lnTo>
                  <a:cubicBezTo>
                    <a:pt x="25410" y="1146769"/>
                    <a:pt x="0" y="1121359"/>
                    <a:pt x="0" y="1090014"/>
                  </a:cubicBezTo>
                  <a:lnTo>
                    <a:pt x="0" y="56755"/>
                  </a:lnTo>
                  <a:cubicBezTo>
                    <a:pt x="0" y="25410"/>
                    <a:pt x="25410" y="0"/>
                    <a:pt x="56755" y="0"/>
                  </a:cubicBezTo>
                  <a:close/>
                </a:path>
              </a:pathLst>
            </a:custGeom>
            <a:solidFill>
              <a:srgbClr val="387EB8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1832270" cy="11467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684711" y="5388059"/>
            <a:ext cx="2583875" cy="655307"/>
            <a:chOff x="0" y="0"/>
            <a:chExt cx="3445167" cy="873742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3445167" cy="873742"/>
              <a:chOff x="0" y="0"/>
              <a:chExt cx="768414" cy="19488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768414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768414">
                    <a:moveTo>
                      <a:pt x="97440" y="0"/>
                    </a:moveTo>
                    <a:lnTo>
                      <a:pt x="670974" y="0"/>
                    </a:lnTo>
                    <a:cubicBezTo>
                      <a:pt x="696816" y="0"/>
                      <a:pt x="721601" y="10266"/>
                      <a:pt x="739874" y="28540"/>
                    </a:cubicBezTo>
                    <a:cubicBezTo>
                      <a:pt x="758148" y="46813"/>
                      <a:pt x="768414" y="71597"/>
                      <a:pt x="768414" y="97440"/>
                    </a:cubicBezTo>
                    <a:lnTo>
                      <a:pt x="768414" y="97440"/>
                    </a:lnTo>
                    <a:cubicBezTo>
                      <a:pt x="768414" y="123283"/>
                      <a:pt x="758148" y="148067"/>
                      <a:pt x="739874" y="166341"/>
                    </a:cubicBezTo>
                    <a:cubicBezTo>
                      <a:pt x="721601" y="184614"/>
                      <a:pt x="696816" y="194880"/>
                      <a:pt x="670974" y="194880"/>
                    </a:cubicBezTo>
                    <a:lnTo>
                      <a:pt x="97440" y="194880"/>
                    </a:lnTo>
                    <a:cubicBezTo>
                      <a:pt x="71597" y="194880"/>
                      <a:pt x="46813" y="184614"/>
                      <a:pt x="28540" y="166341"/>
                    </a:cubicBezTo>
                    <a:cubicBezTo>
                      <a:pt x="10266" y="148067"/>
                      <a:pt x="0" y="123283"/>
                      <a:pt x="0" y="97440"/>
                    </a:cubicBezTo>
                    <a:lnTo>
                      <a:pt x="0" y="97440"/>
                    </a:lnTo>
                    <a:cubicBezTo>
                      <a:pt x="0" y="71597"/>
                      <a:pt x="10266" y="46813"/>
                      <a:pt x="28540" y="28540"/>
                    </a:cubicBezTo>
                    <a:cubicBezTo>
                      <a:pt x="46813" y="10266"/>
                      <a:pt x="71597" y="0"/>
                      <a:pt x="97440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768414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155516" y="179552"/>
              <a:ext cx="2987250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Saída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0886308" y="5986216"/>
            <a:ext cx="6676717" cy="3909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spc="-188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Lista: </a:t>
            </a:r>
          </a:p>
          <a:p>
            <a:pPr algn="l">
              <a:lnSpc>
                <a:spcPts val="4480"/>
              </a:lnSpc>
            </a:pPr>
            <a:r>
              <a:rPr lang="en-US" sz="3200" spc="-188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15.0 </a:t>
            </a:r>
          </a:p>
          <a:p>
            <a:pPr algn="l">
              <a:lnSpc>
                <a:spcPts val="4480"/>
              </a:lnSpc>
            </a:pPr>
            <a:r>
              <a:rPr lang="en-US" sz="3200" spc="-188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20.5 </a:t>
            </a:r>
          </a:p>
          <a:p>
            <a:pPr algn="l">
              <a:lnSpc>
                <a:spcPts val="4480"/>
              </a:lnSpc>
            </a:pPr>
            <a:r>
              <a:rPr lang="en-US" sz="3200" spc="-188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12.8 </a:t>
            </a:r>
          </a:p>
          <a:p>
            <a:pPr algn="l">
              <a:lnSpc>
                <a:spcPts val="4480"/>
              </a:lnSpc>
            </a:pPr>
            <a:r>
              <a:rPr lang="en-US" sz="3200" spc="-188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18.2</a:t>
            </a:r>
          </a:p>
          <a:p>
            <a:pPr algn="l">
              <a:lnSpc>
                <a:spcPts val="4480"/>
              </a:lnSpc>
            </a:pPr>
            <a:r>
              <a:rPr lang="en-US" sz="3200" spc="-188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Pontos totais; 66.5</a:t>
            </a:r>
          </a:p>
          <a:p>
            <a:pPr algn="l">
              <a:lnSpc>
                <a:spcPts val="4480"/>
              </a:lnSpc>
            </a:pPr>
            <a:r>
              <a:rPr lang="en-US" sz="3200" spc="-188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Rodadas jogadas: 4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575180" y="1373770"/>
            <a:ext cx="8643199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9"/>
              </a:lnSpc>
              <a:spcBef>
                <a:spcPct val="0"/>
              </a:spcBef>
            </a:pPr>
            <a:r>
              <a:rPr lang="en-US" b="true" sz="3099" spc="-182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Exemplo: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75180" y="62601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5516880" y="1660764"/>
            <a:ext cx="7254239" cy="8035465"/>
          </a:xfrm>
          <a:custGeom>
            <a:avLst/>
            <a:gdLst/>
            <a:ahLst/>
            <a:cxnLst/>
            <a:rect r="r" b="b" t="t" l="l"/>
            <a:pathLst>
              <a:path h="8035465" w="7254239">
                <a:moveTo>
                  <a:pt x="0" y="0"/>
                </a:moveTo>
                <a:lnTo>
                  <a:pt x="7254240" y="0"/>
                </a:lnTo>
                <a:lnTo>
                  <a:pt x="7254240" y="8035465"/>
                </a:lnTo>
                <a:lnTo>
                  <a:pt x="0" y="80354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68510" y="368840"/>
            <a:ext cx="15150979" cy="129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813" i="true" spc="-70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EXERCÍCIO 2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75180" y="62601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568510" y="368840"/>
            <a:ext cx="15150979" cy="129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813" i="true" spc="-70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EXERCÍCIO 3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80753" y="2720722"/>
            <a:ext cx="9801598" cy="4245375"/>
            <a:chOff x="0" y="0"/>
            <a:chExt cx="13068797" cy="56605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3068797" cy="5660500"/>
              <a:chOff x="0" y="0"/>
              <a:chExt cx="2581491" cy="111812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581491" cy="1118123"/>
              </a:xfrm>
              <a:custGeom>
                <a:avLst/>
                <a:gdLst/>
                <a:ahLst/>
                <a:cxnLst/>
                <a:rect r="r" b="b" t="t" l="l"/>
                <a:pathLst>
                  <a:path h="1118123" w="2581491">
                    <a:moveTo>
                      <a:pt x="40283" y="0"/>
                    </a:moveTo>
                    <a:lnTo>
                      <a:pt x="2541208" y="0"/>
                    </a:lnTo>
                    <a:cubicBezTo>
                      <a:pt x="2563456" y="0"/>
                      <a:pt x="2581491" y="18035"/>
                      <a:pt x="2581491" y="40283"/>
                    </a:cubicBezTo>
                    <a:lnTo>
                      <a:pt x="2581491" y="1077840"/>
                    </a:lnTo>
                    <a:cubicBezTo>
                      <a:pt x="2581491" y="1100088"/>
                      <a:pt x="2563456" y="1118123"/>
                      <a:pt x="2541208" y="1118123"/>
                    </a:cubicBezTo>
                    <a:lnTo>
                      <a:pt x="40283" y="1118123"/>
                    </a:lnTo>
                    <a:cubicBezTo>
                      <a:pt x="18035" y="1118123"/>
                      <a:pt x="0" y="1100088"/>
                      <a:pt x="0" y="1077840"/>
                    </a:cubicBezTo>
                    <a:lnTo>
                      <a:pt x="0" y="40283"/>
                    </a:lnTo>
                    <a:cubicBezTo>
                      <a:pt x="0" y="18035"/>
                      <a:pt x="18035" y="0"/>
                      <a:pt x="40283" y="0"/>
                    </a:cubicBezTo>
                    <a:close/>
                  </a:path>
                </a:pathLst>
              </a:custGeom>
              <a:solidFill>
                <a:srgbClr val="F7AC16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2581491" cy="11562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213807" y="337593"/>
              <a:ext cx="12366132" cy="4886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 spc="-17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Crie um programa que pergunta ao usuário o número de vendas </a:t>
              </a:r>
              <a:r>
                <a:rPr lang="en-US" b="true" sz="3000" spc="-17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realizadas nos últimos 5 dias. O programa deve retornar:</a:t>
              </a:r>
            </a:p>
            <a:p>
              <a:pPr algn="l" marL="647700" indent="-323850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 spc="-17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O</a:t>
              </a:r>
              <a:r>
                <a:rPr lang="en-US" b="true" sz="3000" spc="-17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número total de vendas no período;</a:t>
              </a:r>
            </a:p>
            <a:p>
              <a:pPr algn="l" marL="647700" indent="-323850" lvl="1">
                <a:lnSpc>
                  <a:spcPts val="36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3000" spc="-17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O dia com o menor número de vendas (o valor).</a:t>
              </a:r>
            </a:p>
            <a:p>
              <a:pPr algn="just">
                <a:lnSpc>
                  <a:spcPts val="36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863756" y="7341930"/>
            <a:ext cx="3949948" cy="1249235"/>
            <a:chOff x="0" y="0"/>
            <a:chExt cx="1040315" cy="32901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40315" cy="329017"/>
            </a:xfrm>
            <a:custGeom>
              <a:avLst/>
              <a:gdLst/>
              <a:ahLst/>
              <a:cxnLst/>
              <a:rect r="r" b="b" t="t" l="l"/>
              <a:pathLst>
                <a:path h="329017" w="1040315">
                  <a:moveTo>
                    <a:pt x="99960" y="0"/>
                  </a:moveTo>
                  <a:lnTo>
                    <a:pt x="940355" y="0"/>
                  </a:lnTo>
                  <a:cubicBezTo>
                    <a:pt x="966866" y="0"/>
                    <a:pt x="992291" y="10532"/>
                    <a:pt x="1011038" y="29278"/>
                  </a:cubicBezTo>
                  <a:cubicBezTo>
                    <a:pt x="1029784" y="48024"/>
                    <a:pt x="1040315" y="73449"/>
                    <a:pt x="1040315" y="99960"/>
                  </a:cubicBezTo>
                  <a:lnTo>
                    <a:pt x="1040315" y="229056"/>
                  </a:lnTo>
                  <a:cubicBezTo>
                    <a:pt x="1040315" y="255567"/>
                    <a:pt x="1029784" y="280993"/>
                    <a:pt x="1011038" y="299739"/>
                  </a:cubicBezTo>
                  <a:cubicBezTo>
                    <a:pt x="992291" y="318485"/>
                    <a:pt x="966866" y="329017"/>
                    <a:pt x="940355" y="329017"/>
                  </a:cubicBezTo>
                  <a:lnTo>
                    <a:pt x="99960" y="329017"/>
                  </a:lnTo>
                  <a:cubicBezTo>
                    <a:pt x="73449" y="329017"/>
                    <a:pt x="48024" y="318485"/>
                    <a:pt x="29278" y="299739"/>
                  </a:cubicBezTo>
                  <a:cubicBezTo>
                    <a:pt x="10532" y="280993"/>
                    <a:pt x="0" y="255567"/>
                    <a:pt x="0" y="229056"/>
                  </a:cubicBezTo>
                  <a:lnTo>
                    <a:pt x="0" y="99960"/>
                  </a:lnTo>
                  <a:cubicBezTo>
                    <a:pt x="0" y="73449"/>
                    <a:pt x="10532" y="48024"/>
                    <a:pt x="29278" y="29278"/>
                  </a:cubicBezTo>
                  <a:cubicBezTo>
                    <a:pt x="48024" y="10532"/>
                    <a:pt x="73449" y="0"/>
                    <a:pt x="99960" y="0"/>
                  </a:cubicBezTo>
                  <a:close/>
                </a:path>
              </a:pathLst>
            </a:custGeom>
            <a:solidFill>
              <a:srgbClr val="F7AC16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040315" cy="3290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4100944" y="7352503"/>
            <a:ext cx="3475572" cy="1170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0"/>
              </a:lnSpc>
            </a:pPr>
            <a:r>
              <a:rPr lang="en-US" sz="3400" b="tru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UTILIZE WHILE</a:t>
            </a:r>
          </a:p>
          <a:p>
            <a:pPr algn="l">
              <a:lnSpc>
                <a:spcPts val="4760"/>
              </a:lnSpc>
              <a:spcBef>
                <a:spcPct val="0"/>
              </a:spcBef>
            </a:pPr>
            <a:r>
              <a:rPr lang="en-US" b="true" sz="3400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E FOR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161954" y="3423376"/>
            <a:ext cx="3481352" cy="3021917"/>
            <a:chOff x="0" y="0"/>
            <a:chExt cx="1030412" cy="89442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30412" cy="894428"/>
            </a:xfrm>
            <a:custGeom>
              <a:avLst/>
              <a:gdLst/>
              <a:ahLst/>
              <a:cxnLst/>
              <a:rect r="r" b="b" t="t" l="l"/>
              <a:pathLst>
                <a:path h="894428" w="1030412">
                  <a:moveTo>
                    <a:pt x="113415" y="0"/>
                  </a:moveTo>
                  <a:lnTo>
                    <a:pt x="916997" y="0"/>
                  </a:lnTo>
                  <a:cubicBezTo>
                    <a:pt x="979634" y="0"/>
                    <a:pt x="1030412" y="50778"/>
                    <a:pt x="1030412" y="113415"/>
                  </a:cubicBezTo>
                  <a:lnTo>
                    <a:pt x="1030412" y="781013"/>
                  </a:lnTo>
                  <a:cubicBezTo>
                    <a:pt x="1030412" y="843650"/>
                    <a:pt x="979634" y="894428"/>
                    <a:pt x="916997" y="894428"/>
                  </a:cubicBezTo>
                  <a:lnTo>
                    <a:pt x="113415" y="894428"/>
                  </a:lnTo>
                  <a:cubicBezTo>
                    <a:pt x="50778" y="894428"/>
                    <a:pt x="0" y="843650"/>
                    <a:pt x="0" y="781013"/>
                  </a:cubicBezTo>
                  <a:lnTo>
                    <a:pt x="0" y="113415"/>
                  </a:lnTo>
                  <a:cubicBezTo>
                    <a:pt x="0" y="50778"/>
                    <a:pt x="50778" y="0"/>
                    <a:pt x="113415" y="0"/>
                  </a:cubicBezTo>
                  <a:close/>
                </a:path>
              </a:pathLst>
            </a:custGeom>
            <a:solidFill>
              <a:srgbClr val="387EB8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030412" cy="8944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296570" y="3131817"/>
            <a:ext cx="2299229" cy="583116"/>
            <a:chOff x="0" y="0"/>
            <a:chExt cx="3065639" cy="777489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3065639" cy="777489"/>
              <a:chOff x="0" y="0"/>
              <a:chExt cx="768414" cy="19488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768414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768414">
                    <a:moveTo>
                      <a:pt x="97440" y="0"/>
                    </a:moveTo>
                    <a:lnTo>
                      <a:pt x="670974" y="0"/>
                    </a:lnTo>
                    <a:cubicBezTo>
                      <a:pt x="696816" y="0"/>
                      <a:pt x="721601" y="10266"/>
                      <a:pt x="739874" y="28540"/>
                    </a:cubicBezTo>
                    <a:cubicBezTo>
                      <a:pt x="758148" y="46813"/>
                      <a:pt x="768414" y="71597"/>
                      <a:pt x="768414" y="97440"/>
                    </a:cubicBezTo>
                    <a:lnTo>
                      <a:pt x="768414" y="97440"/>
                    </a:lnTo>
                    <a:cubicBezTo>
                      <a:pt x="768414" y="123283"/>
                      <a:pt x="758148" y="148067"/>
                      <a:pt x="739874" y="166341"/>
                    </a:cubicBezTo>
                    <a:cubicBezTo>
                      <a:pt x="721601" y="184614"/>
                      <a:pt x="696816" y="194880"/>
                      <a:pt x="670974" y="194880"/>
                    </a:cubicBezTo>
                    <a:lnTo>
                      <a:pt x="97440" y="194880"/>
                    </a:lnTo>
                    <a:cubicBezTo>
                      <a:pt x="71597" y="194880"/>
                      <a:pt x="46813" y="184614"/>
                      <a:pt x="28540" y="166341"/>
                    </a:cubicBezTo>
                    <a:cubicBezTo>
                      <a:pt x="10266" y="148067"/>
                      <a:pt x="0" y="123283"/>
                      <a:pt x="0" y="97440"/>
                    </a:cubicBezTo>
                    <a:lnTo>
                      <a:pt x="0" y="97440"/>
                    </a:lnTo>
                    <a:cubicBezTo>
                      <a:pt x="0" y="71597"/>
                      <a:pt x="10266" y="46813"/>
                      <a:pt x="28540" y="28540"/>
                    </a:cubicBezTo>
                    <a:cubicBezTo>
                      <a:pt x="46813" y="10266"/>
                      <a:pt x="71597" y="0"/>
                      <a:pt x="97440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768414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138384" y="159772"/>
              <a:ext cx="2658167" cy="4407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69"/>
                </a:lnSpc>
                <a:spcBef>
                  <a:spcPct val="0"/>
                </a:spcBef>
              </a:pPr>
              <a:r>
                <a:rPr lang="en-US" b="true" sz="2224" spc="-131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Entrada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1779907" y="3830670"/>
            <a:ext cx="3863400" cy="2568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7"/>
              </a:lnSpc>
              <a:spcBef>
                <a:spcPct val="0"/>
              </a:spcBef>
            </a:pPr>
            <a:r>
              <a:rPr lang="en-US" b="true" sz="2962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Di</a:t>
            </a:r>
            <a:r>
              <a:rPr lang="en-US" b="true" sz="2962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 1: 50</a:t>
            </a:r>
          </a:p>
          <a:p>
            <a:pPr algn="ctr">
              <a:lnSpc>
                <a:spcPts val="4147"/>
              </a:lnSpc>
              <a:spcBef>
                <a:spcPct val="0"/>
              </a:spcBef>
            </a:pPr>
            <a:r>
              <a:rPr lang="en-US" b="true" sz="2962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Dia 2: 75</a:t>
            </a:r>
          </a:p>
          <a:p>
            <a:pPr algn="ctr">
              <a:lnSpc>
                <a:spcPts val="4147"/>
              </a:lnSpc>
              <a:spcBef>
                <a:spcPct val="0"/>
              </a:spcBef>
            </a:pPr>
            <a:r>
              <a:rPr lang="en-US" b="true" sz="2962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Dia 3: 42</a:t>
            </a:r>
          </a:p>
          <a:p>
            <a:pPr algn="ctr">
              <a:lnSpc>
                <a:spcPts val="4147"/>
              </a:lnSpc>
              <a:spcBef>
                <a:spcPct val="0"/>
              </a:spcBef>
            </a:pPr>
            <a:r>
              <a:rPr lang="en-US" b="true" sz="2962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Dia 4: 80</a:t>
            </a:r>
          </a:p>
          <a:p>
            <a:pPr algn="ctr">
              <a:lnSpc>
                <a:spcPts val="4147"/>
              </a:lnSpc>
              <a:spcBef>
                <a:spcPct val="0"/>
              </a:spcBef>
            </a:pPr>
            <a:r>
              <a:rPr lang="en-US" b="true" sz="2962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Dia 5: 65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830298" y="7014277"/>
            <a:ext cx="6144665" cy="1632423"/>
            <a:chOff x="0" y="0"/>
            <a:chExt cx="1618348" cy="4299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618348" cy="429938"/>
            </a:xfrm>
            <a:custGeom>
              <a:avLst/>
              <a:gdLst/>
              <a:ahLst/>
              <a:cxnLst/>
              <a:rect r="r" b="b" t="t" l="l"/>
              <a:pathLst>
                <a:path h="429938" w="1618348">
                  <a:moveTo>
                    <a:pt x="64257" y="0"/>
                  </a:moveTo>
                  <a:lnTo>
                    <a:pt x="1554091" y="0"/>
                  </a:lnTo>
                  <a:cubicBezTo>
                    <a:pt x="1571133" y="0"/>
                    <a:pt x="1587477" y="6770"/>
                    <a:pt x="1599527" y="18820"/>
                  </a:cubicBezTo>
                  <a:cubicBezTo>
                    <a:pt x="1611578" y="30871"/>
                    <a:pt x="1618348" y="47215"/>
                    <a:pt x="1618348" y="64257"/>
                  </a:cubicBezTo>
                  <a:lnTo>
                    <a:pt x="1618348" y="365681"/>
                  </a:lnTo>
                  <a:cubicBezTo>
                    <a:pt x="1618348" y="401170"/>
                    <a:pt x="1589579" y="429938"/>
                    <a:pt x="1554091" y="429938"/>
                  </a:cubicBezTo>
                  <a:lnTo>
                    <a:pt x="64257" y="429938"/>
                  </a:lnTo>
                  <a:cubicBezTo>
                    <a:pt x="47215" y="429938"/>
                    <a:pt x="30871" y="423169"/>
                    <a:pt x="18820" y="411118"/>
                  </a:cubicBezTo>
                  <a:cubicBezTo>
                    <a:pt x="6770" y="399068"/>
                    <a:pt x="0" y="382723"/>
                    <a:pt x="0" y="365681"/>
                  </a:cubicBezTo>
                  <a:lnTo>
                    <a:pt x="0" y="64257"/>
                  </a:lnTo>
                  <a:cubicBezTo>
                    <a:pt x="0" y="47215"/>
                    <a:pt x="6770" y="30871"/>
                    <a:pt x="18820" y="18820"/>
                  </a:cubicBezTo>
                  <a:cubicBezTo>
                    <a:pt x="30871" y="6770"/>
                    <a:pt x="47215" y="0"/>
                    <a:pt x="64257" y="0"/>
                  </a:cubicBezTo>
                  <a:close/>
                </a:path>
              </a:pathLst>
            </a:custGeom>
            <a:solidFill>
              <a:srgbClr val="387EB8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1618348" cy="429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908885" y="6686623"/>
            <a:ext cx="2583875" cy="655307"/>
            <a:chOff x="0" y="0"/>
            <a:chExt cx="3445167" cy="873742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3445167" cy="873742"/>
              <a:chOff x="0" y="0"/>
              <a:chExt cx="768414" cy="19488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768414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768414">
                    <a:moveTo>
                      <a:pt x="97440" y="0"/>
                    </a:moveTo>
                    <a:lnTo>
                      <a:pt x="670974" y="0"/>
                    </a:lnTo>
                    <a:cubicBezTo>
                      <a:pt x="696816" y="0"/>
                      <a:pt x="721601" y="10266"/>
                      <a:pt x="739874" y="28540"/>
                    </a:cubicBezTo>
                    <a:cubicBezTo>
                      <a:pt x="758148" y="46813"/>
                      <a:pt x="768414" y="71597"/>
                      <a:pt x="768414" y="97440"/>
                    </a:cubicBezTo>
                    <a:lnTo>
                      <a:pt x="768414" y="97440"/>
                    </a:lnTo>
                    <a:cubicBezTo>
                      <a:pt x="768414" y="123283"/>
                      <a:pt x="758148" y="148067"/>
                      <a:pt x="739874" y="166341"/>
                    </a:cubicBezTo>
                    <a:cubicBezTo>
                      <a:pt x="721601" y="184614"/>
                      <a:pt x="696816" y="194880"/>
                      <a:pt x="670974" y="194880"/>
                    </a:cubicBezTo>
                    <a:lnTo>
                      <a:pt x="97440" y="194880"/>
                    </a:lnTo>
                    <a:cubicBezTo>
                      <a:pt x="71597" y="194880"/>
                      <a:pt x="46813" y="184614"/>
                      <a:pt x="28540" y="166341"/>
                    </a:cubicBezTo>
                    <a:cubicBezTo>
                      <a:pt x="10266" y="148067"/>
                      <a:pt x="0" y="123283"/>
                      <a:pt x="0" y="97440"/>
                    </a:cubicBezTo>
                    <a:lnTo>
                      <a:pt x="0" y="97440"/>
                    </a:lnTo>
                    <a:cubicBezTo>
                      <a:pt x="0" y="71597"/>
                      <a:pt x="10266" y="46813"/>
                      <a:pt x="28540" y="28540"/>
                    </a:cubicBezTo>
                    <a:cubicBezTo>
                      <a:pt x="46813" y="10266"/>
                      <a:pt x="71597" y="0"/>
                      <a:pt x="97440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38100"/>
                <a:ext cx="768414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155516" y="179552"/>
              <a:ext cx="2987250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Saída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1110482" y="7284780"/>
            <a:ext cx="6059457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spc="-188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Total de Vendas: 312 </a:t>
            </a:r>
          </a:p>
          <a:p>
            <a:pPr algn="l">
              <a:lnSpc>
                <a:spcPts val="4480"/>
              </a:lnSpc>
            </a:pPr>
            <a:r>
              <a:rPr lang="en-US" sz="3200" spc="-188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Pior dia de Vendas: 42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144000" y="2096108"/>
            <a:ext cx="8643199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9"/>
              </a:lnSpc>
              <a:spcBef>
                <a:spcPct val="0"/>
              </a:spcBef>
            </a:pPr>
            <a:r>
              <a:rPr lang="en-US" b="true" sz="3099" spc="-182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Exemplo: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75180" y="62601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5673330" y="1660764"/>
            <a:ext cx="6941340" cy="7803236"/>
          </a:xfrm>
          <a:custGeom>
            <a:avLst/>
            <a:gdLst/>
            <a:ahLst/>
            <a:cxnLst/>
            <a:rect r="r" b="b" t="t" l="l"/>
            <a:pathLst>
              <a:path h="7803236" w="6941340">
                <a:moveTo>
                  <a:pt x="0" y="0"/>
                </a:moveTo>
                <a:lnTo>
                  <a:pt x="6941340" y="0"/>
                </a:lnTo>
                <a:lnTo>
                  <a:pt x="6941340" y="7803236"/>
                </a:lnTo>
                <a:lnTo>
                  <a:pt x="0" y="78032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68510" y="368840"/>
            <a:ext cx="15150979" cy="129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813" i="true" spc="-70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EXERCÍCIO 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75180" y="62601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568510" y="368840"/>
            <a:ext cx="15150979" cy="129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813" i="true" spc="-70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EXERCÍCIO 4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80882" y="1963736"/>
            <a:ext cx="7975190" cy="6058346"/>
            <a:chOff x="0" y="0"/>
            <a:chExt cx="10633587" cy="8077795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0633587" cy="8077795"/>
              <a:chOff x="0" y="0"/>
              <a:chExt cx="2581491" cy="1961027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581491" cy="1961027"/>
              </a:xfrm>
              <a:custGeom>
                <a:avLst/>
                <a:gdLst/>
                <a:ahLst/>
                <a:cxnLst/>
                <a:rect r="r" b="b" t="t" l="l"/>
                <a:pathLst>
                  <a:path h="1961027" w="2581491">
                    <a:moveTo>
                      <a:pt x="40283" y="0"/>
                    </a:moveTo>
                    <a:lnTo>
                      <a:pt x="2541208" y="0"/>
                    </a:lnTo>
                    <a:cubicBezTo>
                      <a:pt x="2563456" y="0"/>
                      <a:pt x="2581491" y="18035"/>
                      <a:pt x="2581491" y="40283"/>
                    </a:cubicBezTo>
                    <a:lnTo>
                      <a:pt x="2581491" y="1920744"/>
                    </a:lnTo>
                    <a:cubicBezTo>
                      <a:pt x="2581491" y="1931428"/>
                      <a:pt x="2577247" y="1941674"/>
                      <a:pt x="2569692" y="1949229"/>
                    </a:cubicBezTo>
                    <a:cubicBezTo>
                      <a:pt x="2562138" y="1956783"/>
                      <a:pt x="2551892" y="1961027"/>
                      <a:pt x="2541208" y="1961027"/>
                    </a:cubicBezTo>
                    <a:lnTo>
                      <a:pt x="40283" y="1961027"/>
                    </a:lnTo>
                    <a:cubicBezTo>
                      <a:pt x="18035" y="1961027"/>
                      <a:pt x="0" y="1942992"/>
                      <a:pt x="0" y="1920744"/>
                    </a:cubicBezTo>
                    <a:lnTo>
                      <a:pt x="0" y="40283"/>
                    </a:lnTo>
                    <a:cubicBezTo>
                      <a:pt x="0" y="18035"/>
                      <a:pt x="18035" y="0"/>
                      <a:pt x="40283" y="0"/>
                    </a:cubicBezTo>
                    <a:close/>
                  </a:path>
                </a:pathLst>
              </a:custGeom>
              <a:solidFill>
                <a:srgbClr val="F7AC16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2581491" cy="19991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73966" y="282437"/>
              <a:ext cx="10061855" cy="74401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27009" indent="-263505" lvl="1">
                <a:lnSpc>
                  <a:spcPts val="2929"/>
                </a:lnSpc>
                <a:buFont typeface="Arial"/>
                <a:buChar char="•"/>
              </a:pPr>
              <a:r>
                <a:rPr lang="en-US" b="true" sz="2440" spc="-144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Um caixa de supermercado precisa registrar o valor de vários produtos de um cliente. O cliente não sabe quantos produtos tem.</a:t>
              </a:r>
            </a:p>
            <a:p>
              <a:pPr algn="l" marL="527009" indent="-263505" lvl="1">
                <a:lnSpc>
                  <a:spcPts val="2929"/>
                </a:lnSpc>
                <a:buFont typeface="Arial"/>
                <a:buChar char="•"/>
              </a:pPr>
              <a:r>
                <a:rPr lang="en-US" b="true" sz="2440" spc="-144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Crie um programa que pergunta o valor de cada p</a:t>
              </a:r>
              <a:r>
                <a:rPr lang="en-US" b="true" sz="2440" spc="-144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roduto. Para finalizar a compra (parar de registrar), o usuário deve digitar 0 (zero).</a:t>
              </a:r>
            </a:p>
            <a:p>
              <a:pPr algn="l" marL="527009" indent="-263505" lvl="1">
                <a:lnSpc>
                  <a:spcPts val="2929"/>
                </a:lnSpc>
                <a:buFont typeface="Arial"/>
                <a:buChar char="•"/>
              </a:pPr>
              <a:r>
                <a:rPr lang="en-US" b="true" sz="2440" spc="-144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O programa deve retornar:</a:t>
              </a:r>
            </a:p>
            <a:p>
              <a:pPr algn="l" marL="527009" indent="-263505" lvl="1">
                <a:lnSpc>
                  <a:spcPts val="2929"/>
                </a:lnSpc>
                <a:buFont typeface="Arial"/>
                <a:buChar char="•"/>
              </a:pPr>
              <a:r>
                <a:rPr lang="en-US" b="true" sz="2440" spc="-144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O</a:t>
              </a:r>
              <a:r>
                <a:rPr lang="en-US" b="true" sz="2440" spc="-144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valor total da compra;</a:t>
              </a:r>
            </a:p>
            <a:p>
              <a:pPr algn="l" marL="527009" indent="-263505" lvl="1">
                <a:lnSpc>
                  <a:spcPts val="2929"/>
                </a:lnSpc>
                <a:buFont typeface="Arial"/>
                <a:buChar char="•"/>
              </a:pPr>
              <a:r>
                <a:rPr lang="en-US" b="true" sz="2440" spc="-144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O número de itens considerados "caros" (acima de R$ 50,00);</a:t>
              </a:r>
            </a:p>
            <a:p>
              <a:pPr algn="l" marL="527009" indent="-263505" lvl="1">
                <a:lnSpc>
                  <a:spcPts val="292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440" spc="-144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O número de itens considerados "baratos" (R$ 50,00 ou menos).</a:t>
              </a:r>
            </a:p>
            <a:p>
              <a:pPr algn="just">
                <a:lnSpc>
                  <a:spcPts val="292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758282" y="3538170"/>
            <a:ext cx="5953842" cy="2878886"/>
            <a:chOff x="0" y="0"/>
            <a:chExt cx="1762221" cy="85209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62221" cy="852094"/>
            </a:xfrm>
            <a:custGeom>
              <a:avLst/>
              <a:gdLst/>
              <a:ahLst/>
              <a:cxnLst/>
              <a:rect r="r" b="b" t="t" l="l"/>
              <a:pathLst>
                <a:path h="852094" w="1762221">
                  <a:moveTo>
                    <a:pt x="66316" y="0"/>
                  </a:moveTo>
                  <a:lnTo>
                    <a:pt x="1695904" y="0"/>
                  </a:lnTo>
                  <a:cubicBezTo>
                    <a:pt x="1732530" y="0"/>
                    <a:pt x="1762221" y="29691"/>
                    <a:pt x="1762221" y="66316"/>
                  </a:cubicBezTo>
                  <a:lnTo>
                    <a:pt x="1762221" y="785777"/>
                  </a:lnTo>
                  <a:cubicBezTo>
                    <a:pt x="1762221" y="803366"/>
                    <a:pt x="1755234" y="820234"/>
                    <a:pt x="1742797" y="832670"/>
                  </a:cubicBezTo>
                  <a:cubicBezTo>
                    <a:pt x="1730360" y="845107"/>
                    <a:pt x="1713492" y="852094"/>
                    <a:pt x="1695904" y="852094"/>
                  </a:cubicBezTo>
                  <a:lnTo>
                    <a:pt x="66316" y="852094"/>
                  </a:lnTo>
                  <a:cubicBezTo>
                    <a:pt x="29691" y="852094"/>
                    <a:pt x="0" y="822403"/>
                    <a:pt x="0" y="785777"/>
                  </a:cubicBezTo>
                  <a:lnTo>
                    <a:pt x="0" y="66316"/>
                  </a:lnTo>
                  <a:cubicBezTo>
                    <a:pt x="0" y="29691"/>
                    <a:pt x="29691" y="0"/>
                    <a:pt x="66316" y="0"/>
                  </a:cubicBezTo>
                  <a:close/>
                </a:path>
              </a:pathLst>
            </a:custGeom>
            <a:solidFill>
              <a:srgbClr val="387EB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762221" cy="8520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892898" y="3246612"/>
            <a:ext cx="2299229" cy="583116"/>
            <a:chOff x="0" y="0"/>
            <a:chExt cx="3065639" cy="777489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3065639" cy="777489"/>
              <a:chOff x="0" y="0"/>
              <a:chExt cx="768414" cy="19488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768414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768414">
                    <a:moveTo>
                      <a:pt x="97440" y="0"/>
                    </a:moveTo>
                    <a:lnTo>
                      <a:pt x="670974" y="0"/>
                    </a:lnTo>
                    <a:cubicBezTo>
                      <a:pt x="696816" y="0"/>
                      <a:pt x="721601" y="10266"/>
                      <a:pt x="739874" y="28540"/>
                    </a:cubicBezTo>
                    <a:cubicBezTo>
                      <a:pt x="758148" y="46813"/>
                      <a:pt x="768414" y="71597"/>
                      <a:pt x="768414" y="97440"/>
                    </a:cubicBezTo>
                    <a:lnTo>
                      <a:pt x="768414" y="97440"/>
                    </a:lnTo>
                    <a:cubicBezTo>
                      <a:pt x="768414" y="123283"/>
                      <a:pt x="758148" y="148067"/>
                      <a:pt x="739874" y="166341"/>
                    </a:cubicBezTo>
                    <a:cubicBezTo>
                      <a:pt x="721601" y="184614"/>
                      <a:pt x="696816" y="194880"/>
                      <a:pt x="670974" y="194880"/>
                    </a:cubicBezTo>
                    <a:lnTo>
                      <a:pt x="97440" y="194880"/>
                    </a:lnTo>
                    <a:cubicBezTo>
                      <a:pt x="71597" y="194880"/>
                      <a:pt x="46813" y="184614"/>
                      <a:pt x="28540" y="166341"/>
                    </a:cubicBezTo>
                    <a:cubicBezTo>
                      <a:pt x="10266" y="148067"/>
                      <a:pt x="0" y="123283"/>
                      <a:pt x="0" y="97440"/>
                    </a:cubicBezTo>
                    <a:lnTo>
                      <a:pt x="0" y="97440"/>
                    </a:lnTo>
                    <a:cubicBezTo>
                      <a:pt x="0" y="71597"/>
                      <a:pt x="10266" y="46813"/>
                      <a:pt x="28540" y="28540"/>
                    </a:cubicBezTo>
                    <a:cubicBezTo>
                      <a:pt x="46813" y="10266"/>
                      <a:pt x="71597" y="0"/>
                      <a:pt x="97440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768414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138384" y="159772"/>
              <a:ext cx="2658167" cy="4407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69"/>
                </a:lnSpc>
                <a:spcBef>
                  <a:spcPct val="0"/>
                </a:spcBef>
              </a:pPr>
              <a:r>
                <a:rPr lang="en-US" b="true" sz="2224" spc="-131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Entrada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758282" y="7117757"/>
            <a:ext cx="6339641" cy="1895179"/>
            <a:chOff x="0" y="0"/>
            <a:chExt cx="1669700" cy="49914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669700" cy="499142"/>
            </a:xfrm>
            <a:custGeom>
              <a:avLst/>
              <a:gdLst/>
              <a:ahLst/>
              <a:cxnLst/>
              <a:rect r="r" b="b" t="t" l="l"/>
              <a:pathLst>
                <a:path h="499142" w="1669700">
                  <a:moveTo>
                    <a:pt x="62281" y="0"/>
                  </a:moveTo>
                  <a:lnTo>
                    <a:pt x="1607419" y="0"/>
                  </a:lnTo>
                  <a:cubicBezTo>
                    <a:pt x="1623937" y="0"/>
                    <a:pt x="1639778" y="6562"/>
                    <a:pt x="1651458" y="18242"/>
                  </a:cubicBezTo>
                  <a:cubicBezTo>
                    <a:pt x="1663138" y="29922"/>
                    <a:pt x="1669700" y="45763"/>
                    <a:pt x="1669700" y="62281"/>
                  </a:cubicBezTo>
                  <a:lnTo>
                    <a:pt x="1669700" y="436861"/>
                  </a:lnTo>
                  <a:cubicBezTo>
                    <a:pt x="1669700" y="453379"/>
                    <a:pt x="1663138" y="469220"/>
                    <a:pt x="1651458" y="480900"/>
                  </a:cubicBezTo>
                  <a:cubicBezTo>
                    <a:pt x="1639778" y="492580"/>
                    <a:pt x="1623937" y="499142"/>
                    <a:pt x="1607419" y="499142"/>
                  </a:cubicBezTo>
                  <a:lnTo>
                    <a:pt x="62281" y="499142"/>
                  </a:lnTo>
                  <a:cubicBezTo>
                    <a:pt x="45763" y="499142"/>
                    <a:pt x="29922" y="492580"/>
                    <a:pt x="18242" y="480900"/>
                  </a:cubicBezTo>
                  <a:cubicBezTo>
                    <a:pt x="6562" y="469220"/>
                    <a:pt x="0" y="453379"/>
                    <a:pt x="0" y="436861"/>
                  </a:cubicBezTo>
                  <a:lnTo>
                    <a:pt x="0" y="62281"/>
                  </a:lnTo>
                  <a:cubicBezTo>
                    <a:pt x="0" y="45763"/>
                    <a:pt x="6562" y="29922"/>
                    <a:pt x="18242" y="18242"/>
                  </a:cubicBezTo>
                  <a:cubicBezTo>
                    <a:pt x="29922" y="6562"/>
                    <a:pt x="45763" y="0"/>
                    <a:pt x="62281" y="0"/>
                  </a:cubicBezTo>
                  <a:close/>
                </a:path>
              </a:pathLst>
            </a:custGeom>
            <a:solidFill>
              <a:srgbClr val="387EB8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1669700" cy="499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836869" y="6790104"/>
            <a:ext cx="2583875" cy="655307"/>
            <a:chOff x="0" y="0"/>
            <a:chExt cx="3445167" cy="873742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3445167" cy="873742"/>
              <a:chOff x="0" y="0"/>
              <a:chExt cx="768414" cy="19488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768414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768414">
                    <a:moveTo>
                      <a:pt x="97440" y="0"/>
                    </a:moveTo>
                    <a:lnTo>
                      <a:pt x="670974" y="0"/>
                    </a:lnTo>
                    <a:cubicBezTo>
                      <a:pt x="696816" y="0"/>
                      <a:pt x="721601" y="10266"/>
                      <a:pt x="739874" y="28540"/>
                    </a:cubicBezTo>
                    <a:cubicBezTo>
                      <a:pt x="758148" y="46813"/>
                      <a:pt x="768414" y="71597"/>
                      <a:pt x="768414" y="97440"/>
                    </a:cubicBezTo>
                    <a:lnTo>
                      <a:pt x="768414" y="97440"/>
                    </a:lnTo>
                    <a:cubicBezTo>
                      <a:pt x="768414" y="123283"/>
                      <a:pt x="758148" y="148067"/>
                      <a:pt x="739874" y="166341"/>
                    </a:cubicBezTo>
                    <a:cubicBezTo>
                      <a:pt x="721601" y="184614"/>
                      <a:pt x="696816" y="194880"/>
                      <a:pt x="670974" y="194880"/>
                    </a:cubicBezTo>
                    <a:lnTo>
                      <a:pt x="97440" y="194880"/>
                    </a:lnTo>
                    <a:cubicBezTo>
                      <a:pt x="71597" y="194880"/>
                      <a:pt x="46813" y="184614"/>
                      <a:pt x="28540" y="166341"/>
                    </a:cubicBezTo>
                    <a:cubicBezTo>
                      <a:pt x="10266" y="148067"/>
                      <a:pt x="0" y="123283"/>
                      <a:pt x="0" y="97440"/>
                    </a:cubicBezTo>
                    <a:lnTo>
                      <a:pt x="0" y="97440"/>
                    </a:lnTo>
                    <a:cubicBezTo>
                      <a:pt x="0" y="71597"/>
                      <a:pt x="10266" y="46813"/>
                      <a:pt x="28540" y="28540"/>
                    </a:cubicBezTo>
                    <a:cubicBezTo>
                      <a:pt x="46813" y="10266"/>
                      <a:pt x="71597" y="0"/>
                      <a:pt x="97440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768414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155516" y="179552"/>
              <a:ext cx="2987250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Saída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1038466" y="7397786"/>
            <a:ext cx="6059457" cy="1353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spc="-153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Total da Compra: R$ 285.50 </a:t>
            </a:r>
          </a:p>
          <a:p>
            <a:pPr algn="l">
              <a:lnSpc>
                <a:spcPts val="3640"/>
              </a:lnSpc>
            </a:pPr>
            <a:r>
              <a:rPr lang="en-US" sz="2600" spc="-153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Itens Caros (&gt; R$ 50): 2 </a:t>
            </a:r>
          </a:p>
          <a:p>
            <a:pPr algn="l">
              <a:lnSpc>
                <a:spcPts val="3640"/>
              </a:lnSpc>
            </a:pPr>
            <a:r>
              <a:rPr lang="en-US" sz="2600" spc="-153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Itens Baratos (&lt;= R$ 50): 3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413604" y="2160762"/>
            <a:ext cx="8643199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9"/>
              </a:lnSpc>
              <a:spcBef>
                <a:spcPct val="0"/>
              </a:spcBef>
            </a:pPr>
            <a:r>
              <a:rPr lang="en-US" b="true" sz="3099" spc="-182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Exemplo: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892898" y="4058329"/>
            <a:ext cx="5826592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2100" spc="-123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Valor do produto (0 para parar): 20.00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2100" spc="-123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Valor do produto (0 para parar): 80.00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2100" spc="-123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Valor do produto (0 para parar): 15.50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2100" spc="-123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Valor do produto (0 para parar): 120.00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2100" spc="-123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Valor do produto (0 para parar): 50.00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2100" spc="-123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Valor do produto (0 para parar): 0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75180" y="62601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5621116" y="1781243"/>
            <a:ext cx="7045768" cy="7738254"/>
          </a:xfrm>
          <a:custGeom>
            <a:avLst/>
            <a:gdLst/>
            <a:ahLst/>
            <a:cxnLst/>
            <a:rect r="r" b="b" t="t" l="l"/>
            <a:pathLst>
              <a:path h="7738254" w="7045768">
                <a:moveTo>
                  <a:pt x="0" y="0"/>
                </a:moveTo>
                <a:lnTo>
                  <a:pt x="7045768" y="0"/>
                </a:lnTo>
                <a:lnTo>
                  <a:pt x="7045768" y="7738254"/>
                </a:lnTo>
                <a:lnTo>
                  <a:pt x="0" y="77382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68510" y="368840"/>
            <a:ext cx="15150979" cy="129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813" i="true" spc="-70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EXERCÍCIO 4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9D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689958" y="9327196"/>
            <a:ext cx="6908084" cy="478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6"/>
              </a:lnSpc>
            </a:pPr>
            <a:r>
              <a:rPr lang="en-US" sz="3188" b="true">
                <a:solidFill>
                  <a:srgbClr val="F2EFEB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CODELAB TEEN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703845" y="-85725"/>
            <a:ext cx="12880309" cy="2403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619"/>
              </a:lnSpc>
            </a:pPr>
            <a:r>
              <a:rPr lang="en-US" sz="12766" i="true" spc="-1314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OBRIGADO!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-82000"/>
            <a:ext cx="2397565" cy="1010011"/>
            <a:chOff x="0" y="0"/>
            <a:chExt cx="3196753" cy="134668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196717" cy="1346708"/>
            </a:xfrm>
            <a:custGeom>
              <a:avLst/>
              <a:gdLst/>
              <a:ahLst/>
              <a:cxnLst/>
              <a:rect r="r" b="b" t="t" l="l"/>
              <a:pathLst>
                <a:path h="1346708" w="3196717">
                  <a:moveTo>
                    <a:pt x="0" y="0"/>
                  </a:moveTo>
                  <a:lnTo>
                    <a:pt x="3196717" y="0"/>
                  </a:lnTo>
                  <a:lnTo>
                    <a:pt x="3196717" y="1346708"/>
                  </a:lnTo>
                  <a:lnTo>
                    <a:pt x="0" y="13467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17859" r="-1" b="-117857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4855964" y="8276808"/>
            <a:ext cx="8576072" cy="58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F2EFE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https://forms.gle/Q1BYFnKxjyKuCC647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512237" y="2700980"/>
            <a:ext cx="13263525" cy="1098807"/>
          </a:xfrm>
          <a:custGeom>
            <a:avLst/>
            <a:gdLst/>
            <a:ahLst/>
            <a:cxnLst/>
            <a:rect r="r" b="b" t="t" l="l"/>
            <a:pathLst>
              <a:path h="1098807" w="13263525">
                <a:moveTo>
                  <a:pt x="0" y="0"/>
                </a:moveTo>
                <a:lnTo>
                  <a:pt x="13263526" y="0"/>
                </a:lnTo>
                <a:lnTo>
                  <a:pt x="13263526" y="1098808"/>
                </a:lnTo>
                <a:lnTo>
                  <a:pt x="0" y="10988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998037" y="2983684"/>
            <a:ext cx="1229192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b="true" sz="3300" spc="-198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Contem para a gente o que acharam da aula de hoje:</a:t>
            </a:r>
          </a:p>
        </p:txBody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6675120" y="3591510"/>
            <a:ext cx="4937760" cy="4937760"/>
            <a:chOff x="0" y="0"/>
            <a:chExt cx="6583680" cy="65836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583680" cy="6583680"/>
            </a:xfrm>
            <a:custGeom>
              <a:avLst/>
              <a:gdLst/>
              <a:ahLst/>
              <a:cxnLst/>
              <a:rect r="r" b="b" t="t" l="l"/>
              <a:pathLst>
                <a:path h="65836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583680"/>
                  </a:lnTo>
                  <a:lnTo>
                    <a:pt x="0" y="6583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DAG3ybRBzl0</dc:identifier>
  <dcterms:modified xsi:type="dcterms:W3CDTF">2011-08-01T06:04:30Z</dcterms:modified>
  <cp:revision>1</cp:revision>
  <dc:title>Listas - Aula 7</dc:title>
</cp:coreProperties>
</file>