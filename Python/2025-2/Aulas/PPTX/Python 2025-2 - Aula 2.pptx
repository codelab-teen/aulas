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Bugaki Italics" charset="1" panose="00000000000000000000"/>
      <p:regular r:id="rId32"/>
    </p:embeddedFont>
    <p:embeddedFont>
      <p:font typeface="Space Mono Bold" charset="1" panose="02000809030000020004"/>
      <p:regular r:id="rId33"/>
    </p:embeddedFont>
    <p:embeddedFont>
      <p:font typeface="Space Mono" charset="1" panose="02000509040000020004"/>
      <p:regular r:id="rId34"/>
    </p:embeddedFont>
    <p:embeddedFont>
      <p:font typeface="Lato Bold" charset="1" panose="020F0502020204030203"/>
      <p:regular r:id="rId35"/>
    </p:embeddedFont>
    <p:embeddedFont>
      <p:font typeface="Space Mono Bold Italics" charset="1" panose="02000809040000090004"/>
      <p:regular r:id="rId36"/>
    </p:embeddedFont>
    <p:embeddedFont>
      <p:font typeface="Lato" charset="1" panose="020F0502020204030203"/>
      <p:regular r:id="rId37"/>
    </p:embeddedFont>
    <p:embeddedFont>
      <p:font typeface="Open Sans Bold" charset="1" panose="00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7989" y="3374177"/>
            <a:ext cx="6652022" cy="6028784"/>
          </a:xfrm>
          <a:custGeom>
            <a:avLst/>
            <a:gdLst/>
            <a:ahLst/>
            <a:cxnLst/>
            <a:rect r="r" b="b" t="t" l="l"/>
            <a:pathLst>
              <a:path h="6028784" w="6652022">
                <a:moveTo>
                  <a:pt x="0" y="0"/>
                </a:moveTo>
                <a:lnTo>
                  <a:pt x="6652022" y="0"/>
                </a:lnTo>
                <a:lnTo>
                  <a:pt x="6652022" y="6028784"/>
                </a:lnTo>
                <a:lnTo>
                  <a:pt x="0" y="602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85009">
            <a:off x="1092347" y="1274081"/>
            <a:ext cx="4021282" cy="5143500"/>
          </a:xfrm>
          <a:custGeom>
            <a:avLst/>
            <a:gdLst/>
            <a:ahLst/>
            <a:cxnLst/>
            <a:rect r="r" b="b" t="t" l="l"/>
            <a:pathLst>
              <a:path h="5143500" w="4021282">
                <a:moveTo>
                  <a:pt x="0" y="0"/>
                </a:moveTo>
                <a:lnTo>
                  <a:pt x="4021282" y="0"/>
                </a:lnTo>
                <a:lnTo>
                  <a:pt x="402128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3" t="0" r="-3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79917">
            <a:off x="13831111" y="4077263"/>
            <a:ext cx="3104804" cy="4114800"/>
          </a:xfrm>
          <a:custGeom>
            <a:avLst/>
            <a:gdLst/>
            <a:ahLst/>
            <a:cxnLst/>
            <a:rect r="r" b="b" t="t" l="l"/>
            <a:pathLst>
              <a:path h="4114800" w="3104804">
                <a:moveTo>
                  <a:pt x="0" y="0"/>
                </a:moveTo>
                <a:lnTo>
                  <a:pt x="3104804" y="0"/>
                </a:lnTo>
                <a:lnTo>
                  <a:pt x="3104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7633" y="1867390"/>
            <a:ext cx="13357297" cy="5831260"/>
          </a:xfrm>
          <a:custGeom>
            <a:avLst/>
            <a:gdLst/>
            <a:ahLst/>
            <a:cxnLst/>
            <a:rect r="r" b="b" t="t" l="l"/>
            <a:pathLst>
              <a:path h="5831260" w="13357297">
                <a:moveTo>
                  <a:pt x="0" y="0"/>
                </a:moveTo>
                <a:lnTo>
                  <a:pt x="13357298" y="0"/>
                </a:lnTo>
                <a:lnTo>
                  <a:pt x="13357298" y="5831261"/>
                </a:lnTo>
                <a:lnTo>
                  <a:pt x="0" y="58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625148">
            <a:off x="1548436" y="1767823"/>
            <a:ext cx="3624249" cy="1526770"/>
            <a:chOff x="0" y="0"/>
            <a:chExt cx="4832332" cy="2035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2350" cy="2035683"/>
            </a:xfrm>
            <a:custGeom>
              <a:avLst/>
              <a:gdLst/>
              <a:ahLst/>
              <a:cxnLst/>
              <a:rect r="r" b="b" t="t" l="l"/>
              <a:pathLst>
                <a:path h="203568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035683"/>
                  </a:lnTo>
                  <a:lnTo>
                    <a:pt x="0" y="203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7862" r="0" b="-11786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1057456">
            <a:off x="13459709" y="7291099"/>
            <a:ext cx="1894937" cy="1884601"/>
          </a:xfrm>
          <a:custGeom>
            <a:avLst/>
            <a:gdLst/>
            <a:ahLst/>
            <a:cxnLst/>
            <a:rect r="r" b="b" t="t" l="l"/>
            <a:pathLst>
              <a:path h="1884601" w="1894937">
                <a:moveTo>
                  <a:pt x="0" y="0"/>
                </a:moveTo>
                <a:lnTo>
                  <a:pt x="1894937" y="0"/>
                </a:lnTo>
                <a:lnTo>
                  <a:pt x="1894937" y="1884601"/>
                </a:lnTo>
                <a:lnTo>
                  <a:pt x="0" y="1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74" r="0" b="-27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5679535"/>
            <a:ext cx="2737850" cy="2737850"/>
            <a:chOff x="0" y="0"/>
            <a:chExt cx="3650467" cy="3650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0488" cy="3650488"/>
            </a:xfrm>
            <a:custGeom>
              <a:avLst/>
              <a:gdLst/>
              <a:ahLst/>
              <a:cxnLst/>
              <a:rect r="r" b="b" t="t" l="l"/>
              <a:pathLst>
                <a:path h="3650488" w="3650488">
                  <a:moveTo>
                    <a:pt x="0" y="0"/>
                  </a:moveTo>
                  <a:lnTo>
                    <a:pt x="3650488" y="0"/>
                  </a:lnTo>
                  <a:lnTo>
                    <a:pt x="3650488" y="3650488"/>
                  </a:lnTo>
                  <a:lnTo>
                    <a:pt x="0" y="3650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-582495">
            <a:off x="1721831" y="3188368"/>
            <a:ext cx="14872554" cy="387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5"/>
              </a:lnSpc>
            </a:pPr>
            <a:r>
              <a:rPr lang="en-US" sz="16593" i="true" spc="-170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PYTHON</a:t>
            </a:r>
          </a:p>
          <a:p>
            <a:pPr algn="ctr">
              <a:lnSpc>
                <a:spcPts val="11640"/>
              </a:lnSpc>
            </a:pPr>
            <a:r>
              <a:rPr lang="en-US" sz="12000" i="true" spc="-1236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AULA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7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11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0" y="0"/>
                </a:moveTo>
                <a:lnTo>
                  <a:pt x="2478375" y="0"/>
                </a:lnTo>
                <a:lnTo>
                  <a:pt x="2478375" y="2621358"/>
                </a:lnTo>
                <a:lnTo>
                  <a:pt x="0" y="2621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3307" y="381000"/>
            <a:ext cx="12718638" cy="251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4"/>
              </a:lnSpc>
            </a:pPr>
            <a:r>
              <a:rPr lang="en-US" sz="11161" i="true" spc="-114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BEM - VINDOS!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26237" y="1860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428704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2478375" y="0"/>
                </a:moveTo>
                <a:lnTo>
                  <a:pt x="0" y="0"/>
                </a:lnTo>
                <a:lnTo>
                  <a:pt x="0" y="2621358"/>
                </a:lnTo>
                <a:lnTo>
                  <a:pt x="2478375" y="2621358"/>
                </a:lnTo>
                <a:lnTo>
                  <a:pt x="24783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0204" y="3467297"/>
            <a:ext cx="16447591" cy="5899499"/>
          </a:xfrm>
          <a:custGeom>
            <a:avLst/>
            <a:gdLst/>
            <a:ahLst/>
            <a:cxnLst/>
            <a:rect r="r" b="b" t="t" l="l"/>
            <a:pathLst>
              <a:path h="5899499" w="16447591">
                <a:moveTo>
                  <a:pt x="0" y="0"/>
                </a:moveTo>
                <a:lnTo>
                  <a:pt x="16447592" y="0"/>
                </a:lnTo>
                <a:lnTo>
                  <a:pt x="16447592" y="5899499"/>
                </a:lnTo>
                <a:lnTo>
                  <a:pt x="0" y="5899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54154" y="3069377"/>
            <a:ext cx="6579691" cy="1306319"/>
          </a:xfrm>
          <a:custGeom>
            <a:avLst/>
            <a:gdLst/>
            <a:ahLst/>
            <a:cxnLst/>
            <a:rect r="r" b="b" t="t" l="l"/>
            <a:pathLst>
              <a:path h="1306319" w="6579691">
                <a:moveTo>
                  <a:pt x="0" y="0"/>
                </a:moveTo>
                <a:lnTo>
                  <a:pt x="6579692" y="0"/>
                </a:lnTo>
                <a:lnTo>
                  <a:pt x="6579692" y="1306319"/>
                </a:lnTo>
                <a:lnTo>
                  <a:pt x="0" y="1306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5916" y="5143500"/>
            <a:ext cx="15516169" cy="228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6036" indent="-382012" lvl="2">
              <a:lnSpc>
                <a:spcPts val="6016"/>
              </a:lnSpc>
              <a:buFont typeface="Arial"/>
              <a:buChar char="⚬"/>
            </a:pP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Hoje veremos dois pilares da programação: </a:t>
            </a:r>
            <a:r>
              <a:rPr lang="en-US" b="true" sz="5012" spc="-299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variáveis </a:t>
            </a: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 </a:t>
            </a:r>
            <a:r>
              <a:rPr lang="en-US" b="true" sz="5012" spc="-299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entrada e saída de dados</a:t>
            </a:r>
            <a:r>
              <a:rPr lang="en-US" b="true" sz="5012" spc="-2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1860" y="3441814"/>
            <a:ext cx="5464280" cy="61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5"/>
              </a:lnSpc>
            </a:pPr>
            <a:r>
              <a:rPr lang="en-US" b="true" sz="4213" spc="-251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57156" y="1934132"/>
            <a:ext cx="12573687" cy="1940300"/>
            <a:chOff x="0" y="0"/>
            <a:chExt cx="3311588" cy="5110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1589" cy="511025"/>
            </a:xfrm>
            <a:custGeom>
              <a:avLst/>
              <a:gdLst/>
              <a:ahLst/>
              <a:cxnLst/>
              <a:rect r="r" b="b" t="t" l="l"/>
              <a:pathLst>
                <a:path h="511025" w="3311589">
                  <a:moveTo>
                    <a:pt x="31402" y="0"/>
                  </a:moveTo>
                  <a:lnTo>
                    <a:pt x="3280187" y="0"/>
                  </a:lnTo>
                  <a:cubicBezTo>
                    <a:pt x="3297529" y="0"/>
                    <a:pt x="3311589" y="14059"/>
                    <a:pt x="3311589" y="31402"/>
                  </a:cubicBezTo>
                  <a:lnTo>
                    <a:pt x="3311589" y="479623"/>
                  </a:lnTo>
                  <a:cubicBezTo>
                    <a:pt x="3311589" y="487952"/>
                    <a:pt x="3308280" y="495939"/>
                    <a:pt x="3302391" y="501828"/>
                  </a:cubicBezTo>
                  <a:cubicBezTo>
                    <a:pt x="3296502" y="507717"/>
                    <a:pt x="3288515" y="511025"/>
                    <a:pt x="3280187" y="511025"/>
                  </a:cubicBezTo>
                  <a:lnTo>
                    <a:pt x="31402" y="511025"/>
                  </a:lnTo>
                  <a:cubicBezTo>
                    <a:pt x="23074" y="511025"/>
                    <a:pt x="15086" y="507717"/>
                    <a:pt x="9197" y="501828"/>
                  </a:cubicBezTo>
                  <a:cubicBezTo>
                    <a:pt x="3308" y="495939"/>
                    <a:pt x="0" y="487952"/>
                    <a:pt x="0" y="479623"/>
                  </a:cubicBezTo>
                  <a:lnTo>
                    <a:pt x="0" y="31402"/>
                  </a:lnTo>
                  <a:cubicBezTo>
                    <a:pt x="0" y="23074"/>
                    <a:pt x="3308" y="15086"/>
                    <a:pt x="9197" y="9197"/>
                  </a:cubicBezTo>
                  <a:cubicBezTo>
                    <a:pt x="15086" y="3308"/>
                    <a:pt x="23074" y="0"/>
                    <a:pt x="3140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11588" cy="54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12195" y="4056155"/>
            <a:ext cx="10263609" cy="1323035"/>
            <a:chOff x="0" y="0"/>
            <a:chExt cx="2703173" cy="3484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3173" cy="348454"/>
            </a:xfrm>
            <a:custGeom>
              <a:avLst/>
              <a:gdLst/>
              <a:ahLst/>
              <a:cxnLst/>
              <a:rect r="r" b="b" t="t" l="l"/>
              <a:pathLst>
                <a:path h="348454" w="2703173">
                  <a:moveTo>
                    <a:pt x="38470" y="0"/>
                  </a:moveTo>
                  <a:lnTo>
                    <a:pt x="2664703" y="0"/>
                  </a:lnTo>
                  <a:cubicBezTo>
                    <a:pt x="2674906" y="0"/>
                    <a:pt x="2684691" y="4053"/>
                    <a:pt x="2691905" y="11268"/>
                  </a:cubicBezTo>
                  <a:cubicBezTo>
                    <a:pt x="2699120" y="18482"/>
                    <a:pt x="2703173" y="28267"/>
                    <a:pt x="2703173" y="38470"/>
                  </a:cubicBezTo>
                  <a:lnTo>
                    <a:pt x="2703173" y="309984"/>
                  </a:lnTo>
                  <a:cubicBezTo>
                    <a:pt x="2703173" y="320187"/>
                    <a:pt x="2699120" y="329972"/>
                    <a:pt x="2691905" y="337186"/>
                  </a:cubicBezTo>
                  <a:cubicBezTo>
                    <a:pt x="2684691" y="344401"/>
                    <a:pt x="2674906" y="348454"/>
                    <a:pt x="2664703" y="348454"/>
                  </a:cubicBezTo>
                  <a:lnTo>
                    <a:pt x="38470" y="348454"/>
                  </a:lnTo>
                  <a:cubicBezTo>
                    <a:pt x="28267" y="348454"/>
                    <a:pt x="18482" y="344401"/>
                    <a:pt x="11268" y="337186"/>
                  </a:cubicBezTo>
                  <a:cubicBezTo>
                    <a:pt x="4053" y="329972"/>
                    <a:pt x="0" y="320187"/>
                    <a:pt x="0" y="309984"/>
                  </a:cubicBezTo>
                  <a:lnTo>
                    <a:pt x="0" y="38470"/>
                  </a:lnTo>
                  <a:cubicBezTo>
                    <a:pt x="0" y="28267"/>
                    <a:pt x="4053" y="18482"/>
                    <a:pt x="11268" y="11268"/>
                  </a:cubicBezTo>
                  <a:cubicBezTo>
                    <a:pt x="18482" y="4053"/>
                    <a:pt x="28267" y="0"/>
                    <a:pt x="38470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3173" cy="38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91891" y="2264707"/>
            <a:ext cx="1090421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Na última aula nós aprendemos que, quando um programa está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rodando, ele precisa se lembrar de algumas informações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 Para isso usamos as 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variáveis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961068" y="5748467"/>
            <a:ext cx="6365864" cy="4044054"/>
            <a:chOff x="0" y="0"/>
            <a:chExt cx="1676606" cy="10651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76606" cy="1065101"/>
            </a:xfrm>
            <a:custGeom>
              <a:avLst/>
              <a:gdLst/>
              <a:ahLst/>
              <a:cxnLst/>
              <a:rect r="r" b="b" t="t" l="l"/>
              <a:pathLst>
                <a:path h="1065101" w="1676606">
                  <a:moveTo>
                    <a:pt x="62024" y="0"/>
                  </a:moveTo>
                  <a:lnTo>
                    <a:pt x="1614582" y="0"/>
                  </a:lnTo>
                  <a:cubicBezTo>
                    <a:pt x="1648837" y="0"/>
                    <a:pt x="1676606" y="27769"/>
                    <a:pt x="1676606" y="62024"/>
                  </a:cubicBezTo>
                  <a:lnTo>
                    <a:pt x="1676606" y="1003076"/>
                  </a:lnTo>
                  <a:cubicBezTo>
                    <a:pt x="1676606" y="1019526"/>
                    <a:pt x="1670072" y="1035302"/>
                    <a:pt x="1658440" y="1046934"/>
                  </a:cubicBezTo>
                  <a:cubicBezTo>
                    <a:pt x="1646808" y="1058566"/>
                    <a:pt x="1631032" y="1065101"/>
                    <a:pt x="1614582" y="1065101"/>
                  </a:cubicBezTo>
                  <a:lnTo>
                    <a:pt x="62024" y="1065101"/>
                  </a:lnTo>
                  <a:cubicBezTo>
                    <a:pt x="27769" y="1065101"/>
                    <a:pt x="0" y="1037331"/>
                    <a:pt x="0" y="1003076"/>
                  </a:cubicBezTo>
                  <a:lnTo>
                    <a:pt x="0" y="62024"/>
                  </a:lnTo>
                  <a:cubicBezTo>
                    <a:pt x="0" y="27769"/>
                    <a:pt x="27769" y="0"/>
                    <a:pt x="62024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76606" cy="110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Recapitulando...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13701" y="4259876"/>
            <a:ext cx="9660597" cy="93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</a:t>
            </a:r>
            <a:r>
              <a:rPr lang="en-US" b="true" sz="269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mana passada, usamos a analogia da caixa com uma etiqueta para ilustrar esse conceito.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099885" y="6104713"/>
            <a:ext cx="4088231" cy="3331561"/>
            <a:chOff x="0" y="0"/>
            <a:chExt cx="900456" cy="7337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0456" cy="733795"/>
            </a:xfrm>
            <a:custGeom>
              <a:avLst/>
              <a:gdLst/>
              <a:ahLst/>
              <a:cxnLst/>
              <a:rect r="r" b="b" t="t" l="l"/>
              <a:pathLst>
                <a:path h="733795" w="900456">
                  <a:moveTo>
                    <a:pt x="96579" y="0"/>
                  </a:moveTo>
                  <a:lnTo>
                    <a:pt x="803877" y="0"/>
                  </a:lnTo>
                  <a:cubicBezTo>
                    <a:pt x="829491" y="0"/>
                    <a:pt x="854056" y="10175"/>
                    <a:pt x="872168" y="28287"/>
                  </a:cubicBezTo>
                  <a:cubicBezTo>
                    <a:pt x="890281" y="46399"/>
                    <a:pt x="900456" y="70965"/>
                    <a:pt x="900456" y="96579"/>
                  </a:cubicBezTo>
                  <a:lnTo>
                    <a:pt x="900456" y="637216"/>
                  </a:lnTo>
                  <a:cubicBezTo>
                    <a:pt x="900456" y="662830"/>
                    <a:pt x="890281" y="687396"/>
                    <a:pt x="872168" y="705508"/>
                  </a:cubicBezTo>
                  <a:cubicBezTo>
                    <a:pt x="854056" y="723620"/>
                    <a:pt x="829491" y="733795"/>
                    <a:pt x="803877" y="733795"/>
                  </a:cubicBezTo>
                  <a:lnTo>
                    <a:pt x="96579" y="733795"/>
                  </a:lnTo>
                  <a:cubicBezTo>
                    <a:pt x="70965" y="733795"/>
                    <a:pt x="46399" y="723620"/>
                    <a:pt x="28287" y="705508"/>
                  </a:cubicBezTo>
                  <a:cubicBezTo>
                    <a:pt x="10175" y="687396"/>
                    <a:pt x="0" y="662830"/>
                    <a:pt x="0" y="637216"/>
                  </a:cubicBezTo>
                  <a:lnTo>
                    <a:pt x="0" y="96579"/>
                  </a:lnTo>
                  <a:cubicBezTo>
                    <a:pt x="0" y="70965"/>
                    <a:pt x="10175" y="46399"/>
                    <a:pt x="28287" y="28287"/>
                  </a:cubicBezTo>
                  <a:cubicBezTo>
                    <a:pt x="46399" y="10175"/>
                    <a:pt x="70965" y="0"/>
                    <a:pt x="96579" y="0"/>
                  </a:cubicBezTo>
                  <a:close/>
                </a:path>
              </a:pathLst>
            </a:custGeom>
            <a:solidFill>
              <a:srgbClr val="36699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00456" cy="771895"/>
            </a:xfrm>
            <a:prstGeom prst="rect">
              <a:avLst/>
            </a:prstGeom>
          </p:spPr>
          <p:txBody>
            <a:bodyPr anchor="ctr" rtlCol="false" tIns="60745" lIns="60745" bIns="60745" rIns="6074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792403" y="6245638"/>
            <a:ext cx="2779243" cy="2968484"/>
            <a:chOff x="0" y="0"/>
            <a:chExt cx="3705657" cy="39579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05657" cy="3957978"/>
            </a:xfrm>
            <a:custGeom>
              <a:avLst/>
              <a:gdLst/>
              <a:ahLst/>
              <a:cxnLst/>
              <a:rect r="r" b="b" t="t" l="l"/>
              <a:pathLst>
                <a:path h="3957978" w="3705657">
                  <a:moveTo>
                    <a:pt x="0" y="0"/>
                  </a:moveTo>
                  <a:lnTo>
                    <a:pt x="3705657" y="0"/>
                  </a:lnTo>
                  <a:lnTo>
                    <a:pt x="3705657" y="3957978"/>
                  </a:lnTo>
                  <a:lnTo>
                    <a:pt x="0" y="3957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213544" y="64737"/>
              <a:ext cx="1177171" cy="492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0"/>
                </a:lnSpc>
                <a:spcBef>
                  <a:spcPct val="0"/>
                </a:spcBef>
              </a:pPr>
              <a:r>
                <a:rPr lang="en-US" b="true" sz="2271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282037" y="1494827"/>
              <a:ext cx="1040184" cy="1108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4"/>
                </a:lnSpc>
                <a:spcBef>
                  <a:spcPct val="0"/>
                </a:spcBef>
              </a:pPr>
              <a:r>
                <a:rPr lang="en-US" sz="5017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13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511" t="-123567" r="-70535" b="-427893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57156" y="1660764"/>
            <a:ext cx="12573687" cy="2698122"/>
            <a:chOff x="0" y="0"/>
            <a:chExt cx="3311588" cy="710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1589" cy="710616"/>
            </a:xfrm>
            <a:custGeom>
              <a:avLst/>
              <a:gdLst/>
              <a:ahLst/>
              <a:cxnLst/>
              <a:rect r="r" b="b" t="t" l="l"/>
              <a:pathLst>
                <a:path h="710616" w="3311589">
                  <a:moveTo>
                    <a:pt x="31402" y="0"/>
                  </a:moveTo>
                  <a:lnTo>
                    <a:pt x="3280187" y="0"/>
                  </a:lnTo>
                  <a:cubicBezTo>
                    <a:pt x="3297529" y="0"/>
                    <a:pt x="3311589" y="14059"/>
                    <a:pt x="3311589" y="31402"/>
                  </a:cubicBezTo>
                  <a:lnTo>
                    <a:pt x="3311589" y="679215"/>
                  </a:lnTo>
                  <a:cubicBezTo>
                    <a:pt x="3311589" y="687543"/>
                    <a:pt x="3308280" y="695530"/>
                    <a:pt x="3302391" y="701419"/>
                  </a:cubicBezTo>
                  <a:cubicBezTo>
                    <a:pt x="3296502" y="707308"/>
                    <a:pt x="3288515" y="710616"/>
                    <a:pt x="3280187" y="710616"/>
                  </a:cubicBezTo>
                  <a:lnTo>
                    <a:pt x="31402" y="710616"/>
                  </a:lnTo>
                  <a:cubicBezTo>
                    <a:pt x="23074" y="710616"/>
                    <a:pt x="15086" y="707308"/>
                    <a:pt x="9197" y="701419"/>
                  </a:cubicBezTo>
                  <a:cubicBezTo>
                    <a:pt x="3308" y="695530"/>
                    <a:pt x="0" y="687543"/>
                    <a:pt x="0" y="679215"/>
                  </a:cubicBezTo>
                  <a:lnTo>
                    <a:pt x="0" y="31402"/>
                  </a:lnTo>
                  <a:cubicBezTo>
                    <a:pt x="0" y="23074"/>
                    <a:pt x="3308" y="15086"/>
                    <a:pt x="9197" y="9197"/>
                  </a:cubicBezTo>
                  <a:cubicBezTo>
                    <a:pt x="15086" y="3308"/>
                    <a:pt x="23074" y="0"/>
                    <a:pt x="3140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11588" cy="748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812622" y="4039214"/>
            <a:ext cx="4662756" cy="5958793"/>
          </a:xfrm>
          <a:custGeom>
            <a:avLst/>
            <a:gdLst/>
            <a:ahLst/>
            <a:cxnLst/>
            <a:rect r="r" b="b" t="t" l="l"/>
            <a:pathLst>
              <a:path h="5958793" w="4662756">
                <a:moveTo>
                  <a:pt x="0" y="0"/>
                </a:moveTo>
                <a:lnTo>
                  <a:pt x="4662756" y="0"/>
                </a:lnTo>
                <a:lnTo>
                  <a:pt x="4662756" y="5958793"/>
                </a:lnTo>
                <a:lnTo>
                  <a:pt x="0" y="5958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91891" y="1991339"/>
            <a:ext cx="10904218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Quando criamos uma variável em um programa, 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computador precisa guardar esse valor em sua memória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memória do computador é como uma grande estante cheia de espaços numerados. Cada espaço pode guardar uma informação.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7115" y="368840"/>
            <a:ext cx="14713770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Dentro do computador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355205" y="4147545"/>
            <a:ext cx="1577590" cy="1685009"/>
            <a:chOff x="0" y="0"/>
            <a:chExt cx="2103453" cy="22466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453" cy="2246679"/>
            </a:xfrm>
            <a:custGeom>
              <a:avLst/>
              <a:gdLst/>
              <a:ahLst/>
              <a:cxnLst/>
              <a:rect r="r" b="b" t="t" l="l"/>
              <a:pathLst>
                <a:path h="2246679" w="2103453">
                  <a:moveTo>
                    <a:pt x="0" y="0"/>
                  </a:moveTo>
                  <a:lnTo>
                    <a:pt x="2103453" y="0"/>
                  </a:lnTo>
                  <a:lnTo>
                    <a:pt x="2103453" y="2246679"/>
                  </a:lnTo>
                  <a:lnTo>
                    <a:pt x="0" y="2246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688847" y="29799"/>
              <a:ext cx="668201" cy="286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5"/>
                </a:lnSpc>
                <a:spcBef>
                  <a:spcPct val="0"/>
                </a:spcBef>
              </a:pPr>
              <a:r>
                <a:rPr lang="en-US" b="true" sz="128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27727" y="854955"/>
              <a:ext cx="590443" cy="622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87"/>
                </a:lnSpc>
                <a:spcBef>
                  <a:spcPct val="0"/>
                </a:spcBef>
              </a:pPr>
              <a:r>
                <a:rPr lang="en-US" sz="2848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13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931721" y="5968947"/>
            <a:ext cx="2424559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Prateleira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31721" y="7754559"/>
            <a:ext cx="2424559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Prateleira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31721" y="9559221"/>
            <a:ext cx="2424559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Prateleira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1909760"/>
            <a:ext cx="8229705" cy="7882761"/>
            <a:chOff x="0" y="0"/>
            <a:chExt cx="2167494" cy="20761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7494" cy="2076118"/>
            </a:xfrm>
            <a:custGeom>
              <a:avLst/>
              <a:gdLst/>
              <a:ahLst/>
              <a:cxnLst/>
              <a:rect r="r" b="b" t="t" l="l"/>
              <a:pathLst>
                <a:path h="2076118" w="2167494">
                  <a:moveTo>
                    <a:pt x="47977" y="0"/>
                  </a:moveTo>
                  <a:lnTo>
                    <a:pt x="2119517" y="0"/>
                  </a:lnTo>
                  <a:cubicBezTo>
                    <a:pt x="2132241" y="0"/>
                    <a:pt x="2144445" y="5055"/>
                    <a:pt x="2153442" y="14052"/>
                  </a:cubicBezTo>
                  <a:cubicBezTo>
                    <a:pt x="2162440" y="23050"/>
                    <a:pt x="2167494" y="35253"/>
                    <a:pt x="2167494" y="47977"/>
                  </a:cubicBezTo>
                  <a:lnTo>
                    <a:pt x="2167494" y="2028141"/>
                  </a:lnTo>
                  <a:cubicBezTo>
                    <a:pt x="2167494" y="2040865"/>
                    <a:pt x="2162440" y="2053068"/>
                    <a:pt x="2153442" y="2062066"/>
                  </a:cubicBezTo>
                  <a:cubicBezTo>
                    <a:pt x="2144445" y="2071063"/>
                    <a:pt x="2132241" y="2076118"/>
                    <a:pt x="2119517" y="2076118"/>
                  </a:cubicBezTo>
                  <a:lnTo>
                    <a:pt x="47977" y="2076118"/>
                  </a:lnTo>
                  <a:cubicBezTo>
                    <a:pt x="35253" y="2076118"/>
                    <a:pt x="23050" y="2071063"/>
                    <a:pt x="14052" y="2062066"/>
                  </a:cubicBezTo>
                  <a:cubicBezTo>
                    <a:pt x="5055" y="2053068"/>
                    <a:pt x="0" y="2040865"/>
                    <a:pt x="0" y="2028141"/>
                  </a:cubicBezTo>
                  <a:lnTo>
                    <a:pt x="0" y="47977"/>
                  </a:lnTo>
                  <a:cubicBezTo>
                    <a:pt x="0" y="35253"/>
                    <a:pt x="5055" y="23050"/>
                    <a:pt x="14052" y="14052"/>
                  </a:cubicBezTo>
                  <a:cubicBezTo>
                    <a:pt x="23050" y="5055"/>
                    <a:pt x="35253" y="0"/>
                    <a:pt x="47977" y="0"/>
                  </a:cubicBezTo>
                  <a:close/>
                </a:path>
              </a:pathLst>
            </a:custGeom>
            <a:solidFill>
              <a:srgbClr val="E7EDE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67494" cy="211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3261530" y="2694552"/>
          <a:ext cx="4226010" cy="3264355"/>
        </p:xfrm>
        <a:graphic>
          <a:graphicData uri="http://schemas.openxmlformats.org/drawingml/2006/table">
            <a:tbl>
              <a:tblPr/>
              <a:tblGrid>
                <a:gridCol w="1651027"/>
              </a:tblGrid>
              <a:tr h="16659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86"/>
                        </a:lnSpc>
                        <a:defRPr/>
                      </a:pPr>
                      <a:endParaRPr lang="en-US" sz="1100"/>
                    </a:p>
                  </a:txBody>
                  <a:tcPr marL="228177" marR="228177" marT="228177" marB="228177" anchor="ctr">
                    <a:lnL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84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endParaRPr lang="en-US" sz="1100"/>
                    </a:p>
                  </a:txBody>
                  <a:tcPr marL="228177" marR="228177" marT="228177" marB="228177" anchor="ctr">
                    <a:lnL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3261530" y="6532957"/>
          <a:ext cx="4226010" cy="3264355"/>
        </p:xfrm>
        <a:graphic>
          <a:graphicData uri="http://schemas.openxmlformats.org/drawingml/2006/table">
            <a:tbl>
              <a:tblPr/>
              <a:tblGrid>
                <a:gridCol w="1651027"/>
              </a:tblGrid>
              <a:tr h="16659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86"/>
                        </a:lnSpc>
                        <a:defRPr/>
                      </a:pPr>
                      <a:endParaRPr lang="en-US" sz="1100"/>
                    </a:p>
                  </a:txBody>
                  <a:tcPr marL="228177" marR="228177" marT="228177" marB="228177" anchor="ctr">
                    <a:lnL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84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22"/>
                        </a:lnSpc>
                        <a:defRPr/>
                      </a:pPr>
                      <a:endParaRPr lang="en-US" sz="1100"/>
                    </a:p>
                  </a:txBody>
                  <a:tcPr marL="228177" marR="228177" marT="228177" marB="228177" anchor="ctr">
                    <a:lnL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4661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5398332">
            <a:off x="14898973" y="5371888"/>
            <a:ext cx="966058" cy="120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3"/>
              </a:lnSpc>
            </a:pPr>
            <a:r>
              <a:rPr lang="en-US" sz="705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...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8966" y="2444239"/>
            <a:ext cx="7405850" cy="1503062"/>
            <a:chOff x="0" y="0"/>
            <a:chExt cx="1950512" cy="3958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0512" cy="395868"/>
            </a:xfrm>
            <a:custGeom>
              <a:avLst/>
              <a:gdLst/>
              <a:ahLst/>
              <a:cxnLst/>
              <a:rect r="r" b="b" t="t" l="l"/>
              <a:pathLst>
                <a:path h="395868" w="1950512">
                  <a:moveTo>
                    <a:pt x="53314" y="0"/>
                  </a:moveTo>
                  <a:lnTo>
                    <a:pt x="1897197" y="0"/>
                  </a:lnTo>
                  <a:cubicBezTo>
                    <a:pt x="1911337" y="0"/>
                    <a:pt x="1924898" y="5617"/>
                    <a:pt x="1934896" y="15615"/>
                  </a:cubicBezTo>
                  <a:cubicBezTo>
                    <a:pt x="1944895" y="25614"/>
                    <a:pt x="1950512" y="39174"/>
                    <a:pt x="1950512" y="53314"/>
                  </a:cubicBezTo>
                  <a:lnTo>
                    <a:pt x="1950512" y="342554"/>
                  </a:lnTo>
                  <a:cubicBezTo>
                    <a:pt x="1950512" y="371999"/>
                    <a:pt x="1926642" y="395868"/>
                    <a:pt x="1897197" y="395868"/>
                  </a:cubicBezTo>
                  <a:lnTo>
                    <a:pt x="53314" y="395868"/>
                  </a:lnTo>
                  <a:cubicBezTo>
                    <a:pt x="23870" y="395868"/>
                    <a:pt x="0" y="371999"/>
                    <a:pt x="0" y="342554"/>
                  </a:cubicBezTo>
                  <a:lnTo>
                    <a:pt x="0" y="53314"/>
                  </a:lnTo>
                  <a:cubicBezTo>
                    <a:pt x="0" y="23870"/>
                    <a:pt x="23870" y="0"/>
                    <a:pt x="53314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50512" cy="433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1934465"/>
            <a:ext cx="6612727" cy="1019549"/>
            <a:chOff x="0" y="0"/>
            <a:chExt cx="8816970" cy="135939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816970" cy="1359399"/>
              <a:chOff x="0" y="0"/>
              <a:chExt cx="1916904" cy="29554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6904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1916904">
                    <a:moveTo>
                      <a:pt x="59709" y="0"/>
                    </a:moveTo>
                    <a:lnTo>
                      <a:pt x="1857196" y="0"/>
                    </a:lnTo>
                    <a:cubicBezTo>
                      <a:pt x="1873031" y="0"/>
                      <a:pt x="1888218" y="6291"/>
                      <a:pt x="1899416" y="17488"/>
                    </a:cubicBezTo>
                    <a:cubicBezTo>
                      <a:pt x="1910614" y="28686"/>
                      <a:pt x="1916904" y="43873"/>
                      <a:pt x="1916904" y="59709"/>
                    </a:cubicBezTo>
                    <a:lnTo>
                      <a:pt x="1916904" y="235839"/>
                    </a:lnTo>
                    <a:cubicBezTo>
                      <a:pt x="1916904" y="251675"/>
                      <a:pt x="1910614" y="266862"/>
                      <a:pt x="1899416" y="278060"/>
                    </a:cubicBezTo>
                    <a:cubicBezTo>
                      <a:pt x="1888218" y="289257"/>
                      <a:pt x="1873031" y="295548"/>
                      <a:pt x="1857196" y="295548"/>
                    </a:cubicBezTo>
                    <a:lnTo>
                      <a:pt x="59709" y="295548"/>
                    </a:lnTo>
                    <a:cubicBezTo>
                      <a:pt x="43873" y="295548"/>
                      <a:pt x="28686" y="289257"/>
                      <a:pt x="17488" y="278060"/>
                    </a:cubicBezTo>
                    <a:cubicBezTo>
                      <a:pt x="6291" y="266862"/>
                      <a:pt x="0" y="251675"/>
                      <a:pt x="0" y="235839"/>
                    </a:cubicBezTo>
                    <a:lnTo>
                      <a:pt x="0" y="59709"/>
                    </a:lnTo>
                    <a:cubicBezTo>
                      <a:pt x="0" y="43873"/>
                      <a:pt x="6291" y="28686"/>
                      <a:pt x="17488" y="17488"/>
                    </a:cubicBezTo>
                    <a:cubicBezTo>
                      <a:pt x="28686" y="6291"/>
                      <a:pt x="43873" y="0"/>
                      <a:pt x="5970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916904" cy="3336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9092" y="314885"/>
              <a:ext cx="8393297" cy="563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3"/>
                </a:lnSpc>
                <a:spcBef>
                  <a:spcPct val="0"/>
                </a:spcBef>
              </a:pPr>
              <a:r>
                <a:rPr lang="en-US" b="true" sz="2761" spc="-165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Por exemplo, quando escrevemos: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80882" y="3151731"/>
            <a:ext cx="3001009" cy="52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7"/>
              </a:lnSpc>
              <a:spcBef>
                <a:spcPct val="0"/>
              </a:spcBef>
            </a:pPr>
            <a:r>
              <a:rPr lang="en-US" b="true" sz="3438" spc="-20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b="true" sz="3438" spc="-205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 </a:t>
            </a:r>
            <a:r>
              <a:rPr lang="en-US" b="true" sz="3438" spc="-205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13</a:t>
            </a:r>
            <a:r>
              <a:rPr lang="en-US" b="true" sz="3438" spc="-205">
                <a:solidFill>
                  <a:srgbClr val="387EB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    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990991" y="4625004"/>
            <a:ext cx="1388206" cy="360933"/>
          </a:xfrm>
          <a:custGeom>
            <a:avLst/>
            <a:gdLst/>
            <a:ahLst/>
            <a:cxnLst/>
            <a:rect r="r" b="b" t="t" l="l"/>
            <a:pathLst>
              <a:path h="360933" w="1388206">
                <a:moveTo>
                  <a:pt x="0" y="0"/>
                </a:moveTo>
                <a:lnTo>
                  <a:pt x="1388205" y="0"/>
                </a:lnTo>
                <a:lnTo>
                  <a:pt x="1388205" y="360933"/>
                </a:lnTo>
                <a:lnTo>
                  <a:pt x="0" y="360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1787115" y="368840"/>
            <a:ext cx="14713770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Dentro do computador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22519" y="4359634"/>
            <a:ext cx="606230" cy="64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17424" y="2005454"/>
            <a:ext cx="1616422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Conteúdo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25766" y="2005454"/>
            <a:ext cx="808286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50917" y="4396147"/>
            <a:ext cx="1515479" cy="64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78966" y="4010091"/>
            <a:ext cx="7405850" cy="5248209"/>
            <a:chOff x="0" y="0"/>
            <a:chExt cx="1950512" cy="13822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50512" cy="1382244"/>
            </a:xfrm>
            <a:custGeom>
              <a:avLst/>
              <a:gdLst/>
              <a:ahLst/>
              <a:cxnLst/>
              <a:rect r="r" b="b" t="t" l="l"/>
              <a:pathLst>
                <a:path h="1382244" w="1950512">
                  <a:moveTo>
                    <a:pt x="53314" y="0"/>
                  </a:moveTo>
                  <a:lnTo>
                    <a:pt x="1897197" y="0"/>
                  </a:lnTo>
                  <a:cubicBezTo>
                    <a:pt x="1911337" y="0"/>
                    <a:pt x="1924898" y="5617"/>
                    <a:pt x="1934896" y="15615"/>
                  </a:cubicBezTo>
                  <a:cubicBezTo>
                    <a:pt x="1944895" y="25614"/>
                    <a:pt x="1950512" y="39174"/>
                    <a:pt x="1950512" y="53314"/>
                  </a:cubicBezTo>
                  <a:lnTo>
                    <a:pt x="1950512" y="1328930"/>
                  </a:lnTo>
                  <a:cubicBezTo>
                    <a:pt x="1950512" y="1358375"/>
                    <a:pt x="1926642" y="1382244"/>
                    <a:pt x="1897197" y="1382244"/>
                  </a:cubicBezTo>
                  <a:lnTo>
                    <a:pt x="53314" y="1382244"/>
                  </a:lnTo>
                  <a:cubicBezTo>
                    <a:pt x="23870" y="1382244"/>
                    <a:pt x="0" y="1358375"/>
                    <a:pt x="0" y="1328930"/>
                  </a:cubicBezTo>
                  <a:lnTo>
                    <a:pt x="0" y="53314"/>
                  </a:lnTo>
                  <a:cubicBezTo>
                    <a:pt x="0" y="23870"/>
                    <a:pt x="23870" y="0"/>
                    <a:pt x="5331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950512" cy="1420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48903" y="4190558"/>
            <a:ext cx="6841002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computador reserva um espaço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nessa es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ta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nte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 guardar 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núm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ro 13. </a:t>
            </a:r>
          </a:p>
          <a:p>
            <a:pPr algn="l">
              <a:lnSpc>
                <a:spcPts val="3286"/>
              </a:lnSpc>
            </a:pPr>
          </a:p>
          <a:p>
            <a:pPr algn="l">
              <a:lnSpc>
                <a:spcPts val="3286"/>
              </a:lnSpc>
            </a:pP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Depoi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, el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 a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ta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 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me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“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</a:t>
            </a:r>
            <a:r>
              <a:rPr lang="en-US" b="true" sz="2739" spc="-161" u="non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de”</a:t>
            </a:r>
            <a:r>
              <a:rPr lang="en-US" sz="2739" spc="-161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está ligado àquele espaço.</a:t>
            </a:r>
          </a:p>
          <a:p>
            <a:pPr algn="l">
              <a:lnSpc>
                <a:spcPts val="3286"/>
              </a:lnSpc>
            </a:pPr>
          </a:p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Assim, sempre que o programa precisar usar a variável “idade”, o computador vai direto ao espaço reservado e pega o valor que está lá dentro.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42430" y="2005454"/>
            <a:ext cx="1616422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Endereço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44133" y="3068636"/>
            <a:ext cx="221647" cy="52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44133" y="4464601"/>
            <a:ext cx="221647" cy="52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41196" y="7083954"/>
            <a:ext cx="1124584" cy="52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1023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41196" y="8187662"/>
            <a:ext cx="1124584" cy="52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1024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38291" y="1934132"/>
            <a:ext cx="12792552" cy="930531"/>
            <a:chOff x="0" y="0"/>
            <a:chExt cx="3369232" cy="2450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69232" cy="245078"/>
            </a:xfrm>
            <a:custGeom>
              <a:avLst/>
              <a:gdLst/>
              <a:ahLst/>
              <a:cxnLst/>
              <a:rect r="r" b="b" t="t" l="l"/>
              <a:pathLst>
                <a:path h="245078" w="3369232">
                  <a:moveTo>
                    <a:pt x="30865" y="0"/>
                  </a:moveTo>
                  <a:lnTo>
                    <a:pt x="3338367" y="0"/>
                  </a:lnTo>
                  <a:cubicBezTo>
                    <a:pt x="3346553" y="0"/>
                    <a:pt x="3354404" y="3252"/>
                    <a:pt x="3360192" y="9040"/>
                  </a:cubicBezTo>
                  <a:cubicBezTo>
                    <a:pt x="3365980" y="14828"/>
                    <a:pt x="3369232" y="22679"/>
                    <a:pt x="3369232" y="30865"/>
                  </a:cubicBezTo>
                  <a:lnTo>
                    <a:pt x="3369232" y="214213"/>
                  </a:lnTo>
                  <a:cubicBezTo>
                    <a:pt x="3369232" y="222399"/>
                    <a:pt x="3365980" y="230250"/>
                    <a:pt x="3360192" y="236038"/>
                  </a:cubicBezTo>
                  <a:cubicBezTo>
                    <a:pt x="3354404" y="241826"/>
                    <a:pt x="3346553" y="245078"/>
                    <a:pt x="3338367" y="245078"/>
                  </a:cubicBezTo>
                  <a:lnTo>
                    <a:pt x="30865" y="245078"/>
                  </a:lnTo>
                  <a:cubicBezTo>
                    <a:pt x="22679" y="245078"/>
                    <a:pt x="14828" y="241826"/>
                    <a:pt x="9040" y="236038"/>
                  </a:cubicBezTo>
                  <a:cubicBezTo>
                    <a:pt x="3252" y="230250"/>
                    <a:pt x="0" y="222399"/>
                    <a:pt x="0" y="214213"/>
                  </a:cubicBezTo>
                  <a:lnTo>
                    <a:pt x="0" y="30865"/>
                  </a:lnTo>
                  <a:cubicBezTo>
                    <a:pt x="0" y="22679"/>
                    <a:pt x="3252" y="14828"/>
                    <a:pt x="9040" y="9040"/>
                  </a:cubicBezTo>
                  <a:cubicBezTo>
                    <a:pt x="14828" y="3252"/>
                    <a:pt x="22679" y="0"/>
                    <a:pt x="30865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69232" cy="283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655464"/>
            <a:ext cx="7657999" cy="5449994"/>
            <a:chOff x="0" y="0"/>
            <a:chExt cx="1950512" cy="1388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512" cy="1388127"/>
            </a:xfrm>
            <a:custGeom>
              <a:avLst/>
              <a:gdLst/>
              <a:ahLst/>
              <a:cxnLst/>
              <a:rect r="r" b="b" t="t" l="l"/>
              <a:pathLst>
                <a:path h="1388127" w="1950512">
                  <a:moveTo>
                    <a:pt x="51559" y="0"/>
                  </a:moveTo>
                  <a:lnTo>
                    <a:pt x="1898953" y="0"/>
                  </a:lnTo>
                  <a:cubicBezTo>
                    <a:pt x="1912627" y="0"/>
                    <a:pt x="1925741" y="5432"/>
                    <a:pt x="1935411" y="15101"/>
                  </a:cubicBezTo>
                  <a:cubicBezTo>
                    <a:pt x="1945080" y="24770"/>
                    <a:pt x="1950512" y="37885"/>
                    <a:pt x="1950512" y="51559"/>
                  </a:cubicBezTo>
                  <a:lnTo>
                    <a:pt x="1950512" y="1336568"/>
                  </a:lnTo>
                  <a:cubicBezTo>
                    <a:pt x="1950512" y="1365044"/>
                    <a:pt x="1927428" y="1388127"/>
                    <a:pt x="1898953" y="1388127"/>
                  </a:cubicBezTo>
                  <a:lnTo>
                    <a:pt x="51559" y="1388127"/>
                  </a:lnTo>
                  <a:cubicBezTo>
                    <a:pt x="23084" y="1388127"/>
                    <a:pt x="0" y="1365044"/>
                    <a:pt x="0" y="1336568"/>
                  </a:cubicBezTo>
                  <a:lnTo>
                    <a:pt x="0" y="51559"/>
                  </a:lnTo>
                  <a:cubicBezTo>
                    <a:pt x="0" y="23084"/>
                    <a:pt x="23084" y="0"/>
                    <a:pt x="51559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50512" cy="1426227"/>
            </a:xfrm>
            <a:prstGeom prst="rect">
              <a:avLst/>
            </a:prstGeom>
          </p:spPr>
          <p:txBody>
            <a:bodyPr anchor="ctr" rtlCol="false" tIns="79581" lIns="79581" bIns="79581" rIns="7958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8291" y="3075282"/>
            <a:ext cx="4438816" cy="1160365"/>
            <a:chOff x="0" y="0"/>
            <a:chExt cx="5918421" cy="154715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918421" cy="1547154"/>
              <a:chOff x="0" y="0"/>
              <a:chExt cx="1130578" cy="2955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30578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1130578">
                    <a:moveTo>
                      <a:pt x="58715" y="0"/>
                    </a:moveTo>
                    <a:lnTo>
                      <a:pt x="1071863" y="0"/>
                    </a:lnTo>
                    <a:cubicBezTo>
                      <a:pt x="1104290" y="0"/>
                      <a:pt x="1130578" y="26287"/>
                      <a:pt x="1130578" y="58715"/>
                    </a:cubicBezTo>
                    <a:lnTo>
                      <a:pt x="1130578" y="236833"/>
                    </a:lnTo>
                    <a:cubicBezTo>
                      <a:pt x="1130578" y="269261"/>
                      <a:pt x="1104290" y="295548"/>
                      <a:pt x="1071863" y="295548"/>
                    </a:cubicBezTo>
                    <a:lnTo>
                      <a:pt x="58715" y="295548"/>
                    </a:lnTo>
                    <a:cubicBezTo>
                      <a:pt x="26287" y="295548"/>
                      <a:pt x="0" y="269261"/>
                      <a:pt x="0" y="236833"/>
                    </a:cubicBezTo>
                    <a:lnTo>
                      <a:pt x="0" y="58715"/>
                    </a:lnTo>
                    <a:cubicBezTo>
                      <a:pt x="0" y="26287"/>
                      <a:pt x="26287" y="0"/>
                      <a:pt x="5871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130578" cy="333648"/>
              </a:xfrm>
              <a:prstGeom prst="rect">
                <a:avLst/>
              </a:prstGeom>
            </p:spPr>
            <p:txBody>
              <a:bodyPr anchor="ctr" rtlCol="false" tIns="79581" lIns="79581" bIns="79581" rIns="7958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84658" y="405891"/>
              <a:ext cx="4349105" cy="73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91"/>
                </a:lnSpc>
                <a:spcBef>
                  <a:spcPct val="0"/>
                </a:spcBef>
              </a:pPr>
              <a:r>
                <a:rPr lang="en-US" b="true" sz="3659" spc="-21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Por exemplo: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06166" y="4624870"/>
            <a:ext cx="3228402" cy="657827"/>
            <a:chOff x="0" y="0"/>
            <a:chExt cx="2592611" cy="5282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92611" cy="528277"/>
            </a:xfrm>
            <a:custGeom>
              <a:avLst/>
              <a:gdLst/>
              <a:ahLst/>
              <a:cxnLst/>
              <a:rect r="r" b="b" t="t" l="l"/>
              <a:pathLst>
                <a:path h="528277" w="2592611">
                  <a:moveTo>
                    <a:pt x="2592611" y="264138"/>
                  </a:moveTo>
                  <a:lnTo>
                    <a:pt x="2186211" y="0"/>
                  </a:lnTo>
                  <a:lnTo>
                    <a:pt x="2186211" y="203200"/>
                  </a:lnTo>
                  <a:lnTo>
                    <a:pt x="0" y="203200"/>
                  </a:lnTo>
                  <a:lnTo>
                    <a:pt x="0" y="325077"/>
                  </a:lnTo>
                  <a:lnTo>
                    <a:pt x="2186211" y="325077"/>
                  </a:lnTo>
                  <a:lnTo>
                    <a:pt x="2186211" y="528277"/>
                  </a:lnTo>
                  <a:lnTo>
                    <a:pt x="2592611" y="264138"/>
                  </a:ln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65100"/>
              <a:ext cx="2491011" cy="159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450033" y="2194610"/>
            <a:ext cx="1138793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As variáveis podem guardar diferentes tipos de informações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Tipos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0648" y="4451522"/>
            <a:ext cx="6797520" cy="441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13</a:t>
            </a:r>
          </a:p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altura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1.65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“Maria”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  <a:spcBef>
                <a:spcPct val="0"/>
              </a:spcBef>
            </a:pPr>
            <a:r>
              <a:rPr lang="en-US" b="true" sz="3632" spc="-21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chovendo </a:t>
            </a:r>
            <a:r>
              <a:rPr lang="en-US" b="true" sz="3632" spc="-217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b="true" sz="3632" spc="-21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3632" spc="-217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True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01268" y="4235647"/>
            <a:ext cx="7244370" cy="5022653"/>
            <a:chOff x="0" y="0"/>
            <a:chExt cx="1845160" cy="12792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45159" cy="1279282"/>
            </a:xfrm>
            <a:custGeom>
              <a:avLst/>
              <a:gdLst/>
              <a:ahLst/>
              <a:cxnLst/>
              <a:rect r="r" b="b" t="t" l="l"/>
              <a:pathLst>
                <a:path h="1279282" w="1845159">
                  <a:moveTo>
                    <a:pt x="54503" y="0"/>
                  </a:moveTo>
                  <a:lnTo>
                    <a:pt x="1790657" y="0"/>
                  </a:lnTo>
                  <a:cubicBezTo>
                    <a:pt x="1820758" y="0"/>
                    <a:pt x="1845159" y="24402"/>
                    <a:pt x="1845159" y="54503"/>
                  </a:cubicBezTo>
                  <a:lnTo>
                    <a:pt x="1845159" y="1224780"/>
                  </a:lnTo>
                  <a:cubicBezTo>
                    <a:pt x="1845159" y="1254881"/>
                    <a:pt x="1820758" y="1279282"/>
                    <a:pt x="1790657" y="1279282"/>
                  </a:cubicBezTo>
                  <a:lnTo>
                    <a:pt x="54503" y="1279282"/>
                  </a:lnTo>
                  <a:cubicBezTo>
                    <a:pt x="24402" y="1279282"/>
                    <a:pt x="0" y="1254881"/>
                    <a:pt x="0" y="1224780"/>
                  </a:cubicBezTo>
                  <a:lnTo>
                    <a:pt x="0" y="54503"/>
                  </a:lnTo>
                  <a:cubicBezTo>
                    <a:pt x="0" y="24402"/>
                    <a:pt x="24402" y="0"/>
                    <a:pt x="54503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45160" cy="1317383"/>
            </a:xfrm>
            <a:prstGeom prst="rect">
              <a:avLst/>
            </a:prstGeom>
          </p:spPr>
          <p:txBody>
            <a:bodyPr anchor="ctr" rtlCol="false" tIns="52530" lIns="52530" bIns="52530" rIns="525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06141" y="4540065"/>
            <a:ext cx="6247650" cy="441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</a:pP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Tipos numéricos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</a:t>
            </a:r>
          </a:p>
          <a:p>
            <a:pPr algn="l" marL="790081" indent="-395040" lvl="1">
              <a:lnSpc>
                <a:spcPts val="4391"/>
              </a:lnSpc>
              <a:buFont typeface="Arial"/>
              <a:buChar char="•"/>
            </a:pPr>
            <a:r>
              <a:rPr lang="en-US" b="true" sz="3659" spc="-215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Representam números inteiros</a:t>
            </a:r>
          </a:p>
          <a:p>
            <a:pPr algn="l" marL="1580161" indent="-526720" lvl="2">
              <a:lnSpc>
                <a:spcPts val="4391"/>
              </a:lnSpc>
              <a:buFont typeface="Arial"/>
              <a:buChar char="⚬"/>
            </a:pP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b="true" sz="3659" spc="-215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13</a:t>
            </a:r>
          </a:p>
          <a:p>
            <a:pPr algn="l" marL="790081" indent="-395040" lvl="1">
              <a:lnSpc>
                <a:spcPts val="4391"/>
              </a:lnSpc>
              <a:buFont typeface="Arial"/>
              <a:buChar char="•"/>
            </a:pPr>
            <a:r>
              <a:rPr lang="en-US" b="true" sz="3659" spc="-215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float</a:t>
            </a: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Representam números com casas decimais</a:t>
            </a:r>
          </a:p>
          <a:p>
            <a:pPr algn="l" marL="1580161" indent="-526720" lvl="2">
              <a:lnSpc>
                <a:spcPts val="4391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altura </a:t>
            </a:r>
            <a:r>
              <a:rPr lang="en-US" b="true" sz="3659" spc="-219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1.65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38291" y="1934132"/>
            <a:ext cx="12792552" cy="930531"/>
            <a:chOff x="0" y="0"/>
            <a:chExt cx="3369232" cy="2450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69232" cy="245078"/>
            </a:xfrm>
            <a:custGeom>
              <a:avLst/>
              <a:gdLst/>
              <a:ahLst/>
              <a:cxnLst/>
              <a:rect r="r" b="b" t="t" l="l"/>
              <a:pathLst>
                <a:path h="245078" w="3369232">
                  <a:moveTo>
                    <a:pt x="30865" y="0"/>
                  </a:moveTo>
                  <a:lnTo>
                    <a:pt x="3338367" y="0"/>
                  </a:lnTo>
                  <a:cubicBezTo>
                    <a:pt x="3346553" y="0"/>
                    <a:pt x="3354404" y="3252"/>
                    <a:pt x="3360192" y="9040"/>
                  </a:cubicBezTo>
                  <a:cubicBezTo>
                    <a:pt x="3365980" y="14828"/>
                    <a:pt x="3369232" y="22679"/>
                    <a:pt x="3369232" y="30865"/>
                  </a:cubicBezTo>
                  <a:lnTo>
                    <a:pt x="3369232" y="214213"/>
                  </a:lnTo>
                  <a:cubicBezTo>
                    <a:pt x="3369232" y="222399"/>
                    <a:pt x="3365980" y="230250"/>
                    <a:pt x="3360192" y="236038"/>
                  </a:cubicBezTo>
                  <a:cubicBezTo>
                    <a:pt x="3354404" y="241826"/>
                    <a:pt x="3346553" y="245078"/>
                    <a:pt x="3338367" y="245078"/>
                  </a:cubicBezTo>
                  <a:lnTo>
                    <a:pt x="30865" y="245078"/>
                  </a:lnTo>
                  <a:cubicBezTo>
                    <a:pt x="22679" y="245078"/>
                    <a:pt x="14828" y="241826"/>
                    <a:pt x="9040" y="236038"/>
                  </a:cubicBezTo>
                  <a:cubicBezTo>
                    <a:pt x="3252" y="230250"/>
                    <a:pt x="0" y="222399"/>
                    <a:pt x="0" y="214213"/>
                  </a:cubicBezTo>
                  <a:lnTo>
                    <a:pt x="0" y="30865"/>
                  </a:lnTo>
                  <a:cubicBezTo>
                    <a:pt x="0" y="22679"/>
                    <a:pt x="3252" y="14828"/>
                    <a:pt x="9040" y="9040"/>
                  </a:cubicBezTo>
                  <a:cubicBezTo>
                    <a:pt x="14828" y="3252"/>
                    <a:pt x="22679" y="0"/>
                    <a:pt x="30865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69232" cy="283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655464"/>
            <a:ext cx="7657999" cy="5449994"/>
            <a:chOff x="0" y="0"/>
            <a:chExt cx="1950512" cy="1388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512" cy="1388127"/>
            </a:xfrm>
            <a:custGeom>
              <a:avLst/>
              <a:gdLst/>
              <a:ahLst/>
              <a:cxnLst/>
              <a:rect r="r" b="b" t="t" l="l"/>
              <a:pathLst>
                <a:path h="1388127" w="1950512">
                  <a:moveTo>
                    <a:pt x="51559" y="0"/>
                  </a:moveTo>
                  <a:lnTo>
                    <a:pt x="1898953" y="0"/>
                  </a:lnTo>
                  <a:cubicBezTo>
                    <a:pt x="1912627" y="0"/>
                    <a:pt x="1925741" y="5432"/>
                    <a:pt x="1935411" y="15101"/>
                  </a:cubicBezTo>
                  <a:cubicBezTo>
                    <a:pt x="1945080" y="24770"/>
                    <a:pt x="1950512" y="37885"/>
                    <a:pt x="1950512" y="51559"/>
                  </a:cubicBezTo>
                  <a:lnTo>
                    <a:pt x="1950512" y="1336568"/>
                  </a:lnTo>
                  <a:cubicBezTo>
                    <a:pt x="1950512" y="1365044"/>
                    <a:pt x="1927428" y="1388127"/>
                    <a:pt x="1898953" y="1388127"/>
                  </a:cubicBezTo>
                  <a:lnTo>
                    <a:pt x="51559" y="1388127"/>
                  </a:lnTo>
                  <a:cubicBezTo>
                    <a:pt x="23084" y="1388127"/>
                    <a:pt x="0" y="1365044"/>
                    <a:pt x="0" y="1336568"/>
                  </a:cubicBezTo>
                  <a:lnTo>
                    <a:pt x="0" y="51559"/>
                  </a:lnTo>
                  <a:cubicBezTo>
                    <a:pt x="0" y="23084"/>
                    <a:pt x="23084" y="0"/>
                    <a:pt x="51559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50512" cy="1426227"/>
            </a:xfrm>
            <a:prstGeom prst="rect">
              <a:avLst/>
            </a:prstGeom>
          </p:spPr>
          <p:txBody>
            <a:bodyPr anchor="ctr" rtlCol="false" tIns="79581" lIns="79581" bIns="79581" rIns="7958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8291" y="3075282"/>
            <a:ext cx="4438816" cy="1160365"/>
            <a:chOff x="0" y="0"/>
            <a:chExt cx="5918421" cy="154715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918421" cy="1547154"/>
              <a:chOff x="0" y="0"/>
              <a:chExt cx="1130578" cy="2955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30578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1130578">
                    <a:moveTo>
                      <a:pt x="58715" y="0"/>
                    </a:moveTo>
                    <a:lnTo>
                      <a:pt x="1071863" y="0"/>
                    </a:lnTo>
                    <a:cubicBezTo>
                      <a:pt x="1104290" y="0"/>
                      <a:pt x="1130578" y="26287"/>
                      <a:pt x="1130578" y="58715"/>
                    </a:cubicBezTo>
                    <a:lnTo>
                      <a:pt x="1130578" y="236833"/>
                    </a:lnTo>
                    <a:cubicBezTo>
                      <a:pt x="1130578" y="269261"/>
                      <a:pt x="1104290" y="295548"/>
                      <a:pt x="1071863" y="295548"/>
                    </a:cubicBezTo>
                    <a:lnTo>
                      <a:pt x="58715" y="295548"/>
                    </a:lnTo>
                    <a:cubicBezTo>
                      <a:pt x="26287" y="295548"/>
                      <a:pt x="0" y="269261"/>
                      <a:pt x="0" y="236833"/>
                    </a:cubicBezTo>
                    <a:lnTo>
                      <a:pt x="0" y="58715"/>
                    </a:lnTo>
                    <a:cubicBezTo>
                      <a:pt x="0" y="26287"/>
                      <a:pt x="26287" y="0"/>
                      <a:pt x="5871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130578" cy="333648"/>
              </a:xfrm>
              <a:prstGeom prst="rect">
                <a:avLst/>
              </a:prstGeom>
            </p:spPr>
            <p:txBody>
              <a:bodyPr anchor="ctr" rtlCol="false" tIns="79581" lIns="79581" bIns="79581" rIns="7958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84658" y="405891"/>
              <a:ext cx="4349105" cy="73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91"/>
                </a:lnSpc>
                <a:spcBef>
                  <a:spcPct val="0"/>
                </a:spcBef>
              </a:pPr>
              <a:r>
                <a:rPr lang="en-US" b="true" sz="3659" spc="-21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Por exemplo: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50033" y="2194610"/>
            <a:ext cx="1138793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As variáveis podem guardar diferentes tipos de informações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Tipos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0648" y="4451522"/>
            <a:ext cx="6797520" cy="441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13</a:t>
            </a:r>
          </a:p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altura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1.65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“Maria”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  <a:spcBef>
                <a:spcPct val="0"/>
              </a:spcBef>
            </a:pPr>
            <a:r>
              <a:rPr lang="en-US" b="true" sz="3632" spc="-21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chovendo </a:t>
            </a:r>
            <a:r>
              <a:rPr lang="en-US" b="true" sz="3632" spc="-217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b="true" sz="3632" spc="-21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3632" spc="-217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True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06166" y="6622990"/>
            <a:ext cx="3228402" cy="657827"/>
            <a:chOff x="0" y="0"/>
            <a:chExt cx="2592611" cy="5282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92611" cy="528277"/>
            </a:xfrm>
            <a:custGeom>
              <a:avLst/>
              <a:gdLst/>
              <a:ahLst/>
              <a:cxnLst/>
              <a:rect r="r" b="b" t="t" l="l"/>
              <a:pathLst>
                <a:path h="528277" w="2592611">
                  <a:moveTo>
                    <a:pt x="2592611" y="264138"/>
                  </a:moveTo>
                  <a:lnTo>
                    <a:pt x="2186211" y="0"/>
                  </a:lnTo>
                  <a:lnTo>
                    <a:pt x="2186211" y="203200"/>
                  </a:lnTo>
                  <a:lnTo>
                    <a:pt x="0" y="203200"/>
                  </a:lnTo>
                  <a:lnTo>
                    <a:pt x="0" y="325077"/>
                  </a:lnTo>
                  <a:lnTo>
                    <a:pt x="2186211" y="325077"/>
                  </a:lnTo>
                  <a:lnTo>
                    <a:pt x="2186211" y="528277"/>
                  </a:lnTo>
                  <a:lnTo>
                    <a:pt x="2592611" y="264138"/>
                  </a:ln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65100"/>
              <a:ext cx="2491011" cy="159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01268" y="4235647"/>
            <a:ext cx="7244370" cy="5460582"/>
            <a:chOff x="0" y="0"/>
            <a:chExt cx="1845160" cy="1390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45159" cy="1390824"/>
            </a:xfrm>
            <a:custGeom>
              <a:avLst/>
              <a:gdLst/>
              <a:ahLst/>
              <a:cxnLst/>
              <a:rect r="r" b="b" t="t" l="l"/>
              <a:pathLst>
                <a:path h="1390824" w="1845159">
                  <a:moveTo>
                    <a:pt x="54503" y="0"/>
                  </a:moveTo>
                  <a:lnTo>
                    <a:pt x="1790657" y="0"/>
                  </a:lnTo>
                  <a:cubicBezTo>
                    <a:pt x="1820758" y="0"/>
                    <a:pt x="1845159" y="24402"/>
                    <a:pt x="1845159" y="54503"/>
                  </a:cubicBezTo>
                  <a:lnTo>
                    <a:pt x="1845159" y="1336321"/>
                  </a:lnTo>
                  <a:cubicBezTo>
                    <a:pt x="1845159" y="1366422"/>
                    <a:pt x="1820758" y="1390824"/>
                    <a:pt x="1790657" y="1390824"/>
                  </a:cubicBezTo>
                  <a:lnTo>
                    <a:pt x="54503" y="1390824"/>
                  </a:lnTo>
                  <a:cubicBezTo>
                    <a:pt x="24402" y="1390824"/>
                    <a:pt x="0" y="1366422"/>
                    <a:pt x="0" y="1336321"/>
                  </a:cubicBezTo>
                  <a:lnTo>
                    <a:pt x="0" y="54503"/>
                  </a:lnTo>
                  <a:cubicBezTo>
                    <a:pt x="0" y="24402"/>
                    <a:pt x="24402" y="0"/>
                    <a:pt x="54503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45160" cy="1428924"/>
            </a:xfrm>
            <a:prstGeom prst="rect">
              <a:avLst/>
            </a:prstGeom>
          </p:spPr>
          <p:txBody>
            <a:bodyPr anchor="ctr" rtlCol="false" tIns="52530" lIns="52530" bIns="52530" rIns="525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06141" y="4540065"/>
            <a:ext cx="6247650" cy="497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</a:pP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Tipo de texto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</a:t>
            </a:r>
          </a:p>
          <a:p>
            <a:pPr algn="l" marL="790081" indent="-395040" lvl="1">
              <a:lnSpc>
                <a:spcPts val="4391"/>
              </a:lnSpc>
              <a:buFont typeface="Arial"/>
              <a:buChar char="•"/>
            </a:pPr>
            <a:r>
              <a:rPr lang="en-US" b="true" sz="3659" spc="-215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str</a:t>
            </a: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Representa sequências de caracteres. </a:t>
            </a: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São declaradas entre aspas simples ou duplas</a:t>
            </a:r>
          </a:p>
          <a:p>
            <a:pPr algn="l" marL="1580161" indent="-526720" lvl="2">
              <a:lnSpc>
                <a:spcPts val="4391"/>
              </a:lnSpc>
              <a:buFont typeface="Arial"/>
              <a:buChar char="⚬"/>
            </a:pP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 </a:t>
            </a:r>
            <a:r>
              <a:rPr lang="en-US" b="true" sz="3659" spc="-215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 </a:t>
            </a: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“Maria”</a:t>
            </a:r>
          </a:p>
          <a:p>
            <a:pPr algn="l" marL="1580161" indent="-526720" lvl="2">
              <a:lnSpc>
                <a:spcPts val="4391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 </a:t>
            </a:r>
            <a:r>
              <a:rPr lang="en-US" b="true" sz="3659" spc="-219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Maria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837967" y="8430651"/>
            <a:ext cx="6061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b="true" sz="3632" spc="-21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✅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71400" y="8959649"/>
            <a:ext cx="6061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b="true" sz="3632" spc="-21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❌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38291" y="1934132"/>
            <a:ext cx="12792552" cy="930531"/>
            <a:chOff x="0" y="0"/>
            <a:chExt cx="3369232" cy="2450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69232" cy="245078"/>
            </a:xfrm>
            <a:custGeom>
              <a:avLst/>
              <a:gdLst/>
              <a:ahLst/>
              <a:cxnLst/>
              <a:rect r="r" b="b" t="t" l="l"/>
              <a:pathLst>
                <a:path h="245078" w="3369232">
                  <a:moveTo>
                    <a:pt x="30865" y="0"/>
                  </a:moveTo>
                  <a:lnTo>
                    <a:pt x="3338367" y="0"/>
                  </a:lnTo>
                  <a:cubicBezTo>
                    <a:pt x="3346553" y="0"/>
                    <a:pt x="3354404" y="3252"/>
                    <a:pt x="3360192" y="9040"/>
                  </a:cubicBezTo>
                  <a:cubicBezTo>
                    <a:pt x="3365980" y="14828"/>
                    <a:pt x="3369232" y="22679"/>
                    <a:pt x="3369232" y="30865"/>
                  </a:cubicBezTo>
                  <a:lnTo>
                    <a:pt x="3369232" y="214213"/>
                  </a:lnTo>
                  <a:cubicBezTo>
                    <a:pt x="3369232" y="222399"/>
                    <a:pt x="3365980" y="230250"/>
                    <a:pt x="3360192" y="236038"/>
                  </a:cubicBezTo>
                  <a:cubicBezTo>
                    <a:pt x="3354404" y="241826"/>
                    <a:pt x="3346553" y="245078"/>
                    <a:pt x="3338367" y="245078"/>
                  </a:cubicBezTo>
                  <a:lnTo>
                    <a:pt x="30865" y="245078"/>
                  </a:lnTo>
                  <a:cubicBezTo>
                    <a:pt x="22679" y="245078"/>
                    <a:pt x="14828" y="241826"/>
                    <a:pt x="9040" y="236038"/>
                  </a:cubicBezTo>
                  <a:cubicBezTo>
                    <a:pt x="3252" y="230250"/>
                    <a:pt x="0" y="222399"/>
                    <a:pt x="0" y="214213"/>
                  </a:cubicBezTo>
                  <a:lnTo>
                    <a:pt x="0" y="30865"/>
                  </a:lnTo>
                  <a:cubicBezTo>
                    <a:pt x="0" y="22679"/>
                    <a:pt x="3252" y="14828"/>
                    <a:pt x="9040" y="9040"/>
                  </a:cubicBezTo>
                  <a:cubicBezTo>
                    <a:pt x="14828" y="3252"/>
                    <a:pt x="22679" y="0"/>
                    <a:pt x="30865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69232" cy="283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655464"/>
            <a:ext cx="7657999" cy="5449994"/>
            <a:chOff x="0" y="0"/>
            <a:chExt cx="1950512" cy="13881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512" cy="1388127"/>
            </a:xfrm>
            <a:custGeom>
              <a:avLst/>
              <a:gdLst/>
              <a:ahLst/>
              <a:cxnLst/>
              <a:rect r="r" b="b" t="t" l="l"/>
              <a:pathLst>
                <a:path h="1388127" w="1950512">
                  <a:moveTo>
                    <a:pt x="51559" y="0"/>
                  </a:moveTo>
                  <a:lnTo>
                    <a:pt x="1898953" y="0"/>
                  </a:lnTo>
                  <a:cubicBezTo>
                    <a:pt x="1912627" y="0"/>
                    <a:pt x="1925741" y="5432"/>
                    <a:pt x="1935411" y="15101"/>
                  </a:cubicBezTo>
                  <a:cubicBezTo>
                    <a:pt x="1945080" y="24770"/>
                    <a:pt x="1950512" y="37885"/>
                    <a:pt x="1950512" y="51559"/>
                  </a:cubicBezTo>
                  <a:lnTo>
                    <a:pt x="1950512" y="1336568"/>
                  </a:lnTo>
                  <a:cubicBezTo>
                    <a:pt x="1950512" y="1365044"/>
                    <a:pt x="1927428" y="1388127"/>
                    <a:pt x="1898953" y="1388127"/>
                  </a:cubicBezTo>
                  <a:lnTo>
                    <a:pt x="51559" y="1388127"/>
                  </a:lnTo>
                  <a:cubicBezTo>
                    <a:pt x="23084" y="1388127"/>
                    <a:pt x="0" y="1365044"/>
                    <a:pt x="0" y="1336568"/>
                  </a:cubicBezTo>
                  <a:lnTo>
                    <a:pt x="0" y="51559"/>
                  </a:lnTo>
                  <a:cubicBezTo>
                    <a:pt x="0" y="23084"/>
                    <a:pt x="23084" y="0"/>
                    <a:pt x="51559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50512" cy="1426227"/>
            </a:xfrm>
            <a:prstGeom prst="rect">
              <a:avLst/>
            </a:prstGeom>
          </p:spPr>
          <p:txBody>
            <a:bodyPr anchor="ctr" rtlCol="false" tIns="79581" lIns="79581" bIns="79581" rIns="7958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38291" y="3075282"/>
            <a:ext cx="4438816" cy="1160365"/>
            <a:chOff x="0" y="0"/>
            <a:chExt cx="5918421" cy="154715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918421" cy="1547154"/>
              <a:chOff x="0" y="0"/>
              <a:chExt cx="1130578" cy="2955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30578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1130578">
                    <a:moveTo>
                      <a:pt x="58715" y="0"/>
                    </a:moveTo>
                    <a:lnTo>
                      <a:pt x="1071863" y="0"/>
                    </a:lnTo>
                    <a:cubicBezTo>
                      <a:pt x="1104290" y="0"/>
                      <a:pt x="1130578" y="26287"/>
                      <a:pt x="1130578" y="58715"/>
                    </a:cubicBezTo>
                    <a:lnTo>
                      <a:pt x="1130578" y="236833"/>
                    </a:lnTo>
                    <a:cubicBezTo>
                      <a:pt x="1130578" y="269261"/>
                      <a:pt x="1104290" y="295548"/>
                      <a:pt x="1071863" y="295548"/>
                    </a:cubicBezTo>
                    <a:lnTo>
                      <a:pt x="58715" y="295548"/>
                    </a:lnTo>
                    <a:cubicBezTo>
                      <a:pt x="26287" y="295548"/>
                      <a:pt x="0" y="269261"/>
                      <a:pt x="0" y="236833"/>
                    </a:cubicBezTo>
                    <a:lnTo>
                      <a:pt x="0" y="58715"/>
                    </a:lnTo>
                    <a:cubicBezTo>
                      <a:pt x="0" y="26287"/>
                      <a:pt x="26287" y="0"/>
                      <a:pt x="5871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130578" cy="333648"/>
              </a:xfrm>
              <a:prstGeom prst="rect">
                <a:avLst/>
              </a:prstGeom>
            </p:spPr>
            <p:txBody>
              <a:bodyPr anchor="ctr" rtlCol="false" tIns="79581" lIns="79581" bIns="79581" rIns="7958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84658" y="405891"/>
              <a:ext cx="4349105" cy="73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91"/>
                </a:lnSpc>
                <a:spcBef>
                  <a:spcPct val="0"/>
                </a:spcBef>
              </a:pPr>
              <a:r>
                <a:rPr lang="en-US" b="true" sz="3659" spc="-21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Por exemplo: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50033" y="2194610"/>
            <a:ext cx="1138793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As variáveis podem guardar diferentes tipos de informações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Tipos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0648" y="4451522"/>
            <a:ext cx="6797520" cy="441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13</a:t>
            </a:r>
          </a:p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altura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1.65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“Maria”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  <a:spcBef>
                <a:spcPct val="0"/>
              </a:spcBef>
            </a:pPr>
            <a:r>
              <a:rPr lang="en-US" b="true" sz="3632" spc="-21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chovendo </a:t>
            </a:r>
            <a:r>
              <a:rPr lang="en-US" b="true" sz="3632" spc="-217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b="true" sz="3632" spc="-21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3632" spc="-217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True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06166" y="8213279"/>
            <a:ext cx="3228402" cy="657827"/>
            <a:chOff x="0" y="0"/>
            <a:chExt cx="2592611" cy="5282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92611" cy="528277"/>
            </a:xfrm>
            <a:custGeom>
              <a:avLst/>
              <a:gdLst/>
              <a:ahLst/>
              <a:cxnLst/>
              <a:rect r="r" b="b" t="t" l="l"/>
              <a:pathLst>
                <a:path h="528277" w="2592611">
                  <a:moveTo>
                    <a:pt x="2592611" y="264138"/>
                  </a:moveTo>
                  <a:lnTo>
                    <a:pt x="2186211" y="0"/>
                  </a:lnTo>
                  <a:lnTo>
                    <a:pt x="2186211" y="203200"/>
                  </a:lnTo>
                  <a:lnTo>
                    <a:pt x="0" y="203200"/>
                  </a:lnTo>
                  <a:lnTo>
                    <a:pt x="0" y="325077"/>
                  </a:lnTo>
                  <a:lnTo>
                    <a:pt x="2186211" y="325077"/>
                  </a:lnTo>
                  <a:lnTo>
                    <a:pt x="2186211" y="528277"/>
                  </a:lnTo>
                  <a:lnTo>
                    <a:pt x="2592611" y="264138"/>
                  </a:ln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65100"/>
              <a:ext cx="2491011" cy="159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01268" y="4235647"/>
            <a:ext cx="7244370" cy="5022653"/>
            <a:chOff x="0" y="0"/>
            <a:chExt cx="1845160" cy="12792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45159" cy="1279282"/>
            </a:xfrm>
            <a:custGeom>
              <a:avLst/>
              <a:gdLst/>
              <a:ahLst/>
              <a:cxnLst/>
              <a:rect r="r" b="b" t="t" l="l"/>
              <a:pathLst>
                <a:path h="1279282" w="1845159">
                  <a:moveTo>
                    <a:pt x="54503" y="0"/>
                  </a:moveTo>
                  <a:lnTo>
                    <a:pt x="1790657" y="0"/>
                  </a:lnTo>
                  <a:cubicBezTo>
                    <a:pt x="1820758" y="0"/>
                    <a:pt x="1845159" y="24402"/>
                    <a:pt x="1845159" y="54503"/>
                  </a:cubicBezTo>
                  <a:lnTo>
                    <a:pt x="1845159" y="1224780"/>
                  </a:lnTo>
                  <a:cubicBezTo>
                    <a:pt x="1845159" y="1254881"/>
                    <a:pt x="1820758" y="1279282"/>
                    <a:pt x="1790657" y="1279282"/>
                  </a:cubicBezTo>
                  <a:lnTo>
                    <a:pt x="54503" y="1279282"/>
                  </a:lnTo>
                  <a:cubicBezTo>
                    <a:pt x="24402" y="1279282"/>
                    <a:pt x="0" y="1254881"/>
                    <a:pt x="0" y="1224780"/>
                  </a:cubicBezTo>
                  <a:lnTo>
                    <a:pt x="0" y="54503"/>
                  </a:lnTo>
                  <a:cubicBezTo>
                    <a:pt x="0" y="24402"/>
                    <a:pt x="24402" y="0"/>
                    <a:pt x="54503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45160" cy="1317383"/>
            </a:xfrm>
            <a:prstGeom prst="rect">
              <a:avLst/>
            </a:prstGeom>
          </p:spPr>
          <p:txBody>
            <a:bodyPr anchor="ctr" rtlCol="false" tIns="52530" lIns="52530" bIns="52530" rIns="525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06141" y="4540065"/>
            <a:ext cx="6247650" cy="331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</a:pP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Tipo booleano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</a:t>
            </a:r>
          </a:p>
          <a:p>
            <a:pPr algn="l" marL="790081" indent="-395040" lvl="1">
              <a:lnSpc>
                <a:spcPts val="439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59" spc="-219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bool</a:t>
            </a: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Representa valores lógicos, podendo ser </a:t>
            </a:r>
            <a:r>
              <a:rPr lang="en-US" b="true" sz="3659" spc="-219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True </a:t>
            </a: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(verdadeiro) ou </a:t>
            </a:r>
            <a:r>
              <a:rPr lang="en-US" b="true" sz="3659" spc="-219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False </a:t>
            </a: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(falso).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4791" y="1694288"/>
            <a:ext cx="15878418" cy="1531473"/>
            <a:chOff x="0" y="0"/>
            <a:chExt cx="4181970" cy="4033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1970" cy="403351"/>
            </a:xfrm>
            <a:custGeom>
              <a:avLst/>
              <a:gdLst/>
              <a:ahLst/>
              <a:cxnLst/>
              <a:rect r="r" b="b" t="t" l="l"/>
              <a:pathLst>
                <a:path h="403351" w="4181970">
                  <a:moveTo>
                    <a:pt x="24866" y="0"/>
                  </a:moveTo>
                  <a:lnTo>
                    <a:pt x="4157104" y="0"/>
                  </a:lnTo>
                  <a:cubicBezTo>
                    <a:pt x="4170837" y="0"/>
                    <a:pt x="4181970" y="11133"/>
                    <a:pt x="4181970" y="24866"/>
                  </a:cubicBezTo>
                  <a:lnTo>
                    <a:pt x="4181970" y="378485"/>
                  </a:lnTo>
                  <a:cubicBezTo>
                    <a:pt x="4181970" y="392218"/>
                    <a:pt x="4170837" y="403351"/>
                    <a:pt x="4157104" y="403351"/>
                  </a:cubicBezTo>
                  <a:lnTo>
                    <a:pt x="24866" y="403351"/>
                  </a:lnTo>
                  <a:cubicBezTo>
                    <a:pt x="11133" y="403351"/>
                    <a:pt x="0" y="392218"/>
                    <a:pt x="0" y="378485"/>
                  </a:cubicBezTo>
                  <a:lnTo>
                    <a:pt x="0" y="24866"/>
                  </a:lnTo>
                  <a:cubicBezTo>
                    <a:pt x="0" y="11133"/>
                    <a:pt x="11133" y="0"/>
                    <a:pt x="24866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81970" cy="441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1761" y="2024863"/>
            <a:ext cx="1482447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Como vimos anteriormente, quando criamos uma variável, precisamos escolher um nome para ela. 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Esse nome deve seguir algumas regras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29648" y="3324225"/>
            <a:ext cx="12628705" cy="6717622"/>
            <a:chOff x="0" y="0"/>
            <a:chExt cx="3326079" cy="1769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26079" cy="1769250"/>
            </a:xfrm>
            <a:custGeom>
              <a:avLst/>
              <a:gdLst/>
              <a:ahLst/>
              <a:cxnLst/>
              <a:rect r="r" b="b" t="t" l="l"/>
              <a:pathLst>
                <a:path h="1769250" w="3326079">
                  <a:moveTo>
                    <a:pt x="31265" y="0"/>
                  </a:moveTo>
                  <a:lnTo>
                    <a:pt x="3294814" y="0"/>
                  </a:lnTo>
                  <a:cubicBezTo>
                    <a:pt x="3303106" y="0"/>
                    <a:pt x="3311058" y="3294"/>
                    <a:pt x="3316922" y="9157"/>
                  </a:cubicBezTo>
                  <a:cubicBezTo>
                    <a:pt x="3322785" y="15021"/>
                    <a:pt x="3326079" y="22973"/>
                    <a:pt x="3326079" y="31265"/>
                  </a:cubicBezTo>
                  <a:lnTo>
                    <a:pt x="3326079" y="1737985"/>
                  </a:lnTo>
                  <a:cubicBezTo>
                    <a:pt x="3326079" y="1746277"/>
                    <a:pt x="3322785" y="1754230"/>
                    <a:pt x="3316922" y="1760093"/>
                  </a:cubicBezTo>
                  <a:cubicBezTo>
                    <a:pt x="3311058" y="1765956"/>
                    <a:pt x="3303106" y="1769250"/>
                    <a:pt x="3294814" y="1769250"/>
                  </a:cubicBezTo>
                  <a:lnTo>
                    <a:pt x="31265" y="1769250"/>
                  </a:lnTo>
                  <a:cubicBezTo>
                    <a:pt x="22973" y="1769250"/>
                    <a:pt x="15021" y="1765956"/>
                    <a:pt x="9157" y="1760093"/>
                  </a:cubicBezTo>
                  <a:cubicBezTo>
                    <a:pt x="3294" y="1754230"/>
                    <a:pt x="0" y="1746277"/>
                    <a:pt x="0" y="1737985"/>
                  </a:cubicBezTo>
                  <a:lnTo>
                    <a:pt x="0" y="31265"/>
                  </a:lnTo>
                  <a:cubicBezTo>
                    <a:pt x="0" y="22973"/>
                    <a:pt x="3294" y="15021"/>
                    <a:pt x="9157" y="9157"/>
                  </a:cubicBezTo>
                  <a:cubicBezTo>
                    <a:pt x="15021" y="3294"/>
                    <a:pt x="22973" y="0"/>
                    <a:pt x="31265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26079" cy="180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Regras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142063" y="3657600"/>
            <a:ext cx="12003873" cy="662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</a:pP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1) </a:t>
            </a: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Não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podem começar com números </a:t>
            </a:r>
          </a:p>
          <a:p>
            <a:pPr algn="l" marL="790081" indent="-395040" lvl="1">
              <a:lnSpc>
                <a:spcPts val="4391"/>
              </a:lnSpc>
              <a:buFont typeface="Arial"/>
              <a:buChar char="•"/>
            </a:pP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(idade2 ✅, 2idade ❌).</a:t>
            </a:r>
          </a:p>
          <a:p>
            <a:pPr algn="l">
              <a:lnSpc>
                <a:spcPts val="4391"/>
              </a:lnSpc>
            </a:pP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2) </a:t>
            </a: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Não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podem conter espaços </a:t>
            </a:r>
          </a:p>
          <a:p>
            <a:pPr algn="l" marL="790081" indent="-395040" lvl="1">
              <a:lnSpc>
                <a:spcPts val="4391"/>
              </a:lnSpc>
              <a:buFont typeface="Arial"/>
              <a:buChar char="•"/>
            </a:pP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(minha_idade ✅, minha idade ❌).</a:t>
            </a:r>
          </a:p>
          <a:p>
            <a:pPr algn="l">
              <a:lnSpc>
                <a:spcPts val="4391"/>
              </a:lnSpc>
            </a:pP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3) Só podem usar </a:t>
            </a: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letras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, </a:t>
            </a: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números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e o </a:t>
            </a: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caractere de sublinhado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(</a:t>
            </a:r>
            <a:r>
              <a:rPr lang="en-US" b="true" sz="3659" i="true" spc="-215">
                <a:solidFill>
                  <a:srgbClr val="FFFFFF"/>
                </a:solidFill>
                <a:latin typeface="Space Mono Bold Italics"/>
                <a:ea typeface="Space Mono Bold Italics"/>
                <a:cs typeface="Space Mono Bold Italics"/>
                <a:sym typeface="Space Mono Bold Italics"/>
              </a:rPr>
              <a:t>underline: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_ ) </a:t>
            </a:r>
          </a:p>
          <a:p>
            <a:pPr algn="l" marL="790081" indent="-395040" lvl="1">
              <a:lnSpc>
                <a:spcPts val="4391"/>
              </a:lnSpc>
              <a:buFont typeface="Arial"/>
              <a:buChar char="•"/>
            </a:pPr>
            <a:r>
              <a:rPr lang="en-US" b="true" sz="3659" spc="-21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(aula_2 ✅).</a:t>
            </a:r>
          </a:p>
          <a:p>
            <a:pPr algn="l">
              <a:lnSpc>
                <a:spcPts val="4391"/>
              </a:lnSpc>
            </a:pP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4) </a:t>
            </a:r>
            <a:r>
              <a:rPr lang="en-US" b="true" sz="3659" spc="-215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Não</a:t>
            </a:r>
            <a:r>
              <a:rPr lang="en-US" sz="3659" spc="-215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podem ter acentos ou símbolos especiais (@, !, ? etc.).</a:t>
            </a:r>
          </a:p>
          <a:p>
            <a:pPr algn="l">
              <a:lnSpc>
                <a:spcPts val="4391"/>
              </a:lnSpc>
              <a:spcBef>
                <a:spcPct val="0"/>
              </a:spcBef>
            </a:pP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5) </a:t>
            </a:r>
            <a:r>
              <a:rPr lang="en-US" b="true" sz="3659" spc="-219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Não</a:t>
            </a:r>
            <a:r>
              <a:rPr lang="en-US" b="true" sz="3659" spc="-21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podem usar palavras reservadas do Python (como for, if, while).</a:t>
            </a:r>
          </a:p>
          <a:p>
            <a:pPr algn="l">
              <a:lnSpc>
                <a:spcPts val="43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4791" y="1855889"/>
            <a:ext cx="15878418" cy="1628216"/>
            <a:chOff x="0" y="0"/>
            <a:chExt cx="4181970" cy="4288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1970" cy="428831"/>
            </a:xfrm>
            <a:custGeom>
              <a:avLst/>
              <a:gdLst/>
              <a:ahLst/>
              <a:cxnLst/>
              <a:rect r="r" b="b" t="t" l="l"/>
              <a:pathLst>
                <a:path h="428831" w="4181970">
                  <a:moveTo>
                    <a:pt x="24866" y="0"/>
                  </a:moveTo>
                  <a:lnTo>
                    <a:pt x="4157104" y="0"/>
                  </a:lnTo>
                  <a:cubicBezTo>
                    <a:pt x="4170837" y="0"/>
                    <a:pt x="4181970" y="11133"/>
                    <a:pt x="4181970" y="24866"/>
                  </a:cubicBezTo>
                  <a:lnTo>
                    <a:pt x="4181970" y="403964"/>
                  </a:lnTo>
                  <a:cubicBezTo>
                    <a:pt x="4181970" y="417698"/>
                    <a:pt x="4170837" y="428831"/>
                    <a:pt x="4157104" y="428831"/>
                  </a:cubicBezTo>
                  <a:lnTo>
                    <a:pt x="24866" y="428831"/>
                  </a:lnTo>
                  <a:cubicBezTo>
                    <a:pt x="11133" y="428831"/>
                    <a:pt x="0" y="417698"/>
                    <a:pt x="0" y="403964"/>
                  </a:cubicBezTo>
                  <a:lnTo>
                    <a:pt x="0" y="24866"/>
                  </a:lnTo>
                  <a:cubicBezTo>
                    <a:pt x="0" y="11133"/>
                    <a:pt x="11133" y="0"/>
                    <a:pt x="24866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81970" cy="466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15001" y="4445288"/>
            <a:ext cx="7657999" cy="5250941"/>
            <a:chOff x="0" y="0"/>
            <a:chExt cx="1950512" cy="13374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512" cy="1337428"/>
            </a:xfrm>
            <a:custGeom>
              <a:avLst/>
              <a:gdLst/>
              <a:ahLst/>
              <a:cxnLst/>
              <a:rect r="r" b="b" t="t" l="l"/>
              <a:pathLst>
                <a:path h="1337428" w="1950512">
                  <a:moveTo>
                    <a:pt x="51559" y="0"/>
                  </a:moveTo>
                  <a:lnTo>
                    <a:pt x="1898953" y="0"/>
                  </a:lnTo>
                  <a:cubicBezTo>
                    <a:pt x="1912627" y="0"/>
                    <a:pt x="1925741" y="5432"/>
                    <a:pt x="1935411" y="15101"/>
                  </a:cubicBezTo>
                  <a:cubicBezTo>
                    <a:pt x="1945080" y="24770"/>
                    <a:pt x="1950512" y="37885"/>
                    <a:pt x="1950512" y="51559"/>
                  </a:cubicBezTo>
                  <a:lnTo>
                    <a:pt x="1950512" y="1285869"/>
                  </a:lnTo>
                  <a:cubicBezTo>
                    <a:pt x="1950512" y="1314344"/>
                    <a:pt x="1927428" y="1337428"/>
                    <a:pt x="1898953" y="1337428"/>
                  </a:cubicBezTo>
                  <a:lnTo>
                    <a:pt x="51559" y="1337428"/>
                  </a:lnTo>
                  <a:cubicBezTo>
                    <a:pt x="23084" y="1337428"/>
                    <a:pt x="0" y="1314344"/>
                    <a:pt x="0" y="1285869"/>
                  </a:cubicBezTo>
                  <a:lnTo>
                    <a:pt x="0" y="51559"/>
                  </a:lnTo>
                  <a:cubicBezTo>
                    <a:pt x="0" y="23084"/>
                    <a:pt x="23084" y="0"/>
                    <a:pt x="51559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50512" cy="1375528"/>
            </a:xfrm>
            <a:prstGeom prst="rect">
              <a:avLst/>
            </a:prstGeom>
          </p:spPr>
          <p:txBody>
            <a:bodyPr anchor="ctr" rtlCol="false" tIns="79581" lIns="79581" bIns="79581" rIns="7958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24592" y="3865105"/>
            <a:ext cx="4438816" cy="1160365"/>
            <a:chOff x="0" y="0"/>
            <a:chExt cx="1130578" cy="295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0578" cy="295548"/>
            </a:xfrm>
            <a:custGeom>
              <a:avLst/>
              <a:gdLst/>
              <a:ahLst/>
              <a:cxnLst/>
              <a:rect r="r" b="b" t="t" l="l"/>
              <a:pathLst>
                <a:path h="295548" w="1130578">
                  <a:moveTo>
                    <a:pt x="88951" y="0"/>
                  </a:moveTo>
                  <a:lnTo>
                    <a:pt x="1041627" y="0"/>
                  </a:lnTo>
                  <a:cubicBezTo>
                    <a:pt x="1090753" y="0"/>
                    <a:pt x="1130578" y="39825"/>
                    <a:pt x="1130578" y="88951"/>
                  </a:cubicBezTo>
                  <a:lnTo>
                    <a:pt x="1130578" y="206597"/>
                  </a:lnTo>
                  <a:cubicBezTo>
                    <a:pt x="1130578" y="255723"/>
                    <a:pt x="1090753" y="295548"/>
                    <a:pt x="1041627" y="295548"/>
                  </a:cubicBezTo>
                  <a:lnTo>
                    <a:pt x="88951" y="295548"/>
                  </a:lnTo>
                  <a:cubicBezTo>
                    <a:pt x="39825" y="295548"/>
                    <a:pt x="0" y="255723"/>
                    <a:pt x="0" y="206597"/>
                  </a:cubicBezTo>
                  <a:lnTo>
                    <a:pt x="0" y="88951"/>
                  </a:lnTo>
                  <a:cubicBezTo>
                    <a:pt x="0" y="39825"/>
                    <a:pt x="39825" y="0"/>
                    <a:pt x="88951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30578" cy="333648"/>
            </a:xfrm>
            <a:prstGeom prst="rect">
              <a:avLst/>
            </a:prstGeom>
          </p:spPr>
          <p:txBody>
            <a:bodyPr anchor="ctr" rtlCol="false" tIns="52530" lIns="52530" bIns="52530" rIns="525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513086" y="4169523"/>
            <a:ext cx="3261828" cy="55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  <a:spcBef>
                <a:spcPct val="0"/>
              </a:spcBef>
            </a:pPr>
            <a:r>
              <a:rPr lang="en-US" b="true" sz="3659" spc="-21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Por exemplo: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6948" y="5241346"/>
            <a:ext cx="6797520" cy="386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13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14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true" rot="0">
            <a:off x="6000808" y="5748467"/>
            <a:ext cx="1142031" cy="1169815"/>
          </a:xfrm>
          <a:custGeom>
            <a:avLst/>
            <a:gdLst/>
            <a:ahLst/>
            <a:cxnLst/>
            <a:rect r="r" b="b" t="t" l="l"/>
            <a:pathLst>
              <a:path h="1169815" w="1142031">
                <a:moveTo>
                  <a:pt x="0" y="1169815"/>
                </a:moveTo>
                <a:lnTo>
                  <a:pt x="1142031" y="1169815"/>
                </a:lnTo>
                <a:lnTo>
                  <a:pt x="1142031" y="0"/>
                </a:lnTo>
                <a:lnTo>
                  <a:pt x="0" y="0"/>
                </a:lnTo>
                <a:lnTo>
                  <a:pt x="0" y="116981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31761" y="2039733"/>
            <a:ext cx="1482447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Nós 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podemos alterar os valores das variáveis ao longo do programa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 Lembra das nossas caixinhas com etiquetas? Podemos pegar o que está dentro e colocar um novo valor, sem precisar criar uma caixinha nova!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Podem mudar de valor</a:t>
            </a:r>
          </a:p>
        </p:txBody>
      </p:sp>
      <p:sp>
        <p:nvSpPr>
          <p:cNvPr name="Freeform 21" id="21"/>
          <p:cNvSpPr/>
          <p:nvPr/>
        </p:nvSpPr>
        <p:spPr>
          <a:xfrm flipH="false" flipV="true" rot="0">
            <a:off x="6000808" y="8050854"/>
            <a:ext cx="1142031" cy="1169815"/>
          </a:xfrm>
          <a:custGeom>
            <a:avLst/>
            <a:gdLst/>
            <a:ahLst/>
            <a:cxnLst/>
            <a:rect r="r" b="b" t="t" l="l"/>
            <a:pathLst>
              <a:path h="1169815" w="1142031">
                <a:moveTo>
                  <a:pt x="0" y="1169814"/>
                </a:moveTo>
                <a:lnTo>
                  <a:pt x="1142031" y="1169814"/>
                </a:lnTo>
                <a:lnTo>
                  <a:pt x="1142031" y="0"/>
                </a:lnTo>
                <a:lnTo>
                  <a:pt x="0" y="0"/>
                </a:lnTo>
                <a:lnTo>
                  <a:pt x="0" y="11698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258026" y="6071635"/>
            <a:ext cx="8629984" cy="1213481"/>
            <a:chOff x="0" y="0"/>
            <a:chExt cx="11506645" cy="16179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1506645" cy="1617975"/>
              <a:chOff x="0" y="0"/>
              <a:chExt cx="2272918" cy="3196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72918" cy="319600"/>
              </a:xfrm>
              <a:custGeom>
                <a:avLst/>
                <a:gdLst/>
                <a:ahLst/>
                <a:cxnLst/>
                <a:rect r="r" b="b" t="t" l="l"/>
                <a:pathLst>
                  <a:path h="319600" w="2272918">
                    <a:moveTo>
                      <a:pt x="45752" y="0"/>
                    </a:moveTo>
                    <a:lnTo>
                      <a:pt x="2227166" y="0"/>
                    </a:lnTo>
                    <a:cubicBezTo>
                      <a:pt x="2239300" y="0"/>
                      <a:pt x="2250937" y="4820"/>
                      <a:pt x="2259517" y="13400"/>
                    </a:cubicBezTo>
                    <a:cubicBezTo>
                      <a:pt x="2268097" y="21981"/>
                      <a:pt x="2272918" y="33618"/>
                      <a:pt x="2272918" y="45752"/>
                    </a:cubicBezTo>
                    <a:lnTo>
                      <a:pt x="2272918" y="273848"/>
                    </a:lnTo>
                    <a:cubicBezTo>
                      <a:pt x="2272918" y="285982"/>
                      <a:pt x="2268097" y="297619"/>
                      <a:pt x="2259517" y="306200"/>
                    </a:cubicBezTo>
                    <a:cubicBezTo>
                      <a:pt x="2250937" y="314780"/>
                      <a:pt x="2239300" y="319600"/>
                      <a:pt x="2227166" y="319600"/>
                    </a:cubicBezTo>
                    <a:lnTo>
                      <a:pt x="45752" y="319600"/>
                    </a:lnTo>
                    <a:cubicBezTo>
                      <a:pt x="33618" y="319600"/>
                      <a:pt x="21981" y="314780"/>
                      <a:pt x="13400" y="306200"/>
                    </a:cubicBezTo>
                    <a:cubicBezTo>
                      <a:pt x="4820" y="297619"/>
                      <a:pt x="0" y="285982"/>
                      <a:pt x="0" y="273848"/>
                    </a:cubicBezTo>
                    <a:lnTo>
                      <a:pt x="0" y="45752"/>
                    </a:lnTo>
                    <a:cubicBezTo>
                      <a:pt x="0" y="33618"/>
                      <a:pt x="4820" y="21981"/>
                      <a:pt x="13400" y="13400"/>
                    </a:cubicBezTo>
                    <a:cubicBezTo>
                      <a:pt x="21981" y="4820"/>
                      <a:pt x="33618" y="0"/>
                      <a:pt x="45752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272918" cy="35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81114" y="157954"/>
              <a:ext cx="11125532" cy="129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8"/>
                </a:lnSpc>
                <a:spcBef>
                  <a:spcPct val="0"/>
                </a:spcBef>
              </a:pPr>
              <a:r>
                <a:rPr lang="en-US" b="true" sz="3232" spc="-19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Neste momento, o programa usará a variável “idade” com o valor 13.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58026" y="8331282"/>
            <a:ext cx="8629984" cy="1213481"/>
            <a:chOff x="0" y="0"/>
            <a:chExt cx="11506645" cy="161797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1506645" cy="1617975"/>
              <a:chOff x="0" y="0"/>
              <a:chExt cx="2272918" cy="319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272918" cy="319600"/>
              </a:xfrm>
              <a:custGeom>
                <a:avLst/>
                <a:gdLst/>
                <a:ahLst/>
                <a:cxnLst/>
                <a:rect r="r" b="b" t="t" l="l"/>
                <a:pathLst>
                  <a:path h="319600" w="2272918">
                    <a:moveTo>
                      <a:pt x="45752" y="0"/>
                    </a:moveTo>
                    <a:lnTo>
                      <a:pt x="2227166" y="0"/>
                    </a:lnTo>
                    <a:cubicBezTo>
                      <a:pt x="2239300" y="0"/>
                      <a:pt x="2250937" y="4820"/>
                      <a:pt x="2259517" y="13400"/>
                    </a:cubicBezTo>
                    <a:cubicBezTo>
                      <a:pt x="2268097" y="21981"/>
                      <a:pt x="2272918" y="33618"/>
                      <a:pt x="2272918" y="45752"/>
                    </a:cubicBezTo>
                    <a:lnTo>
                      <a:pt x="2272918" y="273848"/>
                    </a:lnTo>
                    <a:cubicBezTo>
                      <a:pt x="2272918" y="285982"/>
                      <a:pt x="2268097" y="297619"/>
                      <a:pt x="2259517" y="306200"/>
                    </a:cubicBezTo>
                    <a:cubicBezTo>
                      <a:pt x="2250937" y="314780"/>
                      <a:pt x="2239300" y="319600"/>
                      <a:pt x="2227166" y="319600"/>
                    </a:cubicBezTo>
                    <a:lnTo>
                      <a:pt x="45752" y="319600"/>
                    </a:lnTo>
                    <a:cubicBezTo>
                      <a:pt x="33618" y="319600"/>
                      <a:pt x="21981" y="314780"/>
                      <a:pt x="13400" y="306200"/>
                    </a:cubicBezTo>
                    <a:cubicBezTo>
                      <a:pt x="4820" y="297619"/>
                      <a:pt x="0" y="285982"/>
                      <a:pt x="0" y="273848"/>
                    </a:cubicBezTo>
                    <a:lnTo>
                      <a:pt x="0" y="45752"/>
                    </a:lnTo>
                    <a:cubicBezTo>
                      <a:pt x="0" y="33618"/>
                      <a:pt x="4820" y="21981"/>
                      <a:pt x="13400" y="13400"/>
                    </a:cubicBezTo>
                    <a:cubicBezTo>
                      <a:pt x="21981" y="4820"/>
                      <a:pt x="33618" y="0"/>
                      <a:pt x="45752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272918" cy="35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114" y="157954"/>
              <a:ext cx="11125532" cy="129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8"/>
                </a:lnSpc>
                <a:spcBef>
                  <a:spcPct val="0"/>
                </a:spcBef>
              </a:pPr>
              <a:r>
                <a:rPr lang="en-US" b="true" sz="3232" spc="-19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Neste momento, o programa usará a variável “idade” com o valor 14.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4791" y="3051207"/>
            <a:ext cx="15878418" cy="1628216"/>
            <a:chOff x="0" y="0"/>
            <a:chExt cx="4181970" cy="4288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1970" cy="428831"/>
            </a:xfrm>
            <a:custGeom>
              <a:avLst/>
              <a:gdLst/>
              <a:ahLst/>
              <a:cxnLst/>
              <a:rect r="r" b="b" t="t" l="l"/>
              <a:pathLst>
                <a:path h="428831" w="4181970">
                  <a:moveTo>
                    <a:pt x="24866" y="0"/>
                  </a:moveTo>
                  <a:lnTo>
                    <a:pt x="4157104" y="0"/>
                  </a:lnTo>
                  <a:cubicBezTo>
                    <a:pt x="4170837" y="0"/>
                    <a:pt x="4181970" y="11133"/>
                    <a:pt x="4181970" y="24866"/>
                  </a:cubicBezTo>
                  <a:lnTo>
                    <a:pt x="4181970" y="403964"/>
                  </a:lnTo>
                  <a:cubicBezTo>
                    <a:pt x="4181970" y="417698"/>
                    <a:pt x="4170837" y="428831"/>
                    <a:pt x="4157104" y="428831"/>
                  </a:cubicBezTo>
                  <a:lnTo>
                    <a:pt x="24866" y="428831"/>
                  </a:lnTo>
                  <a:cubicBezTo>
                    <a:pt x="11133" y="428831"/>
                    <a:pt x="0" y="417698"/>
                    <a:pt x="0" y="403964"/>
                  </a:cubicBezTo>
                  <a:lnTo>
                    <a:pt x="0" y="24866"/>
                  </a:lnTo>
                  <a:cubicBezTo>
                    <a:pt x="0" y="11133"/>
                    <a:pt x="11133" y="0"/>
                    <a:pt x="24866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81970" cy="466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15001" y="5930345"/>
            <a:ext cx="7657999" cy="3765884"/>
            <a:chOff x="0" y="0"/>
            <a:chExt cx="1950512" cy="959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512" cy="959180"/>
            </a:xfrm>
            <a:custGeom>
              <a:avLst/>
              <a:gdLst/>
              <a:ahLst/>
              <a:cxnLst/>
              <a:rect r="r" b="b" t="t" l="l"/>
              <a:pathLst>
                <a:path h="959180" w="1950512">
                  <a:moveTo>
                    <a:pt x="51559" y="0"/>
                  </a:moveTo>
                  <a:lnTo>
                    <a:pt x="1898953" y="0"/>
                  </a:lnTo>
                  <a:cubicBezTo>
                    <a:pt x="1912627" y="0"/>
                    <a:pt x="1925741" y="5432"/>
                    <a:pt x="1935411" y="15101"/>
                  </a:cubicBezTo>
                  <a:cubicBezTo>
                    <a:pt x="1945080" y="24770"/>
                    <a:pt x="1950512" y="37885"/>
                    <a:pt x="1950512" y="51559"/>
                  </a:cubicBezTo>
                  <a:lnTo>
                    <a:pt x="1950512" y="907621"/>
                  </a:lnTo>
                  <a:cubicBezTo>
                    <a:pt x="1950512" y="936097"/>
                    <a:pt x="1927428" y="959180"/>
                    <a:pt x="1898953" y="959180"/>
                  </a:cubicBezTo>
                  <a:lnTo>
                    <a:pt x="51559" y="959180"/>
                  </a:lnTo>
                  <a:cubicBezTo>
                    <a:pt x="23084" y="959180"/>
                    <a:pt x="0" y="936097"/>
                    <a:pt x="0" y="907621"/>
                  </a:cubicBezTo>
                  <a:lnTo>
                    <a:pt x="0" y="51559"/>
                  </a:lnTo>
                  <a:cubicBezTo>
                    <a:pt x="0" y="23084"/>
                    <a:pt x="23084" y="0"/>
                    <a:pt x="51559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50512" cy="997280"/>
            </a:xfrm>
            <a:prstGeom prst="rect">
              <a:avLst/>
            </a:prstGeom>
          </p:spPr>
          <p:txBody>
            <a:bodyPr anchor="ctr" rtlCol="false" tIns="79581" lIns="79581" bIns="79581" rIns="7958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24592" y="5079473"/>
            <a:ext cx="4438816" cy="1160365"/>
            <a:chOff x="0" y="0"/>
            <a:chExt cx="1130578" cy="295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0578" cy="295548"/>
            </a:xfrm>
            <a:custGeom>
              <a:avLst/>
              <a:gdLst/>
              <a:ahLst/>
              <a:cxnLst/>
              <a:rect r="r" b="b" t="t" l="l"/>
              <a:pathLst>
                <a:path h="295548" w="1130578">
                  <a:moveTo>
                    <a:pt x="88951" y="0"/>
                  </a:moveTo>
                  <a:lnTo>
                    <a:pt x="1041627" y="0"/>
                  </a:lnTo>
                  <a:cubicBezTo>
                    <a:pt x="1090753" y="0"/>
                    <a:pt x="1130578" y="39825"/>
                    <a:pt x="1130578" y="88951"/>
                  </a:cubicBezTo>
                  <a:lnTo>
                    <a:pt x="1130578" y="206597"/>
                  </a:lnTo>
                  <a:cubicBezTo>
                    <a:pt x="1130578" y="255723"/>
                    <a:pt x="1090753" y="295548"/>
                    <a:pt x="1041627" y="295548"/>
                  </a:cubicBezTo>
                  <a:lnTo>
                    <a:pt x="88951" y="295548"/>
                  </a:lnTo>
                  <a:cubicBezTo>
                    <a:pt x="39825" y="295548"/>
                    <a:pt x="0" y="255723"/>
                    <a:pt x="0" y="206597"/>
                  </a:cubicBezTo>
                  <a:lnTo>
                    <a:pt x="0" y="88951"/>
                  </a:lnTo>
                  <a:cubicBezTo>
                    <a:pt x="0" y="39825"/>
                    <a:pt x="39825" y="0"/>
                    <a:pt x="88951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30578" cy="333648"/>
            </a:xfrm>
            <a:prstGeom prst="rect">
              <a:avLst/>
            </a:prstGeom>
          </p:spPr>
          <p:txBody>
            <a:bodyPr anchor="ctr" rtlCol="false" tIns="52530" lIns="52530" bIns="52530" rIns="525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513086" y="5383891"/>
            <a:ext cx="3261828" cy="55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1"/>
              </a:lnSpc>
              <a:spcBef>
                <a:spcPct val="0"/>
              </a:spcBef>
            </a:pPr>
            <a:r>
              <a:rPr lang="en-US" b="true" sz="3659" spc="-21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Por exemplo: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6948" y="6339920"/>
            <a:ext cx="6797520" cy="276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sua_idade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632" spc="-214" b="true">
                <a:solidFill>
                  <a:srgbClr val="2B9ED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13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</a:pP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idade_aluno </a:t>
            </a:r>
            <a:r>
              <a:rPr lang="en-US" sz="3632" spc="-214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632" spc="-21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sua_idade</a:t>
            </a:r>
          </a:p>
          <a:p>
            <a:pPr algn="l">
              <a:lnSpc>
                <a:spcPts val="4358"/>
              </a:lnSpc>
            </a:pPr>
          </a:p>
          <a:p>
            <a:pPr algn="l">
              <a:lnSpc>
                <a:spcPts val="4358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731761" y="3235051"/>
            <a:ext cx="1482447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Variáveis também 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podem receber o valor de outras variáveis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 Nesse caso, o valor de uma variável será 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copiado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para a variável que a recebe, </a:t>
            </a:r>
            <a:r>
              <a:rPr lang="en-US" b="true" sz="2739" spc="-161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mantendo o valor em ambas</a:t>
            </a:r>
            <a:r>
              <a:rPr lang="en-US" b="true" sz="2739" spc="-16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8510" y="368840"/>
            <a:ext cx="15150979" cy="248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Podem receber outras variáveis</a:t>
            </a:r>
          </a:p>
        </p:txBody>
      </p:sp>
      <p:sp>
        <p:nvSpPr>
          <p:cNvPr name="Freeform 20" id="20"/>
          <p:cNvSpPr/>
          <p:nvPr/>
        </p:nvSpPr>
        <p:spPr>
          <a:xfrm flipH="false" flipV="true" rot="0">
            <a:off x="6000808" y="8050854"/>
            <a:ext cx="1142031" cy="1169815"/>
          </a:xfrm>
          <a:custGeom>
            <a:avLst/>
            <a:gdLst/>
            <a:ahLst/>
            <a:cxnLst/>
            <a:rect r="r" b="b" t="t" l="l"/>
            <a:pathLst>
              <a:path h="1169815" w="1142031">
                <a:moveTo>
                  <a:pt x="0" y="1169814"/>
                </a:moveTo>
                <a:lnTo>
                  <a:pt x="1142031" y="1169814"/>
                </a:lnTo>
                <a:lnTo>
                  <a:pt x="1142031" y="0"/>
                </a:lnTo>
                <a:lnTo>
                  <a:pt x="0" y="0"/>
                </a:lnTo>
                <a:lnTo>
                  <a:pt x="0" y="11698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258026" y="8492962"/>
            <a:ext cx="6840234" cy="727706"/>
            <a:chOff x="0" y="0"/>
            <a:chExt cx="9120312" cy="97027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120312" cy="970275"/>
              <a:chOff x="0" y="0"/>
              <a:chExt cx="1801543" cy="19165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801543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801543">
                    <a:moveTo>
                      <a:pt x="57723" y="0"/>
                    </a:moveTo>
                    <a:lnTo>
                      <a:pt x="1743820" y="0"/>
                    </a:lnTo>
                    <a:cubicBezTo>
                      <a:pt x="1775700" y="0"/>
                      <a:pt x="1801543" y="25843"/>
                      <a:pt x="1801543" y="57723"/>
                    </a:cubicBezTo>
                    <a:lnTo>
                      <a:pt x="1801543" y="133936"/>
                    </a:lnTo>
                    <a:cubicBezTo>
                      <a:pt x="1801543" y="165816"/>
                      <a:pt x="1775700" y="191659"/>
                      <a:pt x="1743820" y="191659"/>
                    </a:cubicBezTo>
                    <a:lnTo>
                      <a:pt x="57723" y="191659"/>
                    </a:lnTo>
                    <a:cubicBezTo>
                      <a:pt x="25843" y="191659"/>
                      <a:pt x="0" y="165816"/>
                      <a:pt x="0" y="133936"/>
                    </a:cubicBezTo>
                    <a:lnTo>
                      <a:pt x="0" y="57723"/>
                    </a:lnTo>
                    <a:cubicBezTo>
                      <a:pt x="0" y="25843"/>
                      <a:pt x="25843" y="0"/>
                      <a:pt x="57723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801543" cy="2297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2075" y="157954"/>
              <a:ext cx="8818237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8"/>
                </a:lnSpc>
                <a:spcBef>
                  <a:spcPct val="0"/>
                </a:spcBef>
              </a:pPr>
              <a:r>
                <a:rPr lang="en-US" b="true" sz="3232" spc="-19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idade_aluno terá o valor 13.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147402" y="3127005"/>
            <a:ext cx="13993197" cy="1412569"/>
            <a:chOff x="0" y="0"/>
            <a:chExt cx="18657596" cy="18834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8657596" cy="1883425"/>
              <a:chOff x="0" y="0"/>
              <a:chExt cx="3685451" cy="37203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85451" cy="372035"/>
              </a:xfrm>
              <a:custGeom>
                <a:avLst/>
                <a:gdLst/>
                <a:ahLst/>
                <a:cxnLst/>
                <a:rect r="r" b="b" t="t" l="l"/>
                <a:pathLst>
                  <a:path h="372035" w="3685451">
                    <a:moveTo>
                      <a:pt x="28216" y="0"/>
                    </a:moveTo>
                    <a:lnTo>
                      <a:pt x="3657235" y="0"/>
                    </a:lnTo>
                    <a:cubicBezTo>
                      <a:pt x="3664718" y="0"/>
                      <a:pt x="3671895" y="2973"/>
                      <a:pt x="3677187" y="8264"/>
                    </a:cubicBezTo>
                    <a:cubicBezTo>
                      <a:pt x="3682478" y="13556"/>
                      <a:pt x="3685451" y="20733"/>
                      <a:pt x="3685451" y="28216"/>
                    </a:cubicBezTo>
                    <a:lnTo>
                      <a:pt x="3685451" y="343818"/>
                    </a:lnTo>
                    <a:cubicBezTo>
                      <a:pt x="3685451" y="351302"/>
                      <a:pt x="3682478" y="358479"/>
                      <a:pt x="3677187" y="363770"/>
                    </a:cubicBezTo>
                    <a:cubicBezTo>
                      <a:pt x="3671895" y="369062"/>
                      <a:pt x="3664718" y="372035"/>
                      <a:pt x="3657235" y="372035"/>
                    </a:cubicBezTo>
                    <a:lnTo>
                      <a:pt x="28216" y="372035"/>
                    </a:lnTo>
                    <a:cubicBezTo>
                      <a:pt x="20733" y="372035"/>
                      <a:pt x="13556" y="369062"/>
                      <a:pt x="8264" y="363770"/>
                    </a:cubicBezTo>
                    <a:cubicBezTo>
                      <a:pt x="2973" y="358479"/>
                      <a:pt x="0" y="351302"/>
                      <a:pt x="0" y="343818"/>
                    </a:cubicBezTo>
                    <a:lnTo>
                      <a:pt x="0" y="28216"/>
                    </a:lnTo>
                    <a:cubicBezTo>
                      <a:pt x="0" y="20733"/>
                      <a:pt x="2973" y="13556"/>
                      <a:pt x="8264" y="8264"/>
                    </a:cubicBezTo>
                    <a:cubicBezTo>
                      <a:pt x="13556" y="2973"/>
                      <a:pt x="20733" y="0"/>
                      <a:pt x="28216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685451" cy="4101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67839" y="245125"/>
              <a:ext cx="17981595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86"/>
                </a:lnSpc>
                <a:spcBef>
                  <a:spcPct val="0"/>
                </a:spcBef>
              </a:pPr>
              <a:r>
                <a:rPr lang="en-US" b="true" sz="2739" spc="-161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Copiar o valor de uma variável para outra é útil em várias situações. Por exemplo:</a:t>
              </a:r>
            </a:p>
            <a:p>
              <a:pPr algn="l">
                <a:lnSpc>
                  <a:spcPts val="328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68510" y="368840"/>
            <a:ext cx="15150979" cy="248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VARIÁVEIS: Podem receber outras variáveis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829648" y="4196613"/>
            <a:ext cx="12628705" cy="5635623"/>
            <a:chOff x="0" y="0"/>
            <a:chExt cx="3326079" cy="14842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26079" cy="1484279"/>
            </a:xfrm>
            <a:custGeom>
              <a:avLst/>
              <a:gdLst/>
              <a:ahLst/>
              <a:cxnLst/>
              <a:rect r="r" b="b" t="t" l="l"/>
              <a:pathLst>
                <a:path h="1484279" w="3326079">
                  <a:moveTo>
                    <a:pt x="31265" y="0"/>
                  </a:moveTo>
                  <a:lnTo>
                    <a:pt x="3294814" y="0"/>
                  </a:lnTo>
                  <a:cubicBezTo>
                    <a:pt x="3303106" y="0"/>
                    <a:pt x="3311058" y="3294"/>
                    <a:pt x="3316922" y="9157"/>
                  </a:cubicBezTo>
                  <a:cubicBezTo>
                    <a:pt x="3322785" y="15021"/>
                    <a:pt x="3326079" y="22973"/>
                    <a:pt x="3326079" y="31265"/>
                  </a:cubicBezTo>
                  <a:lnTo>
                    <a:pt x="3326079" y="1453014"/>
                  </a:lnTo>
                  <a:cubicBezTo>
                    <a:pt x="3326079" y="1461306"/>
                    <a:pt x="3322785" y="1469259"/>
                    <a:pt x="3316922" y="1475122"/>
                  </a:cubicBezTo>
                  <a:cubicBezTo>
                    <a:pt x="3311058" y="1480985"/>
                    <a:pt x="3303106" y="1484279"/>
                    <a:pt x="3294814" y="1484279"/>
                  </a:cubicBezTo>
                  <a:lnTo>
                    <a:pt x="31265" y="1484279"/>
                  </a:lnTo>
                  <a:cubicBezTo>
                    <a:pt x="13998" y="1484279"/>
                    <a:pt x="0" y="1470281"/>
                    <a:pt x="0" y="1453014"/>
                  </a:cubicBezTo>
                  <a:lnTo>
                    <a:pt x="0" y="31265"/>
                  </a:lnTo>
                  <a:cubicBezTo>
                    <a:pt x="0" y="22973"/>
                    <a:pt x="3294" y="15021"/>
                    <a:pt x="9157" y="9157"/>
                  </a:cubicBezTo>
                  <a:cubicBezTo>
                    <a:pt x="15021" y="3294"/>
                    <a:pt x="22973" y="0"/>
                    <a:pt x="31265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326079" cy="1522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029196" y="4442675"/>
            <a:ext cx="12003873" cy="514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365" indent="-308682" lvl="1">
              <a:lnSpc>
                <a:spcPts val="3431"/>
              </a:lnSpc>
              <a:buFont typeface="Arial"/>
              <a:buChar char="•"/>
            </a:pPr>
            <a:r>
              <a:rPr lang="en-US" b="true" sz="2859" spc="-168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Guardar um registro antigo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se queremos salvar o valor atual de uma variável antes de atualizá-la,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podemos copiá-la para outra variável e assim manter o histórico.</a:t>
            </a:r>
          </a:p>
          <a:p>
            <a:pPr algn="l">
              <a:lnSpc>
                <a:spcPts val="3431"/>
              </a:lnSpc>
            </a:pPr>
          </a:p>
          <a:p>
            <a:pPr algn="l" marL="617365" indent="-308682" lvl="1">
              <a:lnSpc>
                <a:spcPts val="3431"/>
              </a:lnSpc>
              <a:buFont typeface="Arial"/>
              <a:buChar char="•"/>
            </a:pPr>
            <a:r>
              <a:rPr lang="en-US" b="true" sz="2859" spc="-168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Trabalhar com cálculos intermediários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podemos usar uma cópia pa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faz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er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peraçõe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sem 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ter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or orig</a:t>
            </a:r>
            <a:r>
              <a:rPr lang="en-US" b="true" sz="2859" spc="-168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</a:t>
            </a:r>
            <a:r>
              <a:rPr lang="en-US" b="true" sz="2859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al.</a:t>
            </a:r>
          </a:p>
          <a:p>
            <a:pPr algn="l">
              <a:lnSpc>
                <a:spcPts val="3431"/>
              </a:lnSpc>
            </a:pPr>
          </a:p>
          <a:p>
            <a:pPr algn="l" marL="617365" indent="-308682" lvl="1">
              <a:lnSpc>
                <a:spcPts val="343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Organizar dados </a:t>
            </a: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</a:t>
            </a: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</a:t>
            </a: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er</a:t>
            </a: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</a:t>
            </a: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</a:t>
            </a: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</a:t>
            </a: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</a:t>
            </a:r>
            <a:r>
              <a:rPr lang="en-US" b="true" sz="2859" spc="-171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</a:t>
            </a:r>
            <a:r>
              <a:rPr lang="en-US" b="true" sz="2859" spc="-1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</a:t>
            </a:r>
            <a:r>
              <a:rPr lang="en-US" b="true" sz="2859" spc="-1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às vezes precisamos que duas variáveis c</a:t>
            </a:r>
            <a:r>
              <a:rPr lang="en-US" b="true" sz="2859" spc="-171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</a:t>
            </a:r>
            <a:r>
              <a:rPr lang="en-US" b="true" sz="2859" spc="-17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 nomes diferentes guardem o mesmo valor inicial, mas cada uma será usada de forma distinta depois.</a:t>
            </a:r>
          </a:p>
          <a:p>
            <a:pPr algn="l">
              <a:lnSpc>
                <a:spcPts val="34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9106" y="3015017"/>
            <a:ext cx="7636890" cy="4433169"/>
            <a:chOff x="0" y="0"/>
            <a:chExt cx="10182520" cy="59108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182520" cy="5910892"/>
              <a:chOff x="0" y="0"/>
              <a:chExt cx="2128743" cy="123572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28743" cy="1235722"/>
              </a:xfrm>
              <a:custGeom>
                <a:avLst/>
                <a:gdLst/>
                <a:ahLst/>
                <a:cxnLst/>
                <a:rect r="r" b="b" t="t" l="l"/>
                <a:pathLst>
                  <a:path h="1235722" w="2128743">
                    <a:moveTo>
                      <a:pt x="51701" y="0"/>
                    </a:moveTo>
                    <a:lnTo>
                      <a:pt x="2077041" y="0"/>
                    </a:lnTo>
                    <a:cubicBezTo>
                      <a:pt x="2090753" y="0"/>
                      <a:pt x="2103904" y="5447"/>
                      <a:pt x="2113599" y="15143"/>
                    </a:cubicBezTo>
                    <a:cubicBezTo>
                      <a:pt x="2123295" y="24839"/>
                      <a:pt x="2128743" y="37989"/>
                      <a:pt x="2128743" y="51701"/>
                    </a:cubicBezTo>
                    <a:lnTo>
                      <a:pt x="2128743" y="1184021"/>
                    </a:lnTo>
                    <a:cubicBezTo>
                      <a:pt x="2128743" y="1197733"/>
                      <a:pt x="2123295" y="1210883"/>
                      <a:pt x="2113599" y="1220579"/>
                    </a:cubicBezTo>
                    <a:cubicBezTo>
                      <a:pt x="2103904" y="1230275"/>
                      <a:pt x="2090753" y="1235722"/>
                      <a:pt x="2077041" y="1235722"/>
                    </a:cubicBezTo>
                    <a:lnTo>
                      <a:pt x="51701" y="1235722"/>
                    </a:lnTo>
                    <a:cubicBezTo>
                      <a:pt x="37989" y="1235722"/>
                      <a:pt x="24839" y="1230275"/>
                      <a:pt x="15143" y="1220579"/>
                    </a:cubicBezTo>
                    <a:cubicBezTo>
                      <a:pt x="5447" y="1210883"/>
                      <a:pt x="0" y="1197733"/>
                      <a:pt x="0" y="1184021"/>
                    </a:cubicBezTo>
                    <a:lnTo>
                      <a:pt x="0" y="51701"/>
                    </a:lnTo>
                    <a:cubicBezTo>
                      <a:pt x="0" y="37989"/>
                      <a:pt x="5447" y="24839"/>
                      <a:pt x="15143" y="15143"/>
                    </a:cubicBezTo>
                    <a:cubicBezTo>
                      <a:pt x="24839" y="5447"/>
                      <a:pt x="37989" y="0"/>
                      <a:pt x="51701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28743" cy="1273822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84886" y="177432"/>
              <a:ext cx="8812748" cy="5460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1"/>
                </a:lnSpc>
                <a:spcBef>
                  <a:spcPct val="0"/>
                </a:spcBef>
              </a:pPr>
              <a:r>
                <a:rPr lang="en-US" b="true" sz="469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Diga se cada nome de variável é válido (V) ou inválido (F) em Python: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41074" y="2057749"/>
            <a:ext cx="7577966" cy="7638480"/>
            <a:chOff x="0" y="0"/>
            <a:chExt cx="1916243" cy="19315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6243" cy="1931545"/>
            </a:xfrm>
            <a:custGeom>
              <a:avLst/>
              <a:gdLst/>
              <a:ahLst/>
              <a:cxnLst/>
              <a:rect r="r" b="b" t="t" l="l"/>
              <a:pathLst>
                <a:path h="1931545" w="1916243">
                  <a:moveTo>
                    <a:pt x="52103" y="0"/>
                  </a:moveTo>
                  <a:lnTo>
                    <a:pt x="1864139" y="0"/>
                  </a:lnTo>
                  <a:cubicBezTo>
                    <a:pt x="1877958" y="0"/>
                    <a:pt x="1891211" y="5489"/>
                    <a:pt x="1900982" y="15261"/>
                  </a:cubicBezTo>
                  <a:cubicBezTo>
                    <a:pt x="1910753" y="25032"/>
                    <a:pt x="1916243" y="38285"/>
                    <a:pt x="1916243" y="52103"/>
                  </a:cubicBezTo>
                  <a:lnTo>
                    <a:pt x="1916243" y="1879441"/>
                  </a:lnTo>
                  <a:cubicBezTo>
                    <a:pt x="1916243" y="1893260"/>
                    <a:pt x="1910753" y="1906513"/>
                    <a:pt x="1900982" y="1916284"/>
                  </a:cubicBezTo>
                  <a:cubicBezTo>
                    <a:pt x="1891211" y="1926055"/>
                    <a:pt x="1877958" y="1931545"/>
                    <a:pt x="1864139" y="1931545"/>
                  </a:cubicBezTo>
                  <a:lnTo>
                    <a:pt x="52103" y="1931545"/>
                  </a:lnTo>
                  <a:cubicBezTo>
                    <a:pt x="38285" y="1931545"/>
                    <a:pt x="25032" y="1926055"/>
                    <a:pt x="15261" y="1916284"/>
                  </a:cubicBezTo>
                  <a:cubicBezTo>
                    <a:pt x="5489" y="1906513"/>
                    <a:pt x="0" y="1893260"/>
                    <a:pt x="0" y="1879441"/>
                  </a:cubicBezTo>
                  <a:lnTo>
                    <a:pt x="0" y="52103"/>
                  </a:lnTo>
                  <a:cubicBezTo>
                    <a:pt x="0" y="38285"/>
                    <a:pt x="5489" y="25032"/>
                    <a:pt x="15261" y="15261"/>
                  </a:cubicBezTo>
                  <a:cubicBezTo>
                    <a:pt x="25032" y="5489"/>
                    <a:pt x="38285" y="0"/>
                    <a:pt x="52103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6243" cy="1969645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90310" y="2593954"/>
            <a:ext cx="6879495" cy="734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prova2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2a_lista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cor_favorita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mês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meuNumero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minha altura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nome@usuario</a:t>
            </a:r>
          </a:p>
          <a:p>
            <a:pPr algn="ctr">
              <a:lnSpc>
                <a:spcPts val="6507"/>
              </a:lnSpc>
            </a:pPr>
          </a:p>
          <a:p>
            <a:pPr algn="ctr">
              <a:lnSpc>
                <a:spcPts val="65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9106" y="3015017"/>
            <a:ext cx="7636890" cy="4433169"/>
            <a:chOff x="0" y="0"/>
            <a:chExt cx="10182520" cy="59108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182520" cy="5910892"/>
              <a:chOff x="0" y="0"/>
              <a:chExt cx="2128743" cy="123572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28743" cy="1235722"/>
              </a:xfrm>
              <a:custGeom>
                <a:avLst/>
                <a:gdLst/>
                <a:ahLst/>
                <a:cxnLst/>
                <a:rect r="r" b="b" t="t" l="l"/>
                <a:pathLst>
                  <a:path h="1235722" w="2128743">
                    <a:moveTo>
                      <a:pt x="51701" y="0"/>
                    </a:moveTo>
                    <a:lnTo>
                      <a:pt x="2077041" y="0"/>
                    </a:lnTo>
                    <a:cubicBezTo>
                      <a:pt x="2090753" y="0"/>
                      <a:pt x="2103904" y="5447"/>
                      <a:pt x="2113599" y="15143"/>
                    </a:cubicBezTo>
                    <a:cubicBezTo>
                      <a:pt x="2123295" y="24839"/>
                      <a:pt x="2128743" y="37989"/>
                      <a:pt x="2128743" y="51701"/>
                    </a:cubicBezTo>
                    <a:lnTo>
                      <a:pt x="2128743" y="1184021"/>
                    </a:lnTo>
                    <a:cubicBezTo>
                      <a:pt x="2128743" y="1197733"/>
                      <a:pt x="2123295" y="1210883"/>
                      <a:pt x="2113599" y="1220579"/>
                    </a:cubicBezTo>
                    <a:cubicBezTo>
                      <a:pt x="2103904" y="1230275"/>
                      <a:pt x="2090753" y="1235722"/>
                      <a:pt x="2077041" y="1235722"/>
                    </a:cubicBezTo>
                    <a:lnTo>
                      <a:pt x="51701" y="1235722"/>
                    </a:lnTo>
                    <a:cubicBezTo>
                      <a:pt x="37989" y="1235722"/>
                      <a:pt x="24839" y="1230275"/>
                      <a:pt x="15143" y="1220579"/>
                    </a:cubicBezTo>
                    <a:cubicBezTo>
                      <a:pt x="5447" y="1210883"/>
                      <a:pt x="0" y="1197733"/>
                      <a:pt x="0" y="1184021"/>
                    </a:cubicBezTo>
                    <a:lnTo>
                      <a:pt x="0" y="51701"/>
                    </a:lnTo>
                    <a:cubicBezTo>
                      <a:pt x="0" y="37989"/>
                      <a:pt x="5447" y="24839"/>
                      <a:pt x="15143" y="15143"/>
                    </a:cubicBezTo>
                    <a:cubicBezTo>
                      <a:pt x="24839" y="5447"/>
                      <a:pt x="37989" y="0"/>
                      <a:pt x="51701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28743" cy="1273822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84886" y="177432"/>
              <a:ext cx="8812748" cy="5460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1"/>
                </a:lnSpc>
                <a:spcBef>
                  <a:spcPct val="0"/>
                </a:spcBef>
              </a:pPr>
              <a:r>
                <a:rPr lang="en-US" b="true" sz="469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Diga se cada nome de variável é válido (V) ou inválido (F) em Python: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41074" y="2057749"/>
            <a:ext cx="7577966" cy="7638480"/>
            <a:chOff x="0" y="0"/>
            <a:chExt cx="1916243" cy="19315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6243" cy="1931545"/>
            </a:xfrm>
            <a:custGeom>
              <a:avLst/>
              <a:gdLst/>
              <a:ahLst/>
              <a:cxnLst/>
              <a:rect r="r" b="b" t="t" l="l"/>
              <a:pathLst>
                <a:path h="1931545" w="1916243">
                  <a:moveTo>
                    <a:pt x="52103" y="0"/>
                  </a:moveTo>
                  <a:lnTo>
                    <a:pt x="1864139" y="0"/>
                  </a:lnTo>
                  <a:cubicBezTo>
                    <a:pt x="1877958" y="0"/>
                    <a:pt x="1891211" y="5489"/>
                    <a:pt x="1900982" y="15261"/>
                  </a:cubicBezTo>
                  <a:cubicBezTo>
                    <a:pt x="1910753" y="25032"/>
                    <a:pt x="1916243" y="38285"/>
                    <a:pt x="1916243" y="52103"/>
                  </a:cubicBezTo>
                  <a:lnTo>
                    <a:pt x="1916243" y="1879441"/>
                  </a:lnTo>
                  <a:cubicBezTo>
                    <a:pt x="1916243" y="1893260"/>
                    <a:pt x="1910753" y="1906513"/>
                    <a:pt x="1900982" y="1916284"/>
                  </a:cubicBezTo>
                  <a:cubicBezTo>
                    <a:pt x="1891211" y="1926055"/>
                    <a:pt x="1877958" y="1931545"/>
                    <a:pt x="1864139" y="1931545"/>
                  </a:cubicBezTo>
                  <a:lnTo>
                    <a:pt x="52103" y="1931545"/>
                  </a:lnTo>
                  <a:cubicBezTo>
                    <a:pt x="38285" y="1931545"/>
                    <a:pt x="25032" y="1926055"/>
                    <a:pt x="15261" y="1916284"/>
                  </a:cubicBezTo>
                  <a:cubicBezTo>
                    <a:pt x="5489" y="1906513"/>
                    <a:pt x="0" y="1893260"/>
                    <a:pt x="0" y="1879441"/>
                  </a:cubicBezTo>
                  <a:lnTo>
                    <a:pt x="0" y="52103"/>
                  </a:lnTo>
                  <a:cubicBezTo>
                    <a:pt x="0" y="38285"/>
                    <a:pt x="5489" y="25032"/>
                    <a:pt x="15261" y="15261"/>
                  </a:cubicBezTo>
                  <a:cubicBezTo>
                    <a:pt x="25032" y="5489"/>
                    <a:pt x="38285" y="0"/>
                    <a:pt x="52103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6243" cy="1969645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90310" y="2593954"/>
            <a:ext cx="6879495" cy="734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prova2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2a_lista 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cor_favorita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mês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meuNumero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minha altura</a:t>
            </a:r>
          </a:p>
          <a:p>
            <a:pPr algn="l" marL="1003587" indent="-501793" lvl="1">
              <a:lnSpc>
                <a:spcPts val="6507"/>
              </a:lnSpc>
              <a:buAutoNum type="arabicPeriod" startAt="1"/>
            </a:pPr>
            <a:r>
              <a:rPr lang="en-US" b="true" sz="46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nome@usuario </a:t>
            </a:r>
          </a:p>
          <a:p>
            <a:pPr algn="ctr">
              <a:lnSpc>
                <a:spcPts val="6507"/>
              </a:lnSpc>
            </a:pPr>
          </a:p>
          <a:p>
            <a:pPr algn="ctr">
              <a:lnSpc>
                <a:spcPts val="6507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4030057" y="2689204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(V)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40275" y="4352989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(V)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84938" y="5973445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(V)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07953" y="3534931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(F)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040275" y="6863734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(F)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40275" y="7600827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(F)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15501" y="5191189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(F)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9106" y="3015017"/>
            <a:ext cx="7636890" cy="1947144"/>
            <a:chOff x="0" y="0"/>
            <a:chExt cx="10182520" cy="25961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182520" cy="2596192"/>
              <a:chOff x="0" y="0"/>
              <a:chExt cx="2128743" cy="54275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28743" cy="542756"/>
              </a:xfrm>
              <a:custGeom>
                <a:avLst/>
                <a:gdLst/>
                <a:ahLst/>
                <a:cxnLst/>
                <a:rect r="r" b="b" t="t" l="l"/>
                <a:pathLst>
                  <a:path h="542756" w="2128743">
                    <a:moveTo>
                      <a:pt x="51701" y="0"/>
                    </a:moveTo>
                    <a:lnTo>
                      <a:pt x="2077041" y="0"/>
                    </a:lnTo>
                    <a:cubicBezTo>
                      <a:pt x="2090753" y="0"/>
                      <a:pt x="2103904" y="5447"/>
                      <a:pt x="2113599" y="15143"/>
                    </a:cubicBezTo>
                    <a:cubicBezTo>
                      <a:pt x="2123295" y="24839"/>
                      <a:pt x="2128743" y="37989"/>
                      <a:pt x="2128743" y="51701"/>
                    </a:cubicBezTo>
                    <a:lnTo>
                      <a:pt x="2128743" y="491055"/>
                    </a:lnTo>
                    <a:cubicBezTo>
                      <a:pt x="2128743" y="504767"/>
                      <a:pt x="2123295" y="517917"/>
                      <a:pt x="2113599" y="527613"/>
                    </a:cubicBezTo>
                    <a:cubicBezTo>
                      <a:pt x="2103904" y="537309"/>
                      <a:pt x="2090753" y="542756"/>
                      <a:pt x="2077041" y="542756"/>
                    </a:cubicBezTo>
                    <a:lnTo>
                      <a:pt x="51701" y="542756"/>
                    </a:lnTo>
                    <a:cubicBezTo>
                      <a:pt x="37989" y="542756"/>
                      <a:pt x="24839" y="537309"/>
                      <a:pt x="15143" y="527613"/>
                    </a:cubicBezTo>
                    <a:cubicBezTo>
                      <a:pt x="5447" y="517917"/>
                      <a:pt x="0" y="504767"/>
                      <a:pt x="0" y="491055"/>
                    </a:cubicBezTo>
                    <a:lnTo>
                      <a:pt x="0" y="51701"/>
                    </a:lnTo>
                    <a:cubicBezTo>
                      <a:pt x="0" y="37989"/>
                      <a:pt x="5447" y="24839"/>
                      <a:pt x="15143" y="15143"/>
                    </a:cubicBezTo>
                    <a:cubicBezTo>
                      <a:pt x="24839" y="5447"/>
                      <a:pt x="37989" y="0"/>
                      <a:pt x="51701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28743" cy="580856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84886" y="177432"/>
              <a:ext cx="8812748" cy="2146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1"/>
                </a:lnSpc>
                <a:spcBef>
                  <a:spcPct val="0"/>
                </a:spcBef>
              </a:pPr>
              <a:r>
                <a:rPr lang="en-US" b="true" sz="469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Qual o tipo da variável?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81334" y="2057749"/>
            <a:ext cx="7577966" cy="7638480"/>
            <a:chOff x="0" y="0"/>
            <a:chExt cx="1916243" cy="19315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6243" cy="1931545"/>
            </a:xfrm>
            <a:custGeom>
              <a:avLst/>
              <a:gdLst/>
              <a:ahLst/>
              <a:cxnLst/>
              <a:rect r="r" b="b" t="t" l="l"/>
              <a:pathLst>
                <a:path h="1931545" w="1916243">
                  <a:moveTo>
                    <a:pt x="52103" y="0"/>
                  </a:moveTo>
                  <a:lnTo>
                    <a:pt x="1864139" y="0"/>
                  </a:lnTo>
                  <a:cubicBezTo>
                    <a:pt x="1877958" y="0"/>
                    <a:pt x="1891211" y="5489"/>
                    <a:pt x="1900982" y="15261"/>
                  </a:cubicBezTo>
                  <a:cubicBezTo>
                    <a:pt x="1910753" y="25032"/>
                    <a:pt x="1916243" y="38285"/>
                    <a:pt x="1916243" y="52103"/>
                  </a:cubicBezTo>
                  <a:lnTo>
                    <a:pt x="1916243" y="1879441"/>
                  </a:lnTo>
                  <a:cubicBezTo>
                    <a:pt x="1916243" y="1893260"/>
                    <a:pt x="1910753" y="1906513"/>
                    <a:pt x="1900982" y="1916284"/>
                  </a:cubicBezTo>
                  <a:cubicBezTo>
                    <a:pt x="1891211" y="1926055"/>
                    <a:pt x="1877958" y="1931545"/>
                    <a:pt x="1864139" y="1931545"/>
                  </a:cubicBezTo>
                  <a:lnTo>
                    <a:pt x="52103" y="1931545"/>
                  </a:lnTo>
                  <a:cubicBezTo>
                    <a:pt x="38285" y="1931545"/>
                    <a:pt x="25032" y="1926055"/>
                    <a:pt x="15261" y="1916284"/>
                  </a:cubicBezTo>
                  <a:cubicBezTo>
                    <a:pt x="5489" y="1906513"/>
                    <a:pt x="0" y="1893260"/>
                    <a:pt x="0" y="1879441"/>
                  </a:cubicBezTo>
                  <a:lnTo>
                    <a:pt x="0" y="52103"/>
                  </a:lnTo>
                  <a:cubicBezTo>
                    <a:pt x="0" y="38285"/>
                    <a:pt x="5489" y="25032"/>
                    <a:pt x="15261" y="15261"/>
                  </a:cubicBezTo>
                  <a:cubicBezTo>
                    <a:pt x="25032" y="5489"/>
                    <a:pt x="38285" y="0"/>
                    <a:pt x="52103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6243" cy="1969645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30569" y="2603479"/>
            <a:ext cx="7228731" cy="471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dia = 26</a:t>
            </a:r>
          </a:p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sobrenome = 'Silva'</a:t>
            </a:r>
          </a:p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aprovado </a:t>
            </a: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 True</a:t>
            </a:r>
          </a:p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aprovado = “True”</a:t>
            </a:r>
          </a:p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nota = 9.0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9106" y="3015017"/>
            <a:ext cx="7636890" cy="1947144"/>
            <a:chOff x="0" y="0"/>
            <a:chExt cx="10182520" cy="25961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182520" cy="2596192"/>
              <a:chOff x="0" y="0"/>
              <a:chExt cx="2128743" cy="54275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28743" cy="542756"/>
              </a:xfrm>
              <a:custGeom>
                <a:avLst/>
                <a:gdLst/>
                <a:ahLst/>
                <a:cxnLst/>
                <a:rect r="r" b="b" t="t" l="l"/>
                <a:pathLst>
                  <a:path h="542756" w="2128743">
                    <a:moveTo>
                      <a:pt x="51701" y="0"/>
                    </a:moveTo>
                    <a:lnTo>
                      <a:pt x="2077041" y="0"/>
                    </a:lnTo>
                    <a:cubicBezTo>
                      <a:pt x="2090753" y="0"/>
                      <a:pt x="2103904" y="5447"/>
                      <a:pt x="2113599" y="15143"/>
                    </a:cubicBezTo>
                    <a:cubicBezTo>
                      <a:pt x="2123295" y="24839"/>
                      <a:pt x="2128743" y="37989"/>
                      <a:pt x="2128743" y="51701"/>
                    </a:cubicBezTo>
                    <a:lnTo>
                      <a:pt x="2128743" y="491055"/>
                    </a:lnTo>
                    <a:cubicBezTo>
                      <a:pt x="2128743" y="504767"/>
                      <a:pt x="2123295" y="517917"/>
                      <a:pt x="2113599" y="527613"/>
                    </a:cubicBezTo>
                    <a:cubicBezTo>
                      <a:pt x="2103904" y="537309"/>
                      <a:pt x="2090753" y="542756"/>
                      <a:pt x="2077041" y="542756"/>
                    </a:cubicBezTo>
                    <a:lnTo>
                      <a:pt x="51701" y="542756"/>
                    </a:lnTo>
                    <a:cubicBezTo>
                      <a:pt x="37989" y="542756"/>
                      <a:pt x="24839" y="537309"/>
                      <a:pt x="15143" y="527613"/>
                    </a:cubicBezTo>
                    <a:cubicBezTo>
                      <a:pt x="5447" y="517917"/>
                      <a:pt x="0" y="504767"/>
                      <a:pt x="0" y="491055"/>
                    </a:cubicBezTo>
                    <a:lnTo>
                      <a:pt x="0" y="51701"/>
                    </a:lnTo>
                    <a:cubicBezTo>
                      <a:pt x="0" y="37989"/>
                      <a:pt x="5447" y="24839"/>
                      <a:pt x="15143" y="15143"/>
                    </a:cubicBezTo>
                    <a:cubicBezTo>
                      <a:pt x="24839" y="5447"/>
                      <a:pt x="37989" y="0"/>
                      <a:pt x="51701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28743" cy="580856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84886" y="177432"/>
              <a:ext cx="8812748" cy="2146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1"/>
                </a:lnSpc>
                <a:spcBef>
                  <a:spcPct val="0"/>
                </a:spcBef>
              </a:pPr>
              <a:r>
                <a:rPr lang="en-US" b="true" sz="469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Qual o tipo da variável?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81334" y="2057749"/>
            <a:ext cx="7577966" cy="7638480"/>
            <a:chOff x="0" y="0"/>
            <a:chExt cx="1916243" cy="19315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6243" cy="1931545"/>
            </a:xfrm>
            <a:custGeom>
              <a:avLst/>
              <a:gdLst/>
              <a:ahLst/>
              <a:cxnLst/>
              <a:rect r="r" b="b" t="t" l="l"/>
              <a:pathLst>
                <a:path h="1931545" w="1916243">
                  <a:moveTo>
                    <a:pt x="52103" y="0"/>
                  </a:moveTo>
                  <a:lnTo>
                    <a:pt x="1864139" y="0"/>
                  </a:lnTo>
                  <a:cubicBezTo>
                    <a:pt x="1877958" y="0"/>
                    <a:pt x="1891211" y="5489"/>
                    <a:pt x="1900982" y="15261"/>
                  </a:cubicBezTo>
                  <a:cubicBezTo>
                    <a:pt x="1910753" y="25032"/>
                    <a:pt x="1916243" y="38285"/>
                    <a:pt x="1916243" y="52103"/>
                  </a:cubicBezTo>
                  <a:lnTo>
                    <a:pt x="1916243" y="1879441"/>
                  </a:lnTo>
                  <a:cubicBezTo>
                    <a:pt x="1916243" y="1893260"/>
                    <a:pt x="1910753" y="1906513"/>
                    <a:pt x="1900982" y="1916284"/>
                  </a:cubicBezTo>
                  <a:cubicBezTo>
                    <a:pt x="1891211" y="1926055"/>
                    <a:pt x="1877958" y="1931545"/>
                    <a:pt x="1864139" y="1931545"/>
                  </a:cubicBezTo>
                  <a:lnTo>
                    <a:pt x="52103" y="1931545"/>
                  </a:lnTo>
                  <a:cubicBezTo>
                    <a:pt x="38285" y="1931545"/>
                    <a:pt x="25032" y="1926055"/>
                    <a:pt x="15261" y="1916284"/>
                  </a:cubicBezTo>
                  <a:cubicBezTo>
                    <a:pt x="5489" y="1906513"/>
                    <a:pt x="0" y="1893260"/>
                    <a:pt x="0" y="1879441"/>
                  </a:cubicBezTo>
                  <a:lnTo>
                    <a:pt x="0" y="52103"/>
                  </a:lnTo>
                  <a:cubicBezTo>
                    <a:pt x="0" y="38285"/>
                    <a:pt x="5489" y="25032"/>
                    <a:pt x="15261" y="15261"/>
                  </a:cubicBezTo>
                  <a:cubicBezTo>
                    <a:pt x="25032" y="5489"/>
                    <a:pt x="38285" y="0"/>
                    <a:pt x="52103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6243" cy="1969645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30569" y="2603479"/>
            <a:ext cx="7228731" cy="471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dia = 26</a:t>
            </a:r>
          </a:p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sobrenome = 'Silva'</a:t>
            </a:r>
          </a:p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aprovado </a:t>
            </a: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 True</a:t>
            </a:r>
          </a:p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aprovado = “True”</a:t>
            </a:r>
          </a:p>
          <a:p>
            <a:pPr algn="l" marL="960408" indent="-480204" lvl="1">
              <a:lnSpc>
                <a:spcPts val="6227"/>
              </a:lnSpc>
              <a:buAutoNum type="arabicPeriod" startAt="1"/>
            </a:pPr>
            <a:r>
              <a:rPr lang="en-US" b="true" sz="444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nota = 9.0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85952" y="2672117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08511" y="4276361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87766" y="5065282"/>
            <a:ext cx="127307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bool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21258" y="6633865"/>
            <a:ext cx="159127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float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49066" y="5876989"/>
            <a:ext cx="9548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b="true" sz="4532" spc="-26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str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22671" y="1874517"/>
            <a:ext cx="13042659" cy="1199607"/>
            <a:chOff x="0" y="0"/>
            <a:chExt cx="3435104" cy="315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35104" cy="315946"/>
            </a:xfrm>
            <a:custGeom>
              <a:avLst/>
              <a:gdLst/>
              <a:ahLst/>
              <a:cxnLst/>
              <a:rect r="r" b="b" t="t" l="l"/>
              <a:pathLst>
                <a:path h="315946" w="3435104">
                  <a:moveTo>
                    <a:pt x="30273" y="0"/>
                  </a:moveTo>
                  <a:lnTo>
                    <a:pt x="3404831" y="0"/>
                  </a:lnTo>
                  <a:cubicBezTo>
                    <a:pt x="3421550" y="0"/>
                    <a:pt x="3435104" y="13554"/>
                    <a:pt x="3435104" y="30273"/>
                  </a:cubicBezTo>
                  <a:lnTo>
                    <a:pt x="3435104" y="285673"/>
                  </a:lnTo>
                  <a:cubicBezTo>
                    <a:pt x="3435104" y="302392"/>
                    <a:pt x="3421550" y="315946"/>
                    <a:pt x="3404831" y="315946"/>
                  </a:cubicBezTo>
                  <a:lnTo>
                    <a:pt x="30273" y="315946"/>
                  </a:lnTo>
                  <a:cubicBezTo>
                    <a:pt x="13554" y="315946"/>
                    <a:pt x="0" y="302392"/>
                    <a:pt x="0" y="285673"/>
                  </a:cubicBezTo>
                  <a:lnTo>
                    <a:pt x="0" y="30273"/>
                  </a:lnTo>
                  <a:cubicBezTo>
                    <a:pt x="0" y="13554"/>
                    <a:pt x="13554" y="0"/>
                    <a:pt x="30273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435104" cy="35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60403" y="3388448"/>
            <a:ext cx="4174528" cy="812634"/>
            <a:chOff x="0" y="0"/>
            <a:chExt cx="1099464" cy="2140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9464" cy="214027"/>
            </a:xfrm>
            <a:custGeom>
              <a:avLst/>
              <a:gdLst/>
              <a:ahLst/>
              <a:cxnLst/>
              <a:rect r="r" b="b" t="t" l="l"/>
              <a:pathLst>
                <a:path h="214027" w="1099464">
                  <a:moveTo>
                    <a:pt x="94583" y="0"/>
                  </a:moveTo>
                  <a:lnTo>
                    <a:pt x="1004882" y="0"/>
                  </a:lnTo>
                  <a:cubicBezTo>
                    <a:pt x="1029966" y="0"/>
                    <a:pt x="1054024" y="9965"/>
                    <a:pt x="1071762" y="27703"/>
                  </a:cubicBezTo>
                  <a:cubicBezTo>
                    <a:pt x="1089499" y="45440"/>
                    <a:pt x="1099464" y="69498"/>
                    <a:pt x="1099464" y="94583"/>
                  </a:cubicBezTo>
                  <a:lnTo>
                    <a:pt x="1099464" y="119444"/>
                  </a:lnTo>
                  <a:cubicBezTo>
                    <a:pt x="1099464" y="144529"/>
                    <a:pt x="1089499" y="168587"/>
                    <a:pt x="1071762" y="186324"/>
                  </a:cubicBezTo>
                  <a:cubicBezTo>
                    <a:pt x="1054024" y="204062"/>
                    <a:pt x="1029966" y="214027"/>
                    <a:pt x="1004882" y="214027"/>
                  </a:cubicBezTo>
                  <a:lnTo>
                    <a:pt x="94583" y="214027"/>
                  </a:lnTo>
                  <a:cubicBezTo>
                    <a:pt x="69498" y="214027"/>
                    <a:pt x="45440" y="204062"/>
                    <a:pt x="27703" y="186324"/>
                  </a:cubicBezTo>
                  <a:cubicBezTo>
                    <a:pt x="9965" y="168587"/>
                    <a:pt x="0" y="144529"/>
                    <a:pt x="0" y="119444"/>
                  </a:cubicBezTo>
                  <a:lnTo>
                    <a:pt x="0" y="94583"/>
                  </a:lnTo>
                  <a:cubicBezTo>
                    <a:pt x="0" y="69498"/>
                    <a:pt x="9965" y="45440"/>
                    <a:pt x="27703" y="27703"/>
                  </a:cubicBezTo>
                  <a:cubicBezTo>
                    <a:pt x="45440" y="9965"/>
                    <a:pt x="69498" y="0"/>
                    <a:pt x="94583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9464" cy="252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57236" y="4629707"/>
            <a:ext cx="6593109" cy="4628593"/>
            <a:chOff x="0" y="0"/>
            <a:chExt cx="1736457" cy="12190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6457" cy="1219053"/>
            </a:xfrm>
            <a:custGeom>
              <a:avLst/>
              <a:gdLst/>
              <a:ahLst/>
              <a:cxnLst/>
              <a:rect r="r" b="b" t="t" l="l"/>
              <a:pathLst>
                <a:path h="1219053" w="1736457">
                  <a:moveTo>
                    <a:pt x="59886" y="0"/>
                  </a:moveTo>
                  <a:lnTo>
                    <a:pt x="1676570" y="0"/>
                  </a:lnTo>
                  <a:cubicBezTo>
                    <a:pt x="1692453" y="0"/>
                    <a:pt x="1707685" y="6309"/>
                    <a:pt x="1718916" y="17540"/>
                  </a:cubicBezTo>
                  <a:cubicBezTo>
                    <a:pt x="1730147" y="28771"/>
                    <a:pt x="1736457" y="44004"/>
                    <a:pt x="1736457" y="59886"/>
                  </a:cubicBezTo>
                  <a:lnTo>
                    <a:pt x="1736457" y="1159167"/>
                  </a:lnTo>
                  <a:cubicBezTo>
                    <a:pt x="1736457" y="1175050"/>
                    <a:pt x="1730147" y="1190282"/>
                    <a:pt x="1718916" y="1201513"/>
                  </a:cubicBezTo>
                  <a:cubicBezTo>
                    <a:pt x="1707685" y="1212744"/>
                    <a:pt x="1692453" y="1219053"/>
                    <a:pt x="1676570" y="1219053"/>
                  </a:cubicBezTo>
                  <a:lnTo>
                    <a:pt x="59886" y="1219053"/>
                  </a:lnTo>
                  <a:cubicBezTo>
                    <a:pt x="44004" y="1219053"/>
                    <a:pt x="28771" y="1212744"/>
                    <a:pt x="17540" y="1201513"/>
                  </a:cubicBezTo>
                  <a:cubicBezTo>
                    <a:pt x="6309" y="1190282"/>
                    <a:pt x="0" y="1175050"/>
                    <a:pt x="0" y="1159167"/>
                  </a:cubicBezTo>
                  <a:lnTo>
                    <a:pt x="0" y="59886"/>
                  </a:lnTo>
                  <a:cubicBezTo>
                    <a:pt x="0" y="44004"/>
                    <a:pt x="6309" y="28771"/>
                    <a:pt x="17540" y="17540"/>
                  </a:cubicBezTo>
                  <a:cubicBezTo>
                    <a:pt x="28771" y="6309"/>
                    <a:pt x="44004" y="0"/>
                    <a:pt x="59886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36457" cy="1257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32230" y="378365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ENTRADA E SAÍDA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79123" y="2011503"/>
            <a:ext cx="11937088" cy="8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4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Quand</a:t>
            </a:r>
            <a:r>
              <a:rPr lang="en-US" b="true" sz="2739" spc="-164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usamos o computador, nós podemos </a:t>
            </a:r>
            <a:r>
              <a:rPr lang="en-US" b="true" sz="2739" spc="-164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dar informações</a:t>
            </a:r>
            <a:r>
              <a:rPr lang="en-US" b="true" sz="2739" spc="-164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para ele e também </a:t>
            </a:r>
            <a:r>
              <a:rPr lang="en-US" b="true" sz="2739" spc="-164" u="sng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receber informações</a:t>
            </a:r>
            <a:r>
              <a:rPr lang="en-US" b="true" sz="2739" spc="-164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dele.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16855" y="3589990"/>
            <a:ext cx="3504302" cy="40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4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Chamamos isso de: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52040" y="6205563"/>
            <a:ext cx="6003502" cy="204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São as </a:t>
            </a:r>
            <a:r>
              <a:rPr lang="en-US" b="true" sz="2739" spc="-164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informações que </a:t>
            </a:r>
            <a:r>
              <a:rPr lang="en-US" b="true" sz="2739" spc="-164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usuário fornece ao programa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, como 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igit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 no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tecl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do, clicar em um 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otão ou fala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 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 m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cro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834388" y="4983696"/>
            <a:ext cx="1032304" cy="996173"/>
          </a:xfrm>
          <a:custGeom>
            <a:avLst/>
            <a:gdLst/>
            <a:ahLst/>
            <a:cxnLst/>
            <a:rect r="r" b="b" t="t" l="l"/>
            <a:pathLst>
              <a:path h="996173" w="1032304">
                <a:moveTo>
                  <a:pt x="0" y="0"/>
                </a:moveTo>
                <a:lnTo>
                  <a:pt x="1032304" y="0"/>
                </a:lnTo>
                <a:lnTo>
                  <a:pt x="1032304" y="996173"/>
                </a:lnTo>
                <a:lnTo>
                  <a:pt x="0" y="9961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910910" y="5215098"/>
            <a:ext cx="3762284" cy="53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b="true" sz="3538" spc="-21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Entrada (</a:t>
            </a:r>
            <a:r>
              <a:rPr lang="en-US" b="true" sz="3538" spc="-211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b="true" sz="3538" spc="-21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762661" y="4629707"/>
            <a:ext cx="6593109" cy="4628593"/>
            <a:chOff x="0" y="0"/>
            <a:chExt cx="1736457" cy="12190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36457" cy="1219053"/>
            </a:xfrm>
            <a:custGeom>
              <a:avLst/>
              <a:gdLst/>
              <a:ahLst/>
              <a:cxnLst/>
              <a:rect r="r" b="b" t="t" l="l"/>
              <a:pathLst>
                <a:path h="1219053" w="1736457">
                  <a:moveTo>
                    <a:pt x="59886" y="0"/>
                  </a:moveTo>
                  <a:lnTo>
                    <a:pt x="1676570" y="0"/>
                  </a:lnTo>
                  <a:cubicBezTo>
                    <a:pt x="1692453" y="0"/>
                    <a:pt x="1707685" y="6309"/>
                    <a:pt x="1718916" y="17540"/>
                  </a:cubicBezTo>
                  <a:cubicBezTo>
                    <a:pt x="1730147" y="28771"/>
                    <a:pt x="1736457" y="44004"/>
                    <a:pt x="1736457" y="59886"/>
                  </a:cubicBezTo>
                  <a:lnTo>
                    <a:pt x="1736457" y="1159167"/>
                  </a:lnTo>
                  <a:cubicBezTo>
                    <a:pt x="1736457" y="1175050"/>
                    <a:pt x="1730147" y="1190282"/>
                    <a:pt x="1718916" y="1201513"/>
                  </a:cubicBezTo>
                  <a:cubicBezTo>
                    <a:pt x="1707685" y="1212744"/>
                    <a:pt x="1692453" y="1219053"/>
                    <a:pt x="1676570" y="1219053"/>
                  </a:cubicBezTo>
                  <a:lnTo>
                    <a:pt x="59886" y="1219053"/>
                  </a:lnTo>
                  <a:cubicBezTo>
                    <a:pt x="44004" y="1219053"/>
                    <a:pt x="28771" y="1212744"/>
                    <a:pt x="17540" y="1201513"/>
                  </a:cubicBezTo>
                  <a:cubicBezTo>
                    <a:pt x="6309" y="1190282"/>
                    <a:pt x="0" y="1175050"/>
                    <a:pt x="0" y="1159167"/>
                  </a:cubicBezTo>
                  <a:lnTo>
                    <a:pt x="0" y="59886"/>
                  </a:lnTo>
                  <a:cubicBezTo>
                    <a:pt x="0" y="44004"/>
                    <a:pt x="6309" y="28771"/>
                    <a:pt x="17540" y="17540"/>
                  </a:cubicBezTo>
                  <a:cubicBezTo>
                    <a:pt x="28771" y="6309"/>
                    <a:pt x="44004" y="0"/>
                    <a:pt x="59886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36457" cy="1257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057464" y="6189856"/>
            <a:ext cx="6003502" cy="204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São as </a:t>
            </a:r>
            <a:r>
              <a:rPr lang="en-US" b="true" sz="2739" spc="-164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informações que </a:t>
            </a:r>
            <a:r>
              <a:rPr lang="en-US" b="true" sz="2739" spc="-164" u="sng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programa devolve ao usuário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, como mostr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ar um texto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na tel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, tocar um som ou exibi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 u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 </a:t>
            </a:r>
            <a:r>
              <a:rPr lang="en-US" b="true" sz="2739" spc="-164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imag</a:t>
            </a:r>
            <a:r>
              <a:rPr lang="en-US" b="true" sz="2739" spc="-1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em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630862" y="4967990"/>
            <a:ext cx="996173" cy="996173"/>
          </a:xfrm>
          <a:custGeom>
            <a:avLst/>
            <a:gdLst/>
            <a:ahLst/>
            <a:cxnLst/>
            <a:rect r="r" b="b" t="t" l="l"/>
            <a:pathLst>
              <a:path h="996173" w="996173">
                <a:moveTo>
                  <a:pt x="0" y="0"/>
                </a:moveTo>
                <a:lnTo>
                  <a:pt x="996173" y="0"/>
                </a:lnTo>
                <a:lnTo>
                  <a:pt x="996173" y="996173"/>
                </a:lnTo>
                <a:lnTo>
                  <a:pt x="0" y="9961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722358" y="5215098"/>
            <a:ext cx="3762284" cy="53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b="true" sz="3538" spc="-21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 (</a:t>
            </a:r>
            <a:r>
              <a:rPr lang="en-US" b="true" sz="3538" spc="-211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output</a:t>
            </a:r>
            <a:r>
              <a:rPr lang="en-US" b="true" sz="3538" spc="-211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3511" t="-123567" r="-70535" b="-427893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185" y="2834566"/>
            <a:ext cx="7405850" cy="4617868"/>
            <a:chOff x="0" y="0"/>
            <a:chExt cx="1950512" cy="1216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512" cy="1216229"/>
            </a:xfrm>
            <a:custGeom>
              <a:avLst/>
              <a:gdLst/>
              <a:ahLst/>
              <a:cxnLst/>
              <a:rect r="r" b="b" t="t" l="l"/>
              <a:pathLst>
                <a:path h="1216229" w="1950512">
                  <a:moveTo>
                    <a:pt x="53314" y="0"/>
                  </a:moveTo>
                  <a:lnTo>
                    <a:pt x="1897197" y="0"/>
                  </a:lnTo>
                  <a:cubicBezTo>
                    <a:pt x="1911337" y="0"/>
                    <a:pt x="1924898" y="5617"/>
                    <a:pt x="1934896" y="15615"/>
                  </a:cubicBezTo>
                  <a:cubicBezTo>
                    <a:pt x="1944895" y="25614"/>
                    <a:pt x="1950512" y="39174"/>
                    <a:pt x="1950512" y="53314"/>
                  </a:cubicBezTo>
                  <a:lnTo>
                    <a:pt x="1950512" y="1162914"/>
                  </a:lnTo>
                  <a:cubicBezTo>
                    <a:pt x="1950512" y="1192359"/>
                    <a:pt x="1926642" y="1216229"/>
                    <a:pt x="1897197" y="1216229"/>
                  </a:cubicBezTo>
                  <a:lnTo>
                    <a:pt x="53314" y="1216229"/>
                  </a:lnTo>
                  <a:cubicBezTo>
                    <a:pt x="23870" y="1216229"/>
                    <a:pt x="0" y="1192359"/>
                    <a:pt x="0" y="1162914"/>
                  </a:cubicBezTo>
                  <a:lnTo>
                    <a:pt x="0" y="53314"/>
                  </a:lnTo>
                  <a:cubicBezTo>
                    <a:pt x="0" y="23870"/>
                    <a:pt x="23870" y="0"/>
                    <a:pt x="5331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0512" cy="1254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11754" y="3027246"/>
            <a:ext cx="7056280" cy="411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1"/>
              </a:lnSpc>
            </a:pPr>
            <a:r>
              <a:rPr lang="en-US" sz="337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Para os nossos programas, as entradas serão, principalmente, dados passados pelo </a:t>
            </a:r>
            <a:r>
              <a:rPr lang="en-US" sz="3372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teclado</a:t>
            </a:r>
          </a:p>
          <a:p>
            <a:pPr algn="ctr">
              <a:lnSpc>
                <a:spcPts val="4721"/>
              </a:lnSpc>
            </a:pPr>
            <a:r>
              <a:rPr lang="en-US" sz="337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Temos dois tipos de dados de entrada:</a:t>
            </a:r>
          </a:p>
          <a:p>
            <a:pPr algn="ctr" marL="728104" indent="-364052" lvl="1">
              <a:lnSpc>
                <a:spcPts val="4721"/>
              </a:lnSpc>
              <a:buFont typeface="Arial"/>
              <a:buChar char="•"/>
            </a:pPr>
            <a:r>
              <a:rPr lang="en-US" sz="3372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Números</a:t>
            </a:r>
          </a:p>
          <a:p>
            <a:pPr algn="ctr" marL="728104" indent="-364052" lvl="1">
              <a:lnSpc>
                <a:spcPts val="4721"/>
              </a:lnSpc>
              <a:spcBef>
                <a:spcPct val="0"/>
              </a:spcBef>
              <a:buFont typeface="Arial"/>
              <a:buChar char="•"/>
            </a:pPr>
            <a:r>
              <a:rPr lang="en-US" sz="3372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Strings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45813" y="3385473"/>
            <a:ext cx="7713487" cy="3516054"/>
            <a:chOff x="0" y="0"/>
            <a:chExt cx="10284650" cy="468807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742242"/>
              <a:ext cx="10284650" cy="3945830"/>
              <a:chOff x="0" y="0"/>
              <a:chExt cx="1950512" cy="74833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50512" cy="748337"/>
              </a:xfrm>
              <a:custGeom>
                <a:avLst/>
                <a:gdLst/>
                <a:ahLst/>
                <a:cxnLst/>
                <a:rect r="r" b="b" t="t" l="l"/>
                <a:pathLst>
                  <a:path h="748337" w="1950512">
                    <a:moveTo>
                      <a:pt x="53314" y="0"/>
                    </a:moveTo>
                    <a:lnTo>
                      <a:pt x="1897197" y="0"/>
                    </a:lnTo>
                    <a:cubicBezTo>
                      <a:pt x="1911337" y="0"/>
                      <a:pt x="1924898" y="5617"/>
                      <a:pt x="1934896" y="15615"/>
                    </a:cubicBezTo>
                    <a:cubicBezTo>
                      <a:pt x="1944895" y="25614"/>
                      <a:pt x="1950512" y="39174"/>
                      <a:pt x="1950512" y="53314"/>
                    </a:cubicBezTo>
                    <a:lnTo>
                      <a:pt x="1950512" y="695023"/>
                    </a:lnTo>
                    <a:cubicBezTo>
                      <a:pt x="1950512" y="724468"/>
                      <a:pt x="1926642" y="748337"/>
                      <a:pt x="1897197" y="748337"/>
                    </a:cubicBezTo>
                    <a:lnTo>
                      <a:pt x="53314" y="748337"/>
                    </a:lnTo>
                    <a:cubicBezTo>
                      <a:pt x="23870" y="748337"/>
                      <a:pt x="0" y="724468"/>
                      <a:pt x="0" y="695023"/>
                    </a:cubicBezTo>
                    <a:lnTo>
                      <a:pt x="0" y="53314"/>
                    </a:lnTo>
                    <a:cubicBezTo>
                      <a:pt x="0" y="23870"/>
                      <a:pt x="23870" y="0"/>
                      <a:pt x="53314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950512" cy="7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162217" y="0"/>
              <a:ext cx="3960216" cy="1558364"/>
              <a:chOff x="0" y="0"/>
              <a:chExt cx="751066" cy="29554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38457" y="0"/>
                    </a:moveTo>
                    <a:lnTo>
                      <a:pt x="612609" y="0"/>
                    </a:lnTo>
                    <a:cubicBezTo>
                      <a:pt x="649330" y="0"/>
                      <a:pt x="684547" y="14587"/>
                      <a:pt x="710513" y="40553"/>
                    </a:cubicBezTo>
                    <a:cubicBezTo>
                      <a:pt x="736478" y="66519"/>
                      <a:pt x="751066" y="101736"/>
                      <a:pt x="751066" y="138457"/>
                    </a:cubicBezTo>
                    <a:lnTo>
                      <a:pt x="751066" y="157091"/>
                    </a:lnTo>
                    <a:cubicBezTo>
                      <a:pt x="751066" y="193812"/>
                      <a:pt x="736478" y="229029"/>
                      <a:pt x="710513" y="254995"/>
                    </a:cubicBezTo>
                    <a:cubicBezTo>
                      <a:pt x="684547" y="280961"/>
                      <a:pt x="649330" y="295548"/>
                      <a:pt x="612609" y="295548"/>
                    </a:cubicBezTo>
                    <a:lnTo>
                      <a:pt x="138457" y="295548"/>
                    </a:lnTo>
                    <a:cubicBezTo>
                      <a:pt x="101736" y="295548"/>
                      <a:pt x="66519" y="280961"/>
                      <a:pt x="40553" y="254995"/>
                    </a:cubicBezTo>
                    <a:cubicBezTo>
                      <a:pt x="14587" y="229029"/>
                      <a:pt x="0" y="193812"/>
                      <a:pt x="0" y="157091"/>
                    </a:cubicBezTo>
                    <a:lnTo>
                      <a:pt x="0" y="138457"/>
                    </a:lnTo>
                    <a:cubicBezTo>
                      <a:pt x="0" y="101736"/>
                      <a:pt x="14587" y="66519"/>
                      <a:pt x="40553" y="40553"/>
                    </a:cubicBezTo>
                    <a:cubicBezTo>
                      <a:pt x="66519" y="14587"/>
                      <a:pt x="101736" y="0"/>
                      <a:pt x="138457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752452" y="371892"/>
              <a:ext cx="2779746" cy="740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3"/>
                </a:lnSpc>
                <a:spcBef>
                  <a:spcPct val="0"/>
                </a:spcBef>
              </a:pPr>
              <a:r>
                <a:rPr lang="en-US" b="true" sz="3685" spc="-22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Exemplo: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77205" y="1811343"/>
              <a:ext cx="9930239" cy="1714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3"/>
                </a:lnSpc>
              </a:pPr>
              <a:r>
                <a:rPr lang="en-US" sz="2852" spc="-168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nome = </a:t>
              </a:r>
              <a:r>
                <a:rPr lang="en-US" sz="2852" spc="-168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sz="2852" spc="-168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852" spc="-168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"Qual é o seu nome? "</a:t>
              </a:r>
              <a:r>
                <a:rPr lang="en-US" sz="2852" spc="-168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  </a:t>
              </a:r>
            </a:p>
            <a:p>
              <a:pPr algn="l">
                <a:lnSpc>
                  <a:spcPts val="3423"/>
                </a:lnSpc>
              </a:pPr>
            </a:p>
            <a:p>
              <a:pPr algn="l">
                <a:lnSpc>
                  <a:spcPts val="3423"/>
                </a:lnSpc>
                <a:spcBef>
                  <a:spcPct val="0"/>
                </a:spcBef>
              </a:pPr>
              <a:r>
                <a:rPr lang="en-US" b="true" sz="2852" spc="-17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= </a:t>
              </a:r>
              <a:r>
                <a:rPr lang="en-US" b="true" sz="2852" spc="-170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b="true" sz="2852" spc="-17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852" spc="-170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“Qual sua idade?”</a:t>
              </a:r>
              <a:r>
                <a:rPr lang="en-US" b="true" sz="2852" spc="-17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  <a:r>
                <a:rPr lang="en-US" b="true" sz="2852" spc="-17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        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11754" y="589965"/>
            <a:ext cx="14423540" cy="1068273"/>
            <a:chOff x="0" y="0"/>
            <a:chExt cx="19231387" cy="142436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247650"/>
              <a:ext cx="19231387" cy="1672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79"/>
                </a:lnSpc>
              </a:pPr>
              <a:r>
                <a:rPr lang="en-US" sz="7013" i="true" spc="-722">
                  <a:solidFill>
                    <a:srgbClr val="F2EFEB"/>
                  </a:solidFill>
                  <a:latin typeface="Bugaki Italics"/>
                  <a:ea typeface="Bugaki Italics"/>
                  <a:cs typeface="Bugaki Italics"/>
                  <a:sym typeface="Bugaki Italics"/>
                </a:rPr>
                <a:t>ENTRADA 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12780196" y="0"/>
              <a:ext cx="1376405" cy="1328231"/>
            </a:xfrm>
            <a:custGeom>
              <a:avLst/>
              <a:gdLst/>
              <a:ahLst/>
              <a:cxnLst/>
              <a:rect r="r" b="b" t="t" l="l"/>
              <a:pathLst>
                <a:path h="1328231" w="1376405">
                  <a:moveTo>
                    <a:pt x="0" y="0"/>
                  </a:moveTo>
                  <a:lnTo>
                    <a:pt x="1376405" y="0"/>
                  </a:lnTo>
                  <a:lnTo>
                    <a:pt x="1376405" y="1328231"/>
                  </a:lnTo>
                  <a:lnTo>
                    <a:pt x="0" y="1328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27562" y="5408182"/>
            <a:ext cx="5386626" cy="3355757"/>
            <a:chOff x="0" y="0"/>
            <a:chExt cx="7182168" cy="447434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182168" cy="4474343"/>
              <a:chOff x="0" y="0"/>
              <a:chExt cx="1967085" cy="122545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67085" cy="1225454"/>
              </a:xfrm>
              <a:custGeom>
                <a:avLst/>
                <a:gdLst/>
                <a:ahLst/>
                <a:cxnLst/>
                <a:rect r="r" b="b" t="t" l="l"/>
                <a:pathLst>
                  <a:path h="1225454" w="1967085">
                    <a:moveTo>
                      <a:pt x="52865" y="0"/>
                    </a:moveTo>
                    <a:lnTo>
                      <a:pt x="1914220" y="0"/>
                    </a:lnTo>
                    <a:cubicBezTo>
                      <a:pt x="1943417" y="0"/>
                      <a:pt x="1967085" y="23669"/>
                      <a:pt x="1967085" y="52865"/>
                    </a:cubicBezTo>
                    <a:lnTo>
                      <a:pt x="1967085" y="1172588"/>
                    </a:lnTo>
                    <a:cubicBezTo>
                      <a:pt x="1967085" y="1201785"/>
                      <a:pt x="1943417" y="1225454"/>
                      <a:pt x="1914220" y="1225454"/>
                    </a:cubicBezTo>
                    <a:lnTo>
                      <a:pt x="52865" y="1225454"/>
                    </a:lnTo>
                    <a:cubicBezTo>
                      <a:pt x="38844" y="1225454"/>
                      <a:pt x="25398" y="1219884"/>
                      <a:pt x="15484" y="1209970"/>
                    </a:cubicBezTo>
                    <a:cubicBezTo>
                      <a:pt x="5570" y="1200056"/>
                      <a:pt x="0" y="1186609"/>
                      <a:pt x="0" y="1172588"/>
                    </a:cubicBezTo>
                    <a:lnTo>
                      <a:pt x="0" y="52865"/>
                    </a:lnTo>
                    <a:cubicBezTo>
                      <a:pt x="0" y="23669"/>
                      <a:pt x="23669" y="0"/>
                      <a:pt x="52865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967085" cy="126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987699" y="284684"/>
              <a:ext cx="5206769" cy="3644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58"/>
                </a:lnSpc>
              </a:pPr>
              <a:r>
                <a:rPr lang="en-US" sz="3113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Em Python, sempre que quisermos </a:t>
              </a:r>
              <a:r>
                <a:rPr lang="en-US" sz="3113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receber uma entrada</a:t>
              </a:r>
              <a:r>
                <a:rPr lang="en-US" sz="3113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usamos a função:</a:t>
              </a:r>
            </a:p>
            <a:p>
              <a:pPr algn="ctr">
                <a:lnSpc>
                  <a:spcPts val="4358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887234" y="3098477"/>
              <a:ext cx="3231645" cy="79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67"/>
                </a:lnSpc>
                <a:spcBef>
                  <a:spcPct val="0"/>
                </a:spcBef>
              </a:pPr>
              <a:r>
                <a:rPr lang="en-US" b="true" sz="3619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input( 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55301" y="2179724"/>
            <a:ext cx="7577398" cy="2478341"/>
            <a:chOff x="0" y="0"/>
            <a:chExt cx="10103197" cy="330445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729146"/>
              <a:ext cx="10103197" cy="2575308"/>
              <a:chOff x="0" y="0"/>
              <a:chExt cx="1950512" cy="49718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50512" cy="497186"/>
              </a:xfrm>
              <a:custGeom>
                <a:avLst/>
                <a:gdLst/>
                <a:ahLst/>
                <a:cxnLst/>
                <a:rect r="r" b="b" t="t" l="l"/>
                <a:pathLst>
                  <a:path h="497186" w="1950512">
                    <a:moveTo>
                      <a:pt x="61102" y="0"/>
                    </a:moveTo>
                    <a:lnTo>
                      <a:pt x="1889409" y="0"/>
                    </a:lnTo>
                    <a:cubicBezTo>
                      <a:pt x="1905615" y="0"/>
                      <a:pt x="1921156" y="6438"/>
                      <a:pt x="1932615" y="17896"/>
                    </a:cubicBezTo>
                    <a:cubicBezTo>
                      <a:pt x="1944074" y="29355"/>
                      <a:pt x="1950512" y="44897"/>
                      <a:pt x="1950512" y="61102"/>
                    </a:cubicBezTo>
                    <a:lnTo>
                      <a:pt x="1950512" y="436084"/>
                    </a:lnTo>
                    <a:cubicBezTo>
                      <a:pt x="1950512" y="452289"/>
                      <a:pt x="1944074" y="467831"/>
                      <a:pt x="1932615" y="479290"/>
                    </a:cubicBezTo>
                    <a:cubicBezTo>
                      <a:pt x="1921156" y="490749"/>
                      <a:pt x="1905615" y="497186"/>
                      <a:pt x="1889409" y="497186"/>
                    </a:cubicBezTo>
                    <a:lnTo>
                      <a:pt x="61102" y="497186"/>
                    </a:lnTo>
                    <a:cubicBezTo>
                      <a:pt x="44897" y="497186"/>
                      <a:pt x="29355" y="490749"/>
                      <a:pt x="17896" y="479290"/>
                    </a:cubicBezTo>
                    <a:cubicBezTo>
                      <a:pt x="6438" y="467831"/>
                      <a:pt x="0" y="452289"/>
                      <a:pt x="0" y="436084"/>
                    </a:cubicBezTo>
                    <a:lnTo>
                      <a:pt x="0" y="61102"/>
                    </a:lnTo>
                    <a:cubicBezTo>
                      <a:pt x="0" y="44897"/>
                      <a:pt x="6438" y="29355"/>
                      <a:pt x="17896" y="17896"/>
                    </a:cubicBezTo>
                    <a:cubicBezTo>
                      <a:pt x="29355" y="6438"/>
                      <a:pt x="44897" y="0"/>
                      <a:pt x="6110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950512" cy="535286"/>
              </a:xfrm>
              <a:prstGeom prst="rect">
                <a:avLst/>
              </a:prstGeom>
            </p:spPr>
            <p:txBody>
              <a:bodyPr anchor="ctr" rtlCol="false" tIns="44325" lIns="44325" bIns="44325" rIns="4432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106426" y="0"/>
              <a:ext cx="3890346" cy="1530870"/>
              <a:chOff x="0" y="0"/>
              <a:chExt cx="751066" cy="29554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47774" y="0"/>
                    </a:moveTo>
                    <a:lnTo>
                      <a:pt x="603292" y="0"/>
                    </a:lnTo>
                    <a:cubicBezTo>
                      <a:pt x="642484" y="0"/>
                      <a:pt x="680071" y="15569"/>
                      <a:pt x="707784" y="43282"/>
                    </a:cubicBezTo>
                    <a:cubicBezTo>
                      <a:pt x="735497" y="70995"/>
                      <a:pt x="751066" y="108582"/>
                      <a:pt x="751066" y="147774"/>
                    </a:cubicBezTo>
                    <a:lnTo>
                      <a:pt x="751066" y="147774"/>
                    </a:lnTo>
                    <a:cubicBezTo>
                      <a:pt x="751066" y="229387"/>
                      <a:pt x="684905" y="295548"/>
                      <a:pt x="603292" y="295548"/>
                    </a:cubicBezTo>
                    <a:lnTo>
                      <a:pt x="147774" y="295548"/>
                    </a:lnTo>
                    <a:cubicBezTo>
                      <a:pt x="66161" y="295548"/>
                      <a:pt x="0" y="229387"/>
                      <a:pt x="0" y="147774"/>
                    </a:cubicBezTo>
                    <a:lnTo>
                      <a:pt x="0" y="147774"/>
                    </a:lnTo>
                    <a:cubicBezTo>
                      <a:pt x="0" y="66161"/>
                      <a:pt x="66161" y="0"/>
                      <a:pt x="14777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44325" lIns="44325" bIns="44325" rIns="4432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686247" y="365331"/>
              <a:ext cx="2730703" cy="7276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45"/>
                </a:lnSpc>
                <a:spcBef>
                  <a:spcPct val="0"/>
                </a:spcBef>
              </a:pPr>
              <a:r>
                <a:rPr lang="en-US" b="true" sz="3620" spc="-216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Exemplo: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74079" y="1788911"/>
              <a:ext cx="9755039" cy="551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3"/>
                </a:lnSpc>
                <a:spcBef>
                  <a:spcPct val="0"/>
                </a:spcBef>
              </a:pPr>
              <a:r>
                <a:rPr lang="en-US" b="true" sz="2802" spc="-16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= </a:t>
              </a:r>
              <a:r>
                <a:rPr lang="en-US" b="true" sz="2802" spc="-167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b="true" sz="2802" spc="-16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802" spc="-167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“Qual sua idade?”</a:t>
              </a:r>
              <a:r>
                <a:rPr lang="en-US" b="true" sz="2802" spc="-16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  <a:r>
                <a:rPr lang="en-US" b="true" sz="2802" spc="-16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        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52338" y="5407501"/>
            <a:ext cx="5383325" cy="3329814"/>
            <a:chOff x="0" y="0"/>
            <a:chExt cx="7177766" cy="443975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177766" cy="4439752"/>
              <a:chOff x="0" y="0"/>
              <a:chExt cx="1417830" cy="87698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17830" cy="876988"/>
              </a:xfrm>
              <a:custGeom>
                <a:avLst/>
                <a:gdLst/>
                <a:ahLst/>
                <a:cxnLst/>
                <a:rect r="r" b="b" t="t" l="l"/>
                <a:pathLst>
                  <a:path h="876988" w="1417830">
                    <a:moveTo>
                      <a:pt x="73345" y="0"/>
                    </a:moveTo>
                    <a:lnTo>
                      <a:pt x="1344486" y="0"/>
                    </a:lnTo>
                    <a:cubicBezTo>
                      <a:pt x="1363938" y="0"/>
                      <a:pt x="1382593" y="7727"/>
                      <a:pt x="1396348" y="21482"/>
                    </a:cubicBezTo>
                    <a:cubicBezTo>
                      <a:pt x="1410103" y="35237"/>
                      <a:pt x="1417830" y="53892"/>
                      <a:pt x="1417830" y="73345"/>
                    </a:cubicBezTo>
                    <a:lnTo>
                      <a:pt x="1417830" y="803643"/>
                    </a:lnTo>
                    <a:cubicBezTo>
                      <a:pt x="1417830" y="844151"/>
                      <a:pt x="1384993" y="876988"/>
                      <a:pt x="1344486" y="876988"/>
                    </a:cubicBezTo>
                    <a:lnTo>
                      <a:pt x="73345" y="876988"/>
                    </a:lnTo>
                    <a:cubicBezTo>
                      <a:pt x="32838" y="876988"/>
                      <a:pt x="0" y="844151"/>
                      <a:pt x="0" y="803643"/>
                    </a:cubicBezTo>
                    <a:lnTo>
                      <a:pt x="0" y="73345"/>
                    </a:lnTo>
                    <a:cubicBezTo>
                      <a:pt x="0" y="32838"/>
                      <a:pt x="32838" y="0"/>
                      <a:pt x="73345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417830" cy="9150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703154" y="364273"/>
              <a:ext cx="5771459" cy="3643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84"/>
                </a:lnSpc>
                <a:spcBef>
                  <a:spcPct val="0"/>
                </a:spcBef>
              </a:pPr>
              <a:r>
                <a:rPr lang="en-US" sz="313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 função input( ) </a:t>
              </a:r>
              <a:r>
                <a:rPr lang="en-US" sz="3131" u="sng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vai retornar</a:t>
              </a:r>
              <a:r>
                <a:rPr lang="en-US" sz="313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tudo aquilo que digitarmos no teclado e armazenar isso na variável “idade”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73812" y="5407501"/>
            <a:ext cx="5179285" cy="3344369"/>
            <a:chOff x="0" y="0"/>
            <a:chExt cx="6905714" cy="445915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905714" cy="4459159"/>
              <a:chOff x="0" y="0"/>
              <a:chExt cx="2916952" cy="188353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916952" cy="1883535"/>
              </a:xfrm>
              <a:custGeom>
                <a:avLst/>
                <a:gdLst/>
                <a:ahLst/>
                <a:cxnLst/>
                <a:rect r="r" b="b" t="t" l="l"/>
                <a:pathLst>
                  <a:path h="1883535" w="2916952">
                    <a:moveTo>
                      <a:pt x="63890" y="0"/>
                    </a:moveTo>
                    <a:lnTo>
                      <a:pt x="2853062" y="0"/>
                    </a:lnTo>
                    <a:cubicBezTo>
                      <a:pt x="2888348" y="0"/>
                      <a:pt x="2916952" y="28605"/>
                      <a:pt x="2916952" y="63890"/>
                    </a:cubicBezTo>
                    <a:lnTo>
                      <a:pt x="2916952" y="1819645"/>
                    </a:lnTo>
                    <a:cubicBezTo>
                      <a:pt x="2916952" y="1836589"/>
                      <a:pt x="2910221" y="1852840"/>
                      <a:pt x="2898239" y="1864822"/>
                    </a:cubicBezTo>
                    <a:cubicBezTo>
                      <a:pt x="2886258" y="1876804"/>
                      <a:pt x="2870007" y="1883535"/>
                      <a:pt x="2853062" y="1883535"/>
                    </a:cubicBezTo>
                    <a:lnTo>
                      <a:pt x="63890" y="1883535"/>
                    </a:lnTo>
                    <a:cubicBezTo>
                      <a:pt x="46946" y="1883535"/>
                      <a:pt x="30695" y="1876804"/>
                      <a:pt x="18713" y="1864822"/>
                    </a:cubicBezTo>
                    <a:cubicBezTo>
                      <a:pt x="6731" y="1852840"/>
                      <a:pt x="0" y="1836589"/>
                      <a:pt x="0" y="1819645"/>
                    </a:cubicBezTo>
                    <a:lnTo>
                      <a:pt x="0" y="63890"/>
                    </a:lnTo>
                    <a:cubicBezTo>
                      <a:pt x="0" y="46946"/>
                      <a:pt x="6731" y="30695"/>
                      <a:pt x="18713" y="18713"/>
                    </a:cubicBezTo>
                    <a:cubicBezTo>
                      <a:pt x="30695" y="6731"/>
                      <a:pt x="46946" y="0"/>
                      <a:pt x="63890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916952" cy="1921635"/>
              </a:xfrm>
              <a:prstGeom prst="rect">
                <a:avLst/>
              </a:prstGeom>
            </p:spPr>
            <p:txBody>
              <a:bodyPr anchor="ctr" rtlCol="false" tIns="28346" lIns="28346" bIns="28346" rIns="2834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740203" y="434397"/>
              <a:ext cx="5425308" cy="3542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6"/>
                </a:lnSpc>
                <a:spcBef>
                  <a:spcPct val="0"/>
                </a:spcBef>
              </a:pPr>
              <a:r>
                <a:rPr lang="en-US" sz="2547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Dentro do parênteses</a:t>
              </a:r>
              <a:r>
                <a:rPr lang="en-US" sz="2547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podemos escrever uma string, que aparecerá no terminal, ajudando o usuário a saber </a:t>
              </a:r>
              <a:r>
                <a:rPr lang="en-US" sz="2547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o que colocar como entrada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11754" y="589965"/>
            <a:ext cx="14423540" cy="1068273"/>
            <a:chOff x="0" y="0"/>
            <a:chExt cx="19231387" cy="1424364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247650"/>
              <a:ext cx="19231387" cy="1672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79"/>
                </a:lnSpc>
              </a:pPr>
              <a:r>
                <a:rPr lang="en-US" sz="7013" i="true" spc="-722">
                  <a:solidFill>
                    <a:srgbClr val="F2EFEB"/>
                  </a:solidFill>
                  <a:latin typeface="Bugaki Italics"/>
                  <a:ea typeface="Bugaki Italics"/>
                  <a:cs typeface="Bugaki Italics"/>
                  <a:sym typeface="Bugaki Italics"/>
                </a:rPr>
                <a:t>ENTRADA 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12780196" y="0"/>
              <a:ext cx="1376405" cy="1328231"/>
            </a:xfrm>
            <a:custGeom>
              <a:avLst/>
              <a:gdLst/>
              <a:ahLst/>
              <a:cxnLst/>
              <a:rect r="r" b="b" t="t" l="l"/>
              <a:pathLst>
                <a:path h="1328231" w="1376405">
                  <a:moveTo>
                    <a:pt x="0" y="0"/>
                  </a:moveTo>
                  <a:lnTo>
                    <a:pt x="1376405" y="0"/>
                  </a:lnTo>
                  <a:lnTo>
                    <a:pt x="1376405" y="1328231"/>
                  </a:lnTo>
                  <a:lnTo>
                    <a:pt x="0" y="1328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91082" y="3276398"/>
            <a:ext cx="2544745" cy="1129497"/>
            <a:chOff x="0" y="0"/>
            <a:chExt cx="3392994" cy="150599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3392994" cy="1505996"/>
              <a:chOff x="0" y="0"/>
              <a:chExt cx="1405326" cy="62376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405326" cy="623761"/>
              </a:xfrm>
              <a:custGeom>
                <a:avLst/>
                <a:gdLst/>
                <a:ahLst/>
                <a:cxnLst/>
                <a:rect r="r" b="b" t="t" l="l"/>
                <a:pathLst>
                  <a:path h="623761" w="1405326">
                    <a:moveTo>
                      <a:pt x="132613" y="0"/>
                    </a:moveTo>
                    <a:lnTo>
                      <a:pt x="1272713" y="0"/>
                    </a:lnTo>
                    <a:cubicBezTo>
                      <a:pt x="1345953" y="0"/>
                      <a:pt x="1405326" y="59373"/>
                      <a:pt x="1405326" y="132613"/>
                    </a:cubicBezTo>
                    <a:lnTo>
                      <a:pt x="1405326" y="491147"/>
                    </a:lnTo>
                    <a:cubicBezTo>
                      <a:pt x="1405326" y="564387"/>
                      <a:pt x="1345953" y="623761"/>
                      <a:pt x="1272713" y="623761"/>
                    </a:cubicBezTo>
                    <a:lnTo>
                      <a:pt x="132613" y="623761"/>
                    </a:lnTo>
                    <a:cubicBezTo>
                      <a:pt x="59373" y="623761"/>
                      <a:pt x="0" y="564387"/>
                      <a:pt x="0" y="491147"/>
                    </a:cubicBezTo>
                    <a:lnTo>
                      <a:pt x="0" y="132613"/>
                    </a:lnTo>
                    <a:cubicBezTo>
                      <a:pt x="0" y="59373"/>
                      <a:pt x="59373" y="0"/>
                      <a:pt x="132613" y="0"/>
                    </a:cubicBezTo>
                    <a:close/>
                  </a:path>
                </a:pathLst>
              </a:custGeom>
              <a:solidFill>
                <a:srgbClr val="C03027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405326" cy="661861"/>
              </a:xfrm>
              <a:prstGeom prst="rect">
                <a:avLst/>
              </a:prstGeom>
            </p:spPr>
            <p:txBody>
              <a:bodyPr anchor="ctr" rtlCol="false" tIns="28346" lIns="28346" bIns="28346" rIns="2834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63685" y="434429"/>
              <a:ext cx="2665624" cy="579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7"/>
                </a:lnSpc>
                <a:spcBef>
                  <a:spcPct val="0"/>
                </a:spcBef>
              </a:pPr>
              <a:r>
                <a:rPr lang="en-US" sz="2598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Opcional!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8835014">
            <a:off x="14945828" y="4235299"/>
            <a:ext cx="1862105" cy="1377958"/>
          </a:xfrm>
          <a:custGeom>
            <a:avLst/>
            <a:gdLst/>
            <a:ahLst/>
            <a:cxnLst/>
            <a:rect r="r" b="b" t="t" l="l"/>
            <a:pathLst>
              <a:path h="1377958" w="1862105">
                <a:moveTo>
                  <a:pt x="0" y="0"/>
                </a:moveTo>
                <a:lnTo>
                  <a:pt x="1862105" y="0"/>
                </a:lnTo>
                <a:lnTo>
                  <a:pt x="1862105" y="1377958"/>
                </a:lnTo>
                <a:lnTo>
                  <a:pt x="0" y="1377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74985" y="2928378"/>
            <a:ext cx="7104949" cy="4430244"/>
            <a:chOff x="0" y="0"/>
            <a:chExt cx="9473266" cy="59069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473266" cy="5906992"/>
              <a:chOff x="0" y="0"/>
              <a:chExt cx="1950512" cy="121622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50512" cy="1216229"/>
              </a:xfrm>
              <a:custGeom>
                <a:avLst/>
                <a:gdLst/>
                <a:ahLst/>
                <a:cxnLst/>
                <a:rect r="r" b="b" t="t" l="l"/>
                <a:pathLst>
                  <a:path h="1216229" w="1950512">
                    <a:moveTo>
                      <a:pt x="53314" y="0"/>
                    </a:moveTo>
                    <a:lnTo>
                      <a:pt x="1897197" y="0"/>
                    </a:lnTo>
                    <a:cubicBezTo>
                      <a:pt x="1911337" y="0"/>
                      <a:pt x="1924898" y="5617"/>
                      <a:pt x="1934896" y="15615"/>
                    </a:cubicBezTo>
                    <a:cubicBezTo>
                      <a:pt x="1944895" y="25614"/>
                      <a:pt x="1950512" y="39174"/>
                      <a:pt x="1950512" y="53314"/>
                    </a:cubicBezTo>
                    <a:lnTo>
                      <a:pt x="1950512" y="1162914"/>
                    </a:lnTo>
                    <a:cubicBezTo>
                      <a:pt x="1950512" y="1192359"/>
                      <a:pt x="1926642" y="1216229"/>
                      <a:pt x="1897197" y="1216229"/>
                    </a:cubicBezTo>
                    <a:lnTo>
                      <a:pt x="53314" y="1216229"/>
                    </a:lnTo>
                    <a:cubicBezTo>
                      <a:pt x="23870" y="1216229"/>
                      <a:pt x="0" y="1192359"/>
                      <a:pt x="0" y="1162914"/>
                    </a:cubicBezTo>
                    <a:lnTo>
                      <a:pt x="0" y="53314"/>
                    </a:lnTo>
                    <a:cubicBezTo>
                      <a:pt x="0" y="23870"/>
                      <a:pt x="23870" y="0"/>
                      <a:pt x="53314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950512" cy="1254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87551" y="340213"/>
              <a:ext cx="8198904" cy="5410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22123" indent="-361062" lvl="1">
                <a:lnSpc>
                  <a:spcPts val="46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Quando programamos, a saída é </a:t>
              </a:r>
              <a:r>
                <a:rPr lang="en-US" sz="3344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o que o computador mostra</a:t>
              </a: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para a gen</a:t>
              </a: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te</a:t>
              </a: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</a:t>
              </a: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epois que o código é executad</a:t>
              </a:r>
              <a:r>
                <a:rPr lang="en-US" sz="3344" u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o</a:t>
              </a: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. É como pedir para o computador </a:t>
              </a:r>
              <a:r>
                <a:rPr lang="en-US" sz="3344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falar</a:t>
              </a: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com a gente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97192" y="2182026"/>
            <a:ext cx="7577966" cy="2230164"/>
            <a:chOff x="0" y="0"/>
            <a:chExt cx="10103955" cy="297355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1112591"/>
              <a:ext cx="10103955" cy="1860961"/>
              <a:chOff x="0" y="0"/>
              <a:chExt cx="1916243" cy="35293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6243" cy="352936"/>
              </a:xfrm>
              <a:custGeom>
                <a:avLst/>
                <a:gdLst/>
                <a:ahLst/>
                <a:cxnLst/>
                <a:rect r="r" b="b" t="t" l="l"/>
                <a:pathLst>
                  <a:path h="352936" w="1916243">
                    <a:moveTo>
                      <a:pt x="52103" y="0"/>
                    </a:moveTo>
                    <a:lnTo>
                      <a:pt x="1864139" y="0"/>
                    </a:lnTo>
                    <a:cubicBezTo>
                      <a:pt x="1877958" y="0"/>
                      <a:pt x="1891211" y="5489"/>
                      <a:pt x="1900982" y="15261"/>
                    </a:cubicBezTo>
                    <a:cubicBezTo>
                      <a:pt x="1910753" y="25032"/>
                      <a:pt x="1916243" y="38285"/>
                      <a:pt x="1916243" y="52103"/>
                    </a:cubicBezTo>
                    <a:lnTo>
                      <a:pt x="1916243" y="300833"/>
                    </a:lnTo>
                    <a:cubicBezTo>
                      <a:pt x="1916243" y="314652"/>
                      <a:pt x="1910753" y="327904"/>
                      <a:pt x="1900982" y="337675"/>
                    </a:cubicBezTo>
                    <a:cubicBezTo>
                      <a:pt x="1891211" y="347447"/>
                      <a:pt x="1877958" y="352936"/>
                      <a:pt x="1864139" y="352936"/>
                    </a:cubicBezTo>
                    <a:lnTo>
                      <a:pt x="52103" y="352936"/>
                    </a:lnTo>
                    <a:cubicBezTo>
                      <a:pt x="38285" y="352936"/>
                      <a:pt x="25032" y="347447"/>
                      <a:pt x="15261" y="337675"/>
                    </a:cubicBezTo>
                    <a:cubicBezTo>
                      <a:pt x="5489" y="327904"/>
                      <a:pt x="0" y="314652"/>
                      <a:pt x="0" y="300833"/>
                    </a:cubicBezTo>
                    <a:lnTo>
                      <a:pt x="0" y="52103"/>
                    </a:lnTo>
                    <a:cubicBezTo>
                      <a:pt x="0" y="38285"/>
                      <a:pt x="5489" y="25032"/>
                      <a:pt x="15261" y="15261"/>
                    </a:cubicBezTo>
                    <a:cubicBezTo>
                      <a:pt x="25032" y="5489"/>
                      <a:pt x="38285" y="0"/>
                      <a:pt x="5210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916243" cy="391036"/>
              </a:xfrm>
              <a:prstGeom prst="rect">
                <a:avLst/>
              </a:prstGeom>
            </p:spPr>
            <p:txBody>
              <a:bodyPr anchor="ctr" rtlCol="false" tIns="52910" lIns="52910" bIns="52910" rIns="5291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981522" y="0"/>
              <a:ext cx="3960216" cy="1558364"/>
              <a:chOff x="0" y="0"/>
              <a:chExt cx="751066" cy="2955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32935" y="0"/>
                    </a:moveTo>
                    <a:lnTo>
                      <a:pt x="618131" y="0"/>
                    </a:lnTo>
                    <a:cubicBezTo>
                      <a:pt x="691549" y="0"/>
                      <a:pt x="751066" y="59517"/>
                      <a:pt x="751066" y="132935"/>
                    </a:cubicBezTo>
                    <a:lnTo>
                      <a:pt x="751066" y="162613"/>
                    </a:lnTo>
                    <a:cubicBezTo>
                      <a:pt x="751066" y="236031"/>
                      <a:pt x="691549" y="295548"/>
                      <a:pt x="618131" y="295548"/>
                    </a:cubicBezTo>
                    <a:lnTo>
                      <a:pt x="132935" y="295548"/>
                    </a:lnTo>
                    <a:cubicBezTo>
                      <a:pt x="59517" y="295548"/>
                      <a:pt x="0" y="236031"/>
                      <a:pt x="0" y="162613"/>
                    </a:cubicBezTo>
                    <a:lnTo>
                      <a:pt x="0" y="132935"/>
                    </a:lnTo>
                    <a:cubicBezTo>
                      <a:pt x="0" y="59517"/>
                      <a:pt x="59517" y="0"/>
                      <a:pt x="13293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52910" lIns="52910" bIns="52910" rIns="5291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571757" y="371892"/>
              <a:ext cx="2779746" cy="740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3"/>
                </a:lnSpc>
                <a:spcBef>
                  <a:spcPct val="0"/>
                </a:spcBef>
              </a:pPr>
              <a:r>
                <a:rPr lang="en-US" b="true" sz="3685" spc="-22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081066" y="1857897"/>
              <a:ext cx="5512830" cy="5714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3"/>
                </a:lnSpc>
                <a:spcBef>
                  <a:spcPct val="0"/>
                </a:spcBef>
              </a:pPr>
              <a:r>
                <a:rPr lang="en-US" b="true" sz="2852" spc="-170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b="true" sz="2852" spc="-17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852" spc="-170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“Olá, mundo!”</a:t>
              </a:r>
              <a:r>
                <a:rPr lang="en-US" b="true" sz="2852" spc="-17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2185" y="530613"/>
            <a:ext cx="14423540" cy="1068273"/>
            <a:chOff x="0" y="0"/>
            <a:chExt cx="19231387" cy="142436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47650"/>
              <a:ext cx="19231387" cy="1672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79"/>
                </a:lnSpc>
              </a:pPr>
              <a:r>
                <a:rPr lang="en-US" sz="7013" i="true" spc="-722">
                  <a:solidFill>
                    <a:srgbClr val="F2EFEB"/>
                  </a:solidFill>
                  <a:latin typeface="Bugaki Italics"/>
                  <a:ea typeface="Bugaki Italics"/>
                  <a:cs typeface="Bugaki Italics"/>
                  <a:sym typeface="Bugaki Italics"/>
                </a:rPr>
                <a:t>SAÍDA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12148142" y="0"/>
              <a:ext cx="1217291" cy="1217291"/>
            </a:xfrm>
            <a:custGeom>
              <a:avLst/>
              <a:gdLst/>
              <a:ahLst/>
              <a:cxnLst/>
              <a:rect r="r" b="b" t="t" l="l"/>
              <a:pathLst>
                <a:path h="1217291" w="1217291">
                  <a:moveTo>
                    <a:pt x="0" y="0"/>
                  </a:moveTo>
                  <a:lnTo>
                    <a:pt x="1217292" y="0"/>
                  </a:lnTo>
                  <a:lnTo>
                    <a:pt x="1217292" y="1217291"/>
                  </a:lnTo>
                  <a:lnTo>
                    <a:pt x="0" y="1217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973504" y="4795511"/>
            <a:ext cx="1225342" cy="1625162"/>
            <a:chOff x="0" y="0"/>
            <a:chExt cx="812800" cy="10780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1078011"/>
            </a:xfrm>
            <a:custGeom>
              <a:avLst/>
              <a:gdLst/>
              <a:ahLst/>
              <a:cxnLst/>
              <a:rect r="r" b="b" t="t" l="l"/>
              <a:pathLst>
                <a:path h="1078011" w="812800">
                  <a:moveTo>
                    <a:pt x="406400" y="1078011"/>
                  </a:moveTo>
                  <a:lnTo>
                    <a:pt x="0" y="671611"/>
                  </a:lnTo>
                  <a:lnTo>
                    <a:pt x="203200" y="67161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671611"/>
                  </a:lnTo>
                  <a:lnTo>
                    <a:pt x="812800" y="671611"/>
                  </a:lnTo>
                  <a:lnTo>
                    <a:pt x="406400" y="10780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03200" y="-38100"/>
              <a:ext cx="406400" cy="1014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62871" y="7255116"/>
            <a:ext cx="7577966" cy="1395720"/>
            <a:chOff x="0" y="0"/>
            <a:chExt cx="1916243" cy="3529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16243" cy="352936"/>
            </a:xfrm>
            <a:custGeom>
              <a:avLst/>
              <a:gdLst/>
              <a:ahLst/>
              <a:cxnLst/>
              <a:rect r="r" b="b" t="t" l="l"/>
              <a:pathLst>
                <a:path h="352936" w="1916243">
                  <a:moveTo>
                    <a:pt x="52103" y="0"/>
                  </a:moveTo>
                  <a:lnTo>
                    <a:pt x="1864139" y="0"/>
                  </a:lnTo>
                  <a:cubicBezTo>
                    <a:pt x="1877958" y="0"/>
                    <a:pt x="1891211" y="5489"/>
                    <a:pt x="1900982" y="15261"/>
                  </a:cubicBezTo>
                  <a:cubicBezTo>
                    <a:pt x="1910753" y="25032"/>
                    <a:pt x="1916243" y="38285"/>
                    <a:pt x="1916243" y="52103"/>
                  </a:cubicBezTo>
                  <a:lnTo>
                    <a:pt x="1916243" y="300833"/>
                  </a:lnTo>
                  <a:cubicBezTo>
                    <a:pt x="1916243" y="314652"/>
                    <a:pt x="1910753" y="327904"/>
                    <a:pt x="1900982" y="337675"/>
                  </a:cubicBezTo>
                  <a:cubicBezTo>
                    <a:pt x="1891211" y="347447"/>
                    <a:pt x="1877958" y="352936"/>
                    <a:pt x="1864139" y="352936"/>
                  </a:cubicBezTo>
                  <a:lnTo>
                    <a:pt x="52103" y="352936"/>
                  </a:lnTo>
                  <a:cubicBezTo>
                    <a:pt x="38285" y="352936"/>
                    <a:pt x="25032" y="347447"/>
                    <a:pt x="15261" y="337675"/>
                  </a:cubicBezTo>
                  <a:cubicBezTo>
                    <a:pt x="5489" y="327904"/>
                    <a:pt x="0" y="314652"/>
                    <a:pt x="0" y="300833"/>
                  </a:cubicBezTo>
                  <a:lnTo>
                    <a:pt x="0" y="52103"/>
                  </a:lnTo>
                  <a:cubicBezTo>
                    <a:pt x="0" y="38285"/>
                    <a:pt x="5489" y="25032"/>
                    <a:pt x="15261" y="15261"/>
                  </a:cubicBezTo>
                  <a:cubicBezTo>
                    <a:pt x="25032" y="5489"/>
                    <a:pt x="38285" y="0"/>
                    <a:pt x="5210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16243" cy="39103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99013" y="6420673"/>
            <a:ext cx="2970162" cy="1168773"/>
            <a:chOff x="0" y="0"/>
            <a:chExt cx="751066" cy="2955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1066" cy="295548"/>
            </a:xfrm>
            <a:custGeom>
              <a:avLst/>
              <a:gdLst/>
              <a:ahLst/>
              <a:cxnLst/>
              <a:rect r="r" b="b" t="t" l="l"/>
              <a:pathLst>
                <a:path h="295548" w="751066">
                  <a:moveTo>
                    <a:pt x="132935" y="0"/>
                  </a:moveTo>
                  <a:lnTo>
                    <a:pt x="618131" y="0"/>
                  </a:lnTo>
                  <a:cubicBezTo>
                    <a:pt x="691549" y="0"/>
                    <a:pt x="751066" y="59517"/>
                    <a:pt x="751066" y="132935"/>
                  </a:cubicBezTo>
                  <a:lnTo>
                    <a:pt x="751066" y="162613"/>
                  </a:lnTo>
                  <a:cubicBezTo>
                    <a:pt x="751066" y="236031"/>
                    <a:pt x="691549" y="295548"/>
                    <a:pt x="618131" y="295548"/>
                  </a:cubicBezTo>
                  <a:lnTo>
                    <a:pt x="132935" y="295548"/>
                  </a:lnTo>
                  <a:cubicBezTo>
                    <a:pt x="59517" y="295548"/>
                    <a:pt x="0" y="236031"/>
                    <a:pt x="0" y="162613"/>
                  </a:cubicBezTo>
                  <a:lnTo>
                    <a:pt x="0" y="132935"/>
                  </a:lnTo>
                  <a:cubicBezTo>
                    <a:pt x="0" y="59517"/>
                    <a:pt x="59517" y="0"/>
                    <a:pt x="132935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51066" cy="333648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545851" y="6699592"/>
            <a:ext cx="2080648" cy="55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b="true" sz="3685" spc="-22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Terminal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67768" y="7865671"/>
            <a:ext cx="2568172" cy="4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b="true" sz="2852" spc="-170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Olá, mundo!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861241" y="4795511"/>
            <a:ext cx="3650256" cy="494036"/>
            <a:chOff x="0" y="0"/>
            <a:chExt cx="4867008" cy="65871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867008" cy="658714"/>
              <a:chOff x="0" y="0"/>
              <a:chExt cx="2290716" cy="31003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290716" cy="310032"/>
              </a:xfrm>
              <a:custGeom>
                <a:avLst/>
                <a:gdLst/>
                <a:ahLst/>
                <a:cxnLst/>
                <a:rect r="r" b="b" t="t" l="l"/>
                <a:pathLst>
                  <a:path h="310032" w="2290716">
                    <a:moveTo>
                      <a:pt x="45396" y="0"/>
                    </a:moveTo>
                    <a:lnTo>
                      <a:pt x="2245320" y="0"/>
                    </a:lnTo>
                    <a:cubicBezTo>
                      <a:pt x="2257360" y="0"/>
                      <a:pt x="2268907" y="4783"/>
                      <a:pt x="2277420" y="13296"/>
                    </a:cubicBezTo>
                    <a:cubicBezTo>
                      <a:pt x="2285934" y="21810"/>
                      <a:pt x="2290716" y="33357"/>
                      <a:pt x="2290716" y="45396"/>
                    </a:cubicBezTo>
                    <a:lnTo>
                      <a:pt x="2290716" y="264636"/>
                    </a:lnTo>
                    <a:cubicBezTo>
                      <a:pt x="2290716" y="289707"/>
                      <a:pt x="2270392" y="310032"/>
                      <a:pt x="2245320" y="310032"/>
                    </a:cubicBezTo>
                    <a:lnTo>
                      <a:pt x="45396" y="310032"/>
                    </a:lnTo>
                    <a:cubicBezTo>
                      <a:pt x="33357" y="310032"/>
                      <a:pt x="21810" y="305249"/>
                      <a:pt x="13296" y="296736"/>
                    </a:cubicBezTo>
                    <a:cubicBezTo>
                      <a:pt x="4783" y="288222"/>
                      <a:pt x="0" y="276675"/>
                      <a:pt x="0" y="264636"/>
                    </a:cubicBezTo>
                    <a:lnTo>
                      <a:pt x="0" y="45396"/>
                    </a:lnTo>
                    <a:cubicBezTo>
                      <a:pt x="0" y="20325"/>
                      <a:pt x="20325" y="0"/>
                      <a:pt x="45396" y="0"/>
                    </a:cubicBezTo>
                    <a:close/>
                  </a:path>
                </a:pathLst>
              </a:custGeom>
              <a:solidFill>
                <a:srgbClr val="C03027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290716" cy="3481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50486" y="135731"/>
              <a:ext cx="4212288" cy="454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8"/>
                </a:lnSpc>
                <a:spcBef>
                  <a:spcPct val="0"/>
                </a:spcBef>
              </a:pPr>
              <a:r>
                <a:rPr lang="en-US" b="true" sz="2056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O computador vai mostrar: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836261"/>
            <a:ext cx="7104949" cy="1511450"/>
            <a:chOff x="0" y="0"/>
            <a:chExt cx="9473266" cy="201526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473266" cy="2015266"/>
              <a:chOff x="0" y="0"/>
              <a:chExt cx="1950512" cy="41493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50512" cy="414936"/>
              </a:xfrm>
              <a:custGeom>
                <a:avLst/>
                <a:gdLst/>
                <a:ahLst/>
                <a:cxnLst/>
                <a:rect r="r" b="b" t="t" l="l"/>
                <a:pathLst>
                  <a:path h="414936" w="1950512">
                    <a:moveTo>
                      <a:pt x="55572" y="0"/>
                    </a:moveTo>
                    <a:lnTo>
                      <a:pt x="1894940" y="0"/>
                    </a:lnTo>
                    <a:cubicBezTo>
                      <a:pt x="1909678" y="0"/>
                      <a:pt x="1923813" y="5855"/>
                      <a:pt x="1934235" y="16277"/>
                    </a:cubicBezTo>
                    <a:cubicBezTo>
                      <a:pt x="1944657" y="26699"/>
                      <a:pt x="1950512" y="40834"/>
                      <a:pt x="1950512" y="55572"/>
                    </a:cubicBezTo>
                    <a:lnTo>
                      <a:pt x="1950512" y="359364"/>
                    </a:lnTo>
                    <a:cubicBezTo>
                      <a:pt x="1950512" y="374103"/>
                      <a:pt x="1944657" y="388238"/>
                      <a:pt x="1934235" y="398659"/>
                    </a:cubicBezTo>
                    <a:cubicBezTo>
                      <a:pt x="1923813" y="409081"/>
                      <a:pt x="1909678" y="414936"/>
                      <a:pt x="1894940" y="414936"/>
                    </a:cubicBezTo>
                    <a:lnTo>
                      <a:pt x="55572" y="414936"/>
                    </a:lnTo>
                    <a:cubicBezTo>
                      <a:pt x="40834" y="414936"/>
                      <a:pt x="26699" y="409081"/>
                      <a:pt x="16277" y="398659"/>
                    </a:cubicBezTo>
                    <a:cubicBezTo>
                      <a:pt x="5855" y="388238"/>
                      <a:pt x="0" y="374103"/>
                      <a:pt x="0" y="359364"/>
                    </a:cubicBezTo>
                    <a:lnTo>
                      <a:pt x="0" y="55572"/>
                    </a:lnTo>
                    <a:cubicBezTo>
                      <a:pt x="0" y="40834"/>
                      <a:pt x="5855" y="26699"/>
                      <a:pt x="16277" y="16277"/>
                    </a:cubicBezTo>
                    <a:cubicBezTo>
                      <a:pt x="26699" y="5855"/>
                      <a:pt x="40834" y="0"/>
                      <a:pt x="55572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950512" cy="453036"/>
              </a:xfrm>
              <a:prstGeom prst="rect">
                <a:avLst/>
              </a:prstGeom>
            </p:spPr>
            <p:txBody>
              <a:bodyPr anchor="ctr" rtlCol="false" tIns="48736" lIns="48736" bIns="48736" rIns="4873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37181" y="219720"/>
              <a:ext cx="8198904" cy="1518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2"/>
                </a:lnSpc>
                <a:spcBef>
                  <a:spcPct val="0"/>
                </a:spcBef>
              </a:pP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Para programarmos uma saída, usamos a função print( ).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8191" y="4065175"/>
            <a:ext cx="7485043" cy="2202817"/>
            <a:chOff x="0" y="0"/>
            <a:chExt cx="9980057" cy="293708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1098948"/>
              <a:ext cx="9980057" cy="1838141"/>
              <a:chOff x="0" y="0"/>
              <a:chExt cx="1916243" cy="35293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6243" cy="352936"/>
              </a:xfrm>
              <a:custGeom>
                <a:avLst/>
                <a:gdLst/>
                <a:ahLst/>
                <a:cxnLst/>
                <a:rect r="r" b="b" t="t" l="l"/>
                <a:pathLst>
                  <a:path h="352936" w="1916243">
                    <a:moveTo>
                      <a:pt x="52750" y="0"/>
                    </a:moveTo>
                    <a:lnTo>
                      <a:pt x="1863492" y="0"/>
                    </a:lnTo>
                    <a:cubicBezTo>
                      <a:pt x="1877482" y="0"/>
                      <a:pt x="1890900" y="5558"/>
                      <a:pt x="1900792" y="15450"/>
                    </a:cubicBezTo>
                    <a:cubicBezTo>
                      <a:pt x="1910685" y="25343"/>
                      <a:pt x="1916243" y="38760"/>
                      <a:pt x="1916243" y="52750"/>
                    </a:cubicBezTo>
                    <a:lnTo>
                      <a:pt x="1916243" y="300186"/>
                    </a:lnTo>
                    <a:cubicBezTo>
                      <a:pt x="1916243" y="314176"/>
                      <a:pt x="1910685" y="327593"/>
                      <a:pt x="1900792" y="337486"/>
                    </a:cubicBezTo>
                    <a:cubicBezTo>
                      <a:pt x="1890900" y="347379"/>
                      <a:pt x="1877482" y="352936"/>
                      <a:pt x="1863492" y="352936"/>
                    </a:cubicBezTo>
                    <a:lnTo>
                      <a:pt x="52750" y="352936"/>
                    </a:lnTo>
                    <a:cubicBezTo>
                      <a:pt x="38760" y="352936"/>
                      <a:pt x="25343" y="347379"/>
                      <a:pt x="15450" y="337486"/>
                    </a:cubicBezTo>
                    <a:cubicBezTo>
                      <a:pt x="5558" y="327593"/>
                      <a:pt x="0" y="314176"/>
                      <a:pt x="0" y="300186"/>
                    </a:cubicBezTo>
                    <a:lnTo>
                      <a:pt x="0" y="52750"/>
                    </a:lnTo>
                    <a:cubicBezTo>
                      <a:pt x="0" y="38760"/>
                      <a:pt x="5558" y="25343"/>
                      <a:pt x="15450" y="15450"/>
                    </a:cubicBezTo>
                    <a:cubicBezTo>
                      <a:pt x="25343" y="5558"/>
                      <a:pt x="38760" y="0"/>
                      <a:pt x="5275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916243" cy="391036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944962" y="0"/>
              <a:ext cx="3911655" cy="1539255"/>
              <a:chOff x="0" y="0"/>
              <a:chExt cx="751066" cy="2955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34585" y="0"/>
                    </a:moveTo>
                    <a:lnTo>
                      <a:pt x="616481" y="0"/>
                    </a:lnTo>
                    <a:cubicBezTo>
                      <a:pt x="652175" y="0"/>
                      <a:pt x="686407" y="14179"/>
                      <a:pt x="711647" y="39419"/>
                    </a:cubicBezTo>
                    <a:cubicBezTo>
                      <a:pt x="736886" y="64659"/>
                      <a:pt x="751066" y="98891"/>
                      <a:pt x="751066" y="134585"/>
                    </a:cubicBezTo>
                    <a:lnTo>
                      <a:pt x="751066" y="160963"/>
                    </a:lnTo>
                    <a:cubicBezTo>
                      <a:pt x="751066" y="196657"/>
                      <a:pt x="736886" y="230889"/>
                      <a:pt x="711647" y="256129"/>
                    </a:cubicBezTo>
                    <a:cubicBezTo>
                      <a:pt x="686407" y="281369"/>
                      <a:pt x="652175" y="295548"/>
                      <a:pt x="616481" y="295548"/>
                    </a:cubicBezTo>
                    <a:lnTo>
                      <a:pt x="134585" y="295548"/>
                    </a:lnTo>
                    <a:cubicBezTo>
                      <a:pt x="98891" y="295548"/>
                      <a:pt x="64659" y="281369"/>
                      <a:pt x="39419" y="256129"/>
                    </a:cubicBezTo>
                    <a:cubicBezTo>
                      <a:pt x="14179" y="230889"/>
                      <a:pt x="0" y="196657"/>
                      <a:pt x="0" y="160963"/>
                    </a:cubicBezTo>
                    <a:lnTo>
                      <a:pt x="0" y="134585"/>
                    </a:lnTo>
                    <a:cubicBezTo>
                      <a:pt x="0" y="98891"/>
                      <a:pt x="14179" y="64659"/>
                      <a:pt x="39419" y="39419"/>
                    </a:cubicBezTo>
                    <a:cubicBezTo>
                      <a:pt x="64659" y="14179"/>
                      <a:pt x="98891" y="0"/>
                      <a:pt x="13458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527959" y="367332"/>
              <a:ext cx="2745660" cy="731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9"/>
                </a:lnSpc>
                <a:spcBef>
                  <a:spcPct val="0"/>
                </a:spcBef>
              </a:pPr>
              <a:r>
                <a:rPr lang="en-US" b="true" sz="3640" spc="-218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863982" y="1632881"/>
              <a:ext cx="4073614" cy="113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1"/>
                </a:lnSpc>
              </a:pPr>
              <a:r>
                <a:rPr lang="en-US" sz="2817" spc="-166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nome </a:t>
              </a:r>
              <a:r>
                <a:rPr lang="en-US" sz="2817" spc="-166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</a:t>
              </a:r>
              <a:r>
                <a:rPr lang="en-US" sz="2817" spc="-166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817" spc="-166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“Manoel”</a:t>
              </a:r>
            </a:p>
            <a:p>
              <a:pPr algn="l">
                <a:lnSpc>
                  <a:spcPts val="3381"/>
                </a:lnSpc>
                <a:spcBef>
                  <a:spcPct val="0"/>
                </a:spcBef>
              </a:pPr>
              <a:r>
                <a:rPr lang="en-US" b="true" sz="2817" spc="-168">
                  <a:solidFill>
                    <a:srgbClr val="B52A2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b="true" sz="2817" spc="-168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817" spc="-16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nome</a:t>
              </a:r>
              <a:r>
                <a:rPr lang="en-US" b="true" sz="2817" spc="-168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2185" y="530613"/>
            <a:ext cx="14423540" cy="1068273"/>
            <a:chOff x="0" y="0"/>
            <a:chExt cx="19231387" cy="142436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47650"/>
              <a:ext cx="19231387" cy="1672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79"/>
                </a:lnSpc>
              </a:pPr>
              <a:r>
                <a:rPr lang="en-US" sz="7013" i="true" spc="-722">
                  <a:solidFill>
                    <a:srgbClr val="F2EFEB"/>
                  </a:solidFill>
                  <a:latin typeface="Bugaki Italics"/>
                  <a:ea typeface="Bugaki Italics"/>
                  <a:cs typeface="Bugaki Italics"/>
                  <a:sym typeface="Bugaki Italics"/>
                </a:rPr>
                <a:t>SAÍDA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12148142" y="0"/>
              <a:ext cx="1217291" cy="1217291"/>
            </a:xfrm>
            <a:custGeom>
              <a:avLst/>
              <a:gdLst/>
              <a:ahLst/>
              <a:cxnLst/>
              <a:rect r="r" b="b" t="t" l="l"/>
              <a:pathLst>
                <a:path h="1217291" w="1217291">
                  <a:moveTo>
                    <a:pt x="0" y="0"/>
                  </a:moveTo>
                  <a:lnTo>
                    <a:pt x="1217292" y="0"/>
                  </a:lnTo>
                  <a:lnTo>
                    <a:pt x="1217292" y="1217291"/>
                  </a:lnTo>
                  <a:lnTo>
                    <a:pt x="0" y="1217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-5400000">
            <a:off x="8333559" y="4824416"/>
            <a:ext cx="1225342" cy="1625162"/>
            <a:chOff x="0" y="0"/>
            <a:chExt cx="812800" cy="10780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1078011"/>
            </a:xfrm>
            <a:custGeom>
              <a:avLst/>
              <a:gdLst/>
              <a:ahLst/>
              <a:cxnLst/>
              <a:rect r="r" b="b" t="t" l="l"/>
              <a:pathLst>
                <a:path h="1078011" w="812800">
                  <a:moveTo>
                    <a:pt x="406400" y="1078011"/>
                  </a:moveTo>
                  <a:lnTo>
                    <a:pt x="0" y="671611"/>
                  </a:lnTo>
                  <a:lnTo>
                    <a:pt x="203200" y="67161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671611"/>
                  </a:lnTo>
                  <a:lnTo>
                    <a:pt x="812800" y="671611"/>
                  </a:lnTo>
                  <a:lnTo>
                    <a:pt x="406400" y="10780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03200" y="-38100"/>
              <a:ext cx="406400" cy="1014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41453" y="4019008"/>
            <a:ext cx="7579650" cy="2230659"/>
            <a:chOff x="0" y="0"/>
            <a:chExt cx="10106199" cy="297421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1112839"/>
              <a:ext cx="10106199" cy="1861374"/>
              <a:chOff x="0" y="0"/>
              <a:chExt cx="1916243" cy="35293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6243" cy="352936"/>
              </a:xfrm>
              <a:custGeom>
                <a:avLst/>
                <a:gdLst/>
                <a:ahLst/>
                <a:cxnLst/>
                <a:rect r="r" b="b" t="t" l="l"/>
                <a:pathLst>
                  <a:path h="352936" w="1916243">
                    <a:moveTo>
                      <a:pt x="63923" y="0"/>
                    </a:moveTo>
                    <a:lnTo>
                      <a:pt x="1852320" y="0"/>
                    </a:lnTo>
                    <a:cubicBezTo>
                      <a:pt x="1869273" y="0"/>
                      <a:pt x="1885532" y="6735"/>
                      <a:pt x="1897520" y="18723"/>
                    </a:cubicBezTo>
                    <a:cubicBezTo>
                      <a:pt x="1909508" y="30710"/>
                      <a:pt x="1916243" y="46969"/>
                      <a:pt x="1916243" y="63923"/>
                    </a:cubicBezTo>
                    <a:lnTo>
                      <a:pt x="1916243" y="289014"/>
                    </a:lnTo>
                    <a:cubicBezTo>
                      <a:pt x="1916243" y="305967"/>
                      <a:pt x="1909508" y="322226"/>
                      <a:pt x="1897520" y="334214"/>
                    </a:cubicBezTo>
                    <a:cubicBezTo>
                      <a:pt x="1885532" y="346202"/>
                      <a:pt x="1869273" y="352936"/>
                      <a:pt x="1852320" y="352936"/>
                    </a:cubicBezTo>
                    <a:lnTo>
                      <a:pt x="63923" y="352936"/>
                    </a:lnTo>
                    <a:cubicBezTo>
                      <a:pt x="46969" y="352936"/>
                      <a:pt x="30710" y="346202"/>
                      <a:pt x="18723" y="334214"/>
                    </a:cubicBezTo>
                    <a:cubicBezTo>
                      <a:pt x="6735" y="322226"/>
                      <a:pt x="0" y="305967"/>
                      <a:pt x="0" y="289014"/>
                    </a:cubicBezTo>
                    <a:lnTo>
                      <a:pt x="0" y="63923"/>
                    </a:lnTo>
                    <a:cubicBezTo>
                      <a:pt x="0" y="46969"/>
                      <a:pt x="6735" y="30710"/>
                      <a:pt x="18723" y="18723"/>
                    </a:cubicBezTo>
                    <a:cubicBezTo>
                      <a:pt x="30710" y="6735"/>
                      <a:pt x="46969" y="0"/>
                      <a:pt x="6392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916243" cy="391036"/>
              </a:xfrm>
              <a:prstGeom prst="rect">
                <a:avLst/>
              </a:prstGeom>
            </p:spPr>
            <p:txBody>
              <a:bodyPr anchor="ctr" rtlCol="false" tIns="38902" lIns="38902" bIns="38902" rIns="389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982184" y="0"/>
              <a:ext cx="3961096" cy="1558710"/>
              <a:chOff x="0" y="0"/>
              <a:chExt cx="751066" cy="29554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47774" y="0"/>
                    </a:moveTo>
                    <a:lnTo>
                      <a:pt x="603292" y="0"/>
                    </a:lnTo>
                    <a:cubicBezTo>
                      <a:pt x="642484" y="0"/>
                      <a:pt x="680071" y="15569"/>
                      <a:pt x="707784" y="43282"/>
                    </a:cubicBezTo>
                    <a:cubicBezTo>
                      <a:pt x="735497" y="70995"/>
                      <a:pt x="751066" y="108582"/>
                      <a:pt x="751066" y="147774"/>
                    </a:cubicBezTo>
                    <a:lnTo>
                      <a:pt x="751066" y="147774"/>
                    </a:lnTo>
                    <a:cubicBezTo>
                      <a:pt x="751066" y="229387"/>
                      <a:pt x="684905" y="295548"/>
                      <a:pt x="603292" y="295548"/>
                    </a:cubicBezTo>
                    <a:lnTo>
                      <a:pt x="147774" y="295548"/>
                    </a:lnTo>
                    <a:cubicBezTo>
                      <a:pt x="66161" y="295548"/>
                      <a:pt x="0" y="229387"/>
                      <a:pt x="0" y="147774"/>
                    </a:cubicBezTo>
                    <a:lnTo>
                      <a:pt x="0" y="147774"/>
                    </a:lnTo>
                    <a:cubicBezTo>
                      <a:pt x="0" y="66161"/>
                      <a:pt x="66161" y="0"/>
                      <a:pt x="14777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38902" lIns="38902" bIns="38902" rIns="389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78101" y="371975"/>
              <a:ext cx="2774813" cy="7408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4"/>
                </a:lnSpc>
                <a:spcBef>
                  <a:spcPct val="0"/>
                </a:spcBef>
              </a:pPr>
              <a:r>
                <a:rPr lang="en-US" b="true" sz="3686" spc="-22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Terminal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790081" y="1923994"/>
              <a:ext cx="1888344" cy="581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4"/>
                </a:lnSpc>
                <a:spcBef>
                  <a:spcPct val="0"/>
                </a:spcBef>
              </a:pPr>
              <a:r>
                <a:rPr lang="en-US" b="true" sz="2853" spc="-17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Manoel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21029" y="1836261"/>
            <a:ext cx="7104949" cy="1511450"/>
            <a:chOff x="0" y="0"/>
            <a:chExt cx="9473266" cy="2015266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9473266" cy="2015266"/>
              <a:chOff x="0" y="0"/>
              <a:chExt cx="1950512" cy="41493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950512" cy="414936"/>
              </a:xfrm>
              <a:custGeom>
                <a:avLst/>
                <a:gdLst/>
                <a:ahLst/>
                <a:cxnLst/>
                <a:rect r="r" b="b" t="t" l="l"/>
                <a:pathLst>
                  <a:path h="414936" w="1950512">
                    <a:moveTo>
                      <a:pt x="55572" y="0"/>
                    </a:moveTo>
                    <a:lnTo>
                      <a:pt x="1894940" y="0"/>
                    </a:lnTo>
                    <a:cubicBezTo>
                      <a:pt x="1909678" y="0"/>
                      <a:pt x="1923813" y="5855"/>
                      <a:pt x="1934235" y="16277"/>
                    </a:cubicBezTo>
                    <a:cubicBezTo>
                      <a:pt x="1944657" y="26699"/>
                      <a:pt x="1950512" y="40834"/>
                      <a:pt x="1950512" y="55572"/>
                    </a:cubicBezTo>
                    <a:lnTo>
                      <a:pt x="1950512" y="359364"/>
                    </a:lnTo>
                    <a:cubicBezTo>
                      <a:pt x="1950512" y="374103"/>
                      <a:pt x="1944657" y="388238"/>
                      <a:pt x="1934235" y="398659"/>
                    </a:cubicBezTo>
                    <a:cubicBezTo>
                      <a:pt x="1923813" y="409081"/>
                      <a:pt x="1909678" y="414936"/>
                      <a:pt x="1894940" y="414936"/>
                    </a:cubicBezTo>
                    <a:lnTo>
                      <a:pt x="55572" y="414936"/>
                    </a:lnTo>
                    <a:cubicBezTo>
                      <a:pt x="40834" y="414936"/>
                      <a:pt x="26699" y="409081"/>
                      <a:pt x="16277" y="398659"/>
                    </a:cubicBezTo>
                    <a:cubicBezTo>
                      <a:pt x="5855" y="388238"/>
                      <a:pt x="0" y="374103"/>
                      <a:pt x="0" y="359364"/>
                    </a:cubicBezTo>
                    <a:lnTo>
                      <a:pt x="0" y="55572"/>
                    </a:lnTo>
                    <a:cubicBezTo>
                      <a:pt x="0" y="40834"/>
                      <a:pt x="5855" y="26699"/>
                      <a:pt x="16277" y="16277"/>
                    </a:cubicBezTo>
                    <a:cubicBezTo>
                      <a:pt x="26699" y="5855"/>
                      <a:pt x="40834" y="0"/>
                      <a:pt x="55572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950512" cy="453036"/>
              </a:xfrm>
              <a:prstGeom prst="rect">
                <a:avLst/>
              </a:prstGeom>
            </p:spPr>
            <p:txBody>
              <a:bodyPr anchor="ctr" rtlCol="false" tIns="48736" lIns="48736" bIns="48736" rIns="4873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637181" y="219720"/>
              <a:ext cx="8198904" cy="1518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2"/>
                </a:lnSpc>
                <a:spcBef>
                  <a:spcPct val="0"/>
                </a:spcBef>
              </a:pP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Dentro dos parêntesis, podemos colocar </a:t>
              </a:r>
              <a:r>
                <a:rPr lang="en-US" sz="3344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strings</a:t>
              </a:r>
              <a:r>
                <a:rPr lang="en-US" sz="334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e </a:t>
              </a:r>
              <a:r>
                <a:rPr lang="en-US" sz="3344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variáveis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78191" y="6552283"/>
            <a:ext cx="7485043" cy="2202817"/>
            <a:chOff x="0" y="0"/>
            <a:chExt cx="9980057" cy="2937089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1098948"/>
              <a:ext cx="9980057" cy="1838141"/>
              <a:chOff x="0" y="0"/>
              <a:chExt cx="1916243" cy="35293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16243" cy="352936"/>
              </a:xfrm>
              <a:custGeom>
                <a:avLst/>
                <a:gdLst/>
                <a:ahLst/>
                <a:cxnLst/>
                <a:rect r="r" b="b" t="t" l="l"/>
                <a:pathLst>
                  <a:path h="352936" w="1916243">
                    <a:moveTo>
                      <a:pt x="52750" y="0"/>
                    </a:moveTo>
                    <a:lnTo>
                      <a:pt x="1863492" y="0"/>
                    </a:lnTo>
                    <a:cubicBezTo>
                      <a:pt x="1877482" y="0"/>
                      <a:pt x="1890900" y="5558"/>
                      <a:pt x="1900792" y="15450"/>
                    </a:cubicBezTo>
                    <a:cubicBezTo>
                      <a:pt x="1910685" y="25343"/>
                      <a:pt x="1916243" y="38760"/>
                      <a:pt x="1916243" y="52750"/>
                    </a:cubicBezTo>
                    <a:lnTo>
                      <a:pt x="1916243" y="300186"/>
                    </a:lnTo>
                    <a:cubicBezTo>
                      <a:pt x="1916243" y="314176"/>
                      <a:pt x="1910685" y="327593"/>
                      <a:pt x="1900792" y="337486"/>
                    </a:cubicBezTo>
                    <a:cubicBezTo>
                      <a:pt x="1890900" y="347379"/>
                      <a:pt x="1877482" y="352936"/>
                      <a:pt x="1863492" y="352936"/>
                    </a:cubicBezTo>
                    <a:lnTo>
                      <a:pt x="52750" y="352936"/>
                    </a:lnTo>
                    <a:cubicBezTo>
                      <a:pt x="38760" y="352936"/>
                      <a:pt x="25343" y="347379"/>
                      <a:pt x="15450" y="337486"/>
                    </a:cubicBezTo>
                    <a:cubicBezTo>
                      <a:pt x="5558" y="327593"/>
                      <a:pt x="0" y="314176"/>
                      <a:pt x="0" y="300186"/>
                    </a:cubicBezTo>
                    <a:lnTo>
                      <a:pt x="0" y="52750"/>
                    </a:lnTo>
                    <a:cubicBezTo>
                      <a:pt x="0" y="38760"/>
                      <a:pt x="5558" y="25343"/>
                      <a:pt x="15450" y="15450"/>
                    </a:cubicBezTo>
                    <a:cubicBezTo>
                      <a:pt x="25343" y="5558"/>
                      <a:pt x="38760" y="0"/>
                      <a:pt x="5275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916243" cy="391036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2944962" y="0"/>
              <a:ext cx="3911655" cy="1539255"/>
              <a:chOff x="0" y="0"/>
              <a:chExt cx="751066" cy="29554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34585" y="0"/>
                    </a:moveTo>
                    <a:lnTo>
                      <a:pt x="616481" y="0"/>
                    </a:lnTo>
                    <a:cubicBezTo>
                      <a:pt x="652175" y="0"/>
                      <a:pt x="686407" y="14179"/>
                      <a:pt x="711647" y="39419"/>
                    </a:cubicBezTo>
                    <a:cubicBezTo>
                      <a:pt x="736886" y="64659"/>
                      <a:pt x="751066" y="98891"/>
                      <a:pt x="751066" y="134585"/>
                    </a:cubicBezTo>
                    <a:lnTo>
                      <a:pt x="751066" y="160963"/>
                    </a:lnTo>
                    <a:cubicBezTo>
                      <a:pt x="751066" y="196657"/>
                      <a:pt x="736886" y="230889"/>
                      <a:pt x="711647" y="256129"/>
                    </a:cubicBezTo>
                    <a:cubicBezTo>
                      <a:pt x="686407" y="281369"/>
                      <a:pt x="652175" y="295548"/>
                      <a:pt x="616481" y="295548"/>
                    </a:cubicBezTo>
                    <a:lnTo>
                      <a:pt x="134585" y="295548"/>
                    </a:lnTo>
                    <a:cubicBezTo>
                      <a:pt x="98891" y="295548"/>
                      <a:pt x="64659" y="281369"/>
                      <a:pt x="39419" y="256129"/>
                    </a:cubicBezTo>
                    <a:cubicBezTo>
                      <a:pt x="14179" y="230889"/>
                      <a:pt x="0" y="196657"/>
                      <a:pt x="0" y="160963"/>
                    </a:cubicBezTo>
                    <a:lnTo>
                      <a:pt x="0" y="134585"/>
                    </a:lnTo>
                    <a:cubicBezTo>
                      <a:pt x="0" y="98891"/>
                      <a:pt x="14179" y="64659"/>
                      <a:pt x="39419" y="39419"/>
                    </a:cubicBezTo>
                    <a:cubicBezTo>
                      <a:pt x="64659" y="14179"/>
                      <a:pt x="98891" y="0"/>
                      <a:pt x="13458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52261" lIns="52261" bIns="52261" rIns="5226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3527959" y="367332"/>
              <a:ext cx="2745660" cy="731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9"/>
                </a:lnSpc>
                <a:spcBef>
                  <a:spcPct val="0"/>
                </a:spcBef>
              </a:pPr>
              <a:r>
                <a:rPr lang="en-US" b="true" sz="3640" spc="-218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Exemplo: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2863982" y="1632881"/>
              <a:ext cx="4073614" cy="113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1"/>
                </a:lnSpc>
              </a:pPr>
              <a:r>
                <a:rPr lang="en-US" sz="2817" spc="-166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numero</a:t>
              </a:r>
              <a:r>
                <a:rPr lang="en-US" sz="2817" spc="-166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=</a:t>
              </a:r>
              <a:r>
                <a:rPr lang="en-US" sz="2817" spc="-166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817" spc="-166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32</a:t>
              </a:r>
            </a:p>
            <a:p>
              <a:pPr algn="l">
                <a:lnSpc>
                  <a:spcPts val="3381"/>
                </a:lnSpc>
                <a:spcBef>
                  <a:spcPct val="0"/>
                </a:spcBef>
              </a:pPr>
              <a:r>
                <a:rPr lang="en-US" b="true" sz="2817" spc="-168">
                  <a:solidFill>
                    <a:srgbClr val="B52A2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b="true" sz="2817" spc="-168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817" spc="-16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numero</a:t>
              </a:r>
              <a:r>
                <a:rPr lang="en-US" b="true" sz="2817" spc="-168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-5400000">
            <a:off x="8333559" y="7205627"/>
            <a:ext cx="1225342" cy="1625162"/>
            <a:chOff x="0" y="0"/>
            <a:chExt cx="812800" cy="10780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1078011"/>
            </a:xfrm>
            <a:custGeom>
              <a:avLst/>
              <a:gdLst/>
              <a:ahLst/>
              <a:cxnLst/>
              <a:rect r="r" b="b" t="t" l="l"/>
              <a:pathLst>
                <a:path h="1078011" w="812800">
                  <a:moveTo>
                    <a:pt x="406400" y="1078011"/>
                  </a:moveTo>
                  <a:lnTo>
                    <a:pt x="0" y="671611"/>
                  </a:lnTo>
                  <a:lnTo>
                    <a:pt x="203200" y="67161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671611"/>
                  </a:lnTo>
                  <a:lnTo>
                    <a:pt x="812800" y="671611"/>
                  </a:lnTo>
                  <a:lnTo>
                    <a:pt x="406400" y="10780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203200" y="-38100"/>
              <a:ext cx="406400" cy="1014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41453" y="6524441"/>
            <a:ext cx="7579650" cy="2230659"/>
            <a:chOff x="0" y="0"/>
            <a:chExt cx="10106199" cy="2974212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1112839"/>
              <a:ext cx="10106199" cy="1861374"/>
              <a:chOff x="0" y="0"/>
              <a:chExt cx="1916243" cy="352936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916243" cy="352936"/>
              </a:xfrm>
              <a:custGeom>
                <a:avLst/>
                <a:gdLst/>
                <a:ahLst/>
                <a:cxnLst/>
                <a:rect r="r" b="b" t="t" l="l"/>
                <a:pathLst>
                  <a:path h="352936" w="1916243">
                    <a:moveTo>
                      <a:pt x="52092" y="0"/>
                    </a:moveTo>
                    <a:lnTo>
                      <a:pt x="1864151" y="0"/>
                    </a:lnTo>
                    <a:cubicBezTo>
                      <a:pt x="1877966" y="0"/>
                      <a:pt x="1891216" y="5488"/>
                      <a:pt x="1900985" y="15257"/>
                    </a:cubicBezTo>
                    <a:cubicBezTo>
                      <a:pt x="1910754" y="25026"/>
                      <a:pt x="1916243" y="38276"/>
                      <a:pt x="1916243" y="52092"/>
                    </a:cubicBezTo>
                    <a:lnTo>
                      <a:pt x="1916243" y="300844"/>
                    </a:lnTo>
                    <a:cubicBezTo>
                      <a:pt x="1916243" y="314660"/>
                      <a:pt x="1910754" y="327910"/>
                      <a:pt x="1900985" y="337679"/>
                    </a:cubicBezTo>
                    <a:cubicBezTo>
                      <a:pt x="1891216" y="347448"/>
                      <a:pt x="1877966" y="352936"/>
                      <a:pt x="1864151" y="352936"/>
                    </a:cubicBezTo>
                    <a:lnTo>
                      <a:pt x="52092" y="352936"/>
                    </a:lnTo>
                    <a:cubicBezTo>
                      <a:pt x="38276" y="352936"/>
                      <a:pt x="25026" y="347448"/>
                      <a:pt x="15257" y="337679"/>
                    </a:cubicBezTo>
                    <a:cubicBezTo>
                      <a:pt x="5488" y="327910"/>
                      <a:pt x="0" y="314660"/>
                      <a:pt x="0" y="300844"/>
                    </a:cubicBezTo>
                    <a:lnTo>
                      <a:pt x="0" y="52092"/>
                    </a:lnTo>
                    <a:cubicBezTo>
                      <a:pt x="0" y="38276"/>
                      <a:pt x="5488" y="25026"/>
                      <a:pt x="15257" y="15257"/>
                    </a:cubicBezTo>
                    <a:cubicBezTo>
                      <a:pt x="25026" y="5488"/>
                      <a:pt x="38276" y="0"/>
                      <a:pt x="5209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1916243" cy="391036"/>
              </a:xfrm>
              <a:prstGeom prst="rect">
                <a:avLst/>
              </a:prstGeom>
            </p:spPr>
            <p:txBody>
              <a:bodyPr anchor="ctr" rtlCol="false" tIns="47737" lIns="47737" bIns="47737" rIns="4773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2982184" y="0"/>
              <a:ext cx="3961096" cy="1558710"/>
              <a:chOff x="0" y="0"/>
              <a:chExt cx="751066" cy="295548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32905" y="0"/>
                    </a:moveTo>
                    <a:lnTo>
                      <a:pt x="618160" y="0"/>
                    </a:lnTo>
                    <a:cubicBezTo>
                      <a:pt x="653409" y="0"/>
                      <a:pt x="687214" y="14002"/>
                      <a:pt x="712139" y="38927"/>
                    </a:cubicBezTo>
                    <a:cubicBezTo>
                      <a:pt x="737063" y="63852"/>
                      <a:pt x="751066" y="97657"/>
                      <a:pt x="751066" y="132905"/>
                    </a:cubicBezTo>
                    <a:lnTo>
                      <a:pt x="751066" y="162643"/>
                    </a:lnTo>
                    <a:cubicBezTo>
                      <a:pt x="751066" y="197891"/>
                      <a:pt x="737063" y="231696"/>
                      <a:pt x="712139" y="256621"/>
                    </a:cubicBezTo>
                    <a:cubicBezTo>
                      <a:pt x="687214" y="281546"/>
                      <a:pt x="653409" y="295548"/>
                      <a:pt x="618160" y="295548"/>
                    </a:cubicBezTo>
                    <a:lnTo>
                      <a:pt x="132905" y="295548"/>
                    </a:lnTo>
                    <a:cubicBezTo>
                      <a:pt x="97657" y="295548"/>
                      <a:pt x="63852" y="281546"/>
                      <a:pt x="38927" y="256621"/>
                    </a:cubicBezTo>
                    <a:cubicBezTo>
                      <a:pt x="14002" y="231696"/>
                      <a:pt x="0" y="197891"/>
                      <a:pt x="0" y="162643"/>
                    </a:cubicBezTo>
                    <a:lnTo>
                      <a:pt x="0" y="132905"/>
                    </a:lnTo>
                    <a:cubicBezTo>
                      <a:pt x="0" y="97657"/>
                      <a:pt x="14002" y="63852"/>
                      <a:pt x="38927" y="38927"/>
                    </a:cubicBezTo>
                    <a:cubicBezTo>
                      <a:pt x="63852" y="14002"/>
                      <a:pt x="97657" y="0"/>
                      <a:pt x="13290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47737" lIns="47737" bIns="47737" rIns="4773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3578101" y="371975"/>
              <a:ext cx="2774813" cy="7408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4"/>
                </a:lnSpc>
                <a:spcBef>
                  <a:spcPct val="0"/>
                </a:spcBef>
              </a:pPr>
              <a:r>
                <a:rPr lang="en-US" b="true" sz="3686" spc="-22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Terminal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4623685" y="1917485"/>
              <a:ext cx="678094" cy="581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4"/>
                </a:lnSpc>
                <a:spcBef>
                  <a:spcPct val="0"/>
                </a:spcBef>
              </a:pPr>
              <a:r>
                <a:rPr lang="en-US" b="true" sz="2853" spc="-17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32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10751" y="3219574"/>
            <a:ext cx="6043157" cy="4070534"/>
            <a:chOff x="0" y="0"/>
            <a:chExt cx="8057543" cy="542737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057543" cy="5130468"/>
              <a:chOff x="0" y="0"/>
              <a:chExt cx="1424087" cy="90675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24087" cy="906757"/>
              </a:xfrm>
              <a:custGeom>
                <a:avLst/>
                <a:gdLst/>
                <a:ahLst/>
                <a:cxnLst/>
                <a:rect r="r" b="b" t="t" l="l"/>
                <a:pathLst>
                  <a:path h="906757" w="1424087">
                    <a:moveTo>
                      <a:pt x="65336" y="0"/>
                    </a:moveTo>
                    <a:lnTo>
                      <a:pt x="1358751" y="0"/>
                    </a:lnTo>
                    <a:cubicBezTo>
                      <a:pt x="1376079" y="0"/>
                      <a:pt x="1392698" y="6884"/>
                      <a:pt x="1404951" y="19137"/>
                    </a:cubicBezTo>
                    <a:cubicBezTo>
                      <a:pt x="1417204" y="31390"/>
                      <a:pt x="1424087" y="48008"/>
                      <a:pt x="1424087" y="65336"/>
                    </a:cubicBezTo>
                    <a:lnTo>
                      <a:pt x="1424087" y="841421"/>
                    </a:lnTo>
                    <a:cubicBezTo>
                      <a:pt x="1424087" y="877505"/>
                      <a:pt x="1394835" y="906757"/>
                      <a:pt x="1358751" y="906757"/>
                    </a:cubicBezTo>
                    <a:lnTo>
                      <a:pt x="65336" y="906757"/>
                    </a:lnTo>
                    <a:cubicBezTo>
                      <a:pt x="29252" y="906757"/>
                      <a:pt x="0" y="877505"/>
                      <a:pt x="0" y="841421"/>
                    </a:cubicBezTo>
                    <a:lnTo>
                      <a:pt x="0" y="65336"/>
                    </a:lnTo>
                    <a:cubicBezTo>
                      <a:pt x="0" y="48008"/>
                      <a:pt x="6884" y="31390"/>
                      <a:pt x="19137" y="19137"/>
                    </a:cubicBezTo>
                    <a:cubicBezTo>
                      <a:pt x="31390" y="6884"/>
                      <a:pt x="48008" y="0"/>
                      <a:pt x="65336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424087" cy="944857"/>
              </a:xfrm>
              <a:prstGeom prst="rect">
                <a:avLst/>
              </a:prstGeom>
            </p:spPr>
            <p:txBody>
              <a:bodyPr anchor="ctr" rtlCol="false" tIns="56776" lIns="56776" bIns="56776" rIns="5677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41958" y="865801"/>
              <a:ext cx="6973627" cy="4561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5"/>
                </a:lnSpc>
              </a:pPr>
              <a:r>
                <a:rPr lang="en-US" sz="3896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Podemos </a:t>
              </a:r>
              <a:r>
                <a:rPr lang="en-US" sz="3896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misturar</a:t>
              </a:r>
              <a:r>
                <a:rPr lang="en-US" sz="3896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string e variáveis dentro dos parêntesis usando o</a:t>
              </a:r>
              <a:r>
                <a:rPr lang="en-US" sz="3896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 “+”</a:t>
              </a:r>
            </a:p>
            <a:p>
              <a:pPr algn="ctr">
                <a:lnSpc>
                  <a:spcPts val="545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31967" y="2808548"/>
            <a:ext cx="8304254" cy="1529489"/>
            <a:chOff x="0" y="0"/>
            <a:chExt cx="1916243" cy="3529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16243" cy="352936"/>
            </a:xfrm>
            <a:custGeom>
              <a:avLst/>
              <a:gdLst/>
              <a:ahLst/>
              <a:cxnLst/>
              <a:rect r="r" b="b" t="t" l="l"/>
              <a:pathLst>
                <a:path h="352936" w="1916243">
                  <a:moveTo>
                    <a:pt x="47546" y="0"/>
                  </a:moveTo>
                  <a:lnTo>
                    <a:pt x="1868696" y="0"/>
                  </a:lnTo>
                  <a:cubicBezTo>
                    <a:pt x="1881306" y="0"/>
                    <a:pt x="1893400" y="5009"/>
                    <a:pt x="1902316" y="13926"/>
                  </a:cubicBezTo>
                  <a:cubicBezTo>
                    <a:pt x="1911233" y="22843"/>
                    <a:pt x="1916243" y="34936"/>
                    <a:pt x="1916243" y="47546"/>
                  </a:cubicBezTo>
                  <a:lnTo>
                    <a:pt x="1916243" y="305390"/>
                  </a:lnTo>
                  <a:cubicBezTo>
                    <a:pt x="1916243" y="331649"/>
                    <a:pt x="1894955" y="352936"/>
                    <a:pt x="1868696" y="352936"/>
                  </a:cubicBezTo>
                  <a:lnTo>
                    <a:pt x="47546" y="352936"/>
                  </a:lnTo>
                  <a:cubicBezTo>
                    <a:pt x="34936" y="352936"/>
                    <a:pt x="22843" y="347927"/>
                    <a:pt x="13926" y="339010"/>
                  </a:cubicBezTo>
                  <a:cubicBezTo>
                    <a:pt x="5009" y="330094"/>
                    <a:pt x="0" y="318000"/>
                    <a:pt x="0" y="305390"/>
                  </a:cubicBezTo>
                  <a:lnTo>
                    <a:pt x="0" y="47546"/>
                  </a:lnTo>
                  <a:cubicBezTo>
                    <a:pt x="0" y="34936"/>
                    <a:pt x="5009" y="22843"/>
                    <a:pt x="13926" y="13926"/>
                  </a:cubicBezTo>
                  <a:cubicBezTo>
                    <a:pt x="22843" y="5009"/>
                    <a:pt x="34936" y="0"/>
                    <a:pt x="47546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16243" cy="391036"/>
            </a:xfrm>
            <a:prstGeom prst="rect">
              <a:avLst/>
            </a:prstGeom>
          </p:spPr>
          <p:txBody>
            <a:bodyPr anchor="ctr" rtlCol="false" tIns="57981" lIns="57981" bIns="57981" rIns="5798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99013" y="1960179"/>
            <a:ext cx="2769485" cy="1089806"/>
            <a:chOff x="0" y="0"/>
            <a:chExt cx="3692647" cy="145307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692647" cy="1453074"/>
              <a:chOff x="0" y="0"/>
              <a:chExt cx="751066" cy="2955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21308" y="0"/>
                    </a:moveTo>
                    <a:lnTo>
                      <a:pt x="629757" y="0"/>
                    </a:lnTo>
                    <a:cubicBezTo>
                      <a:pt x="661930" y="0"/>
                      <a:pt x="692786" y="12781"/>
                      <a:pt x="715535" y="35530"/>
                    </a:cubicBezTo>
                    <a:cubicBezTo>
                      <a:pt x="738285" y="58280"/>
                      <a:pt x="751066" y="89135"/>
                      <a:pt x="751066" y="121308"/>
                    </a:cubicBezTo>
                    <a:lnTo>
                      <a:pt x="751066" y="174240"/>
                    </a:lnTo>
                    <a:cubicBezTo>
                      <a:pt x="751066" y="241236"/>
                      <a:pt x="696754" y="295548"/>
                      <a:pt x="629757" y="295548"/>
                    </a:cubicBezTo>
                    <a:lnTo>
                      <a:pt x="121308" y="295548"/>
                    </a:lnTo>
                    <a:cubicBezTo>
                      <a:pt x="54312" y="295548"/>
                      <a:pt x="0" y="241236"/>
                      <a:pt x="0" y="174240"/>
                    </a:cubicBezTo>
                    <a:lnTo>
                      <a:pt x="0" y="121308"/>
                    </a:lnTo>
                    <a:cubicBezTo>
                      <a:pt x="0" y="54312"/>
                      <a:pt x="54312" y="0"/>
                      <a:pt x="12130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57981" lIns="57981" bIns="57981" rIns="5798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50356" y="346765"/>
              <a:ext cx="2591934" cy="690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4"/>
                </a:lnSpc>
                <a:spcBef>
                  <a:spcPct val="0"/>
                </a:spcBef>
              </a:pPr>
              <a:r>
                <a:rPr lang="en-US" b="true" sz="3436" spc="-205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Exemplo: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065113" y="3107003"/>
            <a:ext cx="7496750" cy="94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126" spc="-184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sz="3126" spc="-184" b="true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3126" spc="-184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3126" spc="-184" b="true">
                <a:solidFill>
                  <a:srgbClr val="387EB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b="true" sz="3126" spc="-187">
                <a:solidFill>
                  <a:srgbClr val="D10719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3126" spc="-187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3126" spc="-18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“Eu tenho”</a:t>
            </a:r>
            <a:r>
              <a:rPr lang="en-US" b="true" sz="3126" spc="-18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3126" spc="-187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b="true" sz="3126" spc="-18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3126" spc="-18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b="true" sz="3126" spc="-187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b="true" sz="3126" spc="-18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3126" spc="-18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“anos”</a:t>
            </a:r>
            <a:r>
              <a:rPr lang="en-US" b="true" sz="3126" spc="-187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62185" y="530613"/>
            <a:ext cx="14423540" cy="1068273"/>
            <a:chOff x="0" y="0"/>
            <a:chExt cx="19231387" cy="142436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47650"/>
              <a:ext cx="19231387" cy="1672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79"/>
                </a:lnSpc>
              </a:pPr>
              <a:r>
                <a:rPr lang="en-US" sz="7013" i="true" spc="-722">
                  <a:solidFill>
                    <a:srgbClr val="F2EFEB"/>
                  </a:solidFill>
                  <a:latin typeface="Bugaki Italics"/>
                  <a:ea typeface="Bugaki Italics"/>
                  <a:cs typeface="Bugaki Italics"/>
                  <a:sym typeface="Bugaki Italics"/>
                </a:rPr>
                <a:t>SAÍDA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12148142" y="0"/>
              <a:ext cx="1217291" cy="1217291"/>
            </a:xfrm>
            <a:custGeom>
              <a:avLst/>
              <a:gdLst/>
              <a:ahLst/>
              <a:cxnLst/>
              <a:rect r="r" b="b" t="t" l="l"/>
              <a:pathLst>
                <a:path h="1217291" w="1217291">
                  <a:moveTo>
                    <a:pt x="0" y="0"/>
                  </a:moveTo>
                  <a:lnTo>
                    <a:pt x="1217292" y="0"/>
                  </a:lnTo>
                  <a:lnTo>
                    <a:pt x="1217292" y="1217291"/>
                  </a:lnTo>
                  <a:lnTo>
                    <a:pt x="0" y="1217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973504" y="4795511"/>
            <a:ext cx="1225342" cy="1625162"/>
            <a:chOff x="0" y="0"/>
            <a:chExt cx="812800" cy="10780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1078011"/>
            </a:xfrm>
            <a:custGeom>
              <a:avLst/>
              <a:gdLst/>
              <a:ahLst/>
              <a:cxnLst/>
              <a:rect r="r" b="b" t="t" l="l"/>
              <a:pathLst>
                <a:path h="1078011" w="812800">
                  <a:moveTo>
                    <a:pt x="406400" y="1078011"/>
                  </a:moveTo>
                  <a:lnTo>
                    <a:pt x="0" y="671611"/>
                  </a:lnTo>
                  <a:lnTo>
                    <a:pt x="203200" y="67161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671611"/>
                  </a:lnTo>
                  <a:lnTo>
                    <a:pt x="812800" y="671611"/>
                  </a:lnTo>
                  <a:lnTo>
                    <a:pt x="406400" y="10780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03200" y="-38100"/>
              <a:ext cx="406400" cy="1014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62871" y="7255116"/>
            <a:ext cx="7577966" cy="1395720"/>
            <a:chOff x="0" y="0"/>
            <a:chExt cx="1916243" cy="3529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16243" cy="352936"/>
            </a:xfrm>
            <a:custGeom>
              <a:avLst/>
              <a:gdLst/>
              <a:ahLst/>
              <a:cxnLst/>
              <a:rect r="r" b="b" t="t" l="l"/>
              <a:pathLst>
                <a:path h="352936" w="1916243">
                  <a:moveTo>
                    <a:pt x="52103" y="0"/>
                  </a:moveTo>
                  <a:lnTo>
                    <a:pt x="1864139" y="0"/>
                  </a:lnTo>
                  <a:cubicBezTo>
                    <a:pt x="1877958" y="0"/>
                    <a:pt x="1891211" y="5489"/>
                    <a:pt x="1900982" y="15261"/>
                  </a:cubicBezTo>
                  <a:cubicBezTo>
                    <a:pt x="1910753" y="25032"/>
                    <a:pt x="1916243" y="38285"/>
                    <a:pt x="1916243" y="52103"/>
                  </a:cubicBezTo>
                  <a:lnTo>
                    <a:pt x="1916243" y="300833"/>
                  </a:lnTo>
                  <a:cubicBezTo>
                    <a:pt x="1916243" y="314652"/>
                    <a:pt x="1910753" y="327904"/>
                    <a:pt x="1900982" y="337675"/>
                  </a:cubicBezTo>
                  <a:cubicBezTo>
                    <a:pt x="1891211" y="347447"/>
                    <a:pt x="1877958" y="352936"/>
                    <a:pt x="1864139" y="352936"/>
                  </a:cubicBezTo>
                  <a:lnTo>
                    <a:pt x="52103" y="352936"/>
                  </a:lnTo>
                  <a:cubicBezTo>
                    <a:pt x="38285" y="352936"/>
                    <a:pt x="25032" y="347447"/>
                    <a:pt x="15261" y="337675"/>
                  </a:cubicBezTo>
                  <a:cubicBezTo>
                    <a:pt x="5489" y="327904"/>
                    <a:pt x="0" y="314652"/>
                    <a:pt x="0" y="300833"/>
                  </a:cubicBezTo>
                  <a:lnTo>
                    <a:pt x="0" y="52103"/>
                  </a:lnTo>
                  <a:cubicBezTo>
                    <a:pt x="0" y="38285"/>
                    <a:pt x="5489" y="25032"/>
                    <a:pt x="15261" y="15261"/>
                  </a:cubicBezTo>
                  <a:cubicBezTo>
                    <a:pt x="25032" y="5489"/>
                    <a:pt x="38285" y="0"/>
                    <a:pt x="5210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16243" cy="391036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99013" y="6420673"/>
            <a:ext cx="2970162" cy="1168773"/>
            <a:chOff x="0" y="0"/>
            <a:chExt cx="751066" cy="2955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1066" cy="295548"/>
            </a:xfrm>
            <a:custGeom>
              <a:avLst/>
              <a:gdLst/>
              <a:ahLst/>
              <a:cxnLst/>
              <a:rect r="r" b="b" t="t" l="l"/>
              <a:pathLst>
                <a:path h="295548" w="751066">
                  <a:moveTo>
                    <a:pt x="132935" y="0"/>
                  </a:moveTo>
                  <a:lnTo>
                    <a:pt x="618131" y="0"/>
                  </a:lnTo>
                  <a:cubicBezTo>
                    <a:pt x="691549" y="0"/>
                    <a:pt x="751066" y="59517"/>
                    <a:pt x="751066" y="132935"/>
                  </a:cubicBezTo>
                  <a:lnTo>
                    <a:pt x="751066" y="162613"/>
                  </a:lnTo>
                  <a:cubicBezTo>
                    <a:pt x="751066" y="236031"/>
                    <a:pt x="691549" y="295548"/>
                    <a:pt x="618131" y="295548"/>
                  </a:cubicBezTo>
                  <a:lnTo>
                    <a:pt x="132935" y="295548"/>
                  </a:lnTo>
                  <a:cubicBezTo>
                    <a:pt x="59517" y="295548"/>
                    <a:pt x="0" y="236031"/>
                    <a:pt x="0" y="162613"/>
                  </a:cubicBezTo>
                  <a:lnTo>
                    <a:pt x="0" y="132935"/>
                  </a:lnTo>
                  <a:cubicBezTo>
                    <a:pt x="0" y="59517"/>
                    <a:pt x="59517" y="0"/>
                    <a:pt x="132935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51066" cy="333648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545851" y="6699592"/>
            <a:ext cx="2080648" cy="55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b="true" sz="3685" spc="-22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Terminal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73891" y="7865671"/>
            <a:ext cx="3279194" cy="4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b="true" sz="2852" spc="-170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Eu tenho 10 anos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861241" y="4795511"/>
            <a:ext cx="3650256" cy="494036"/>
            <a:chOff x="0" y="0"/>
            <a:chExt cx="4867008" cy="65871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867008" cy="658714"/>
              <a:chOff x="0" y="0"/>
              <a:chExt cx="2290716" cy="31003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290716" cy="310032"/>
              </a:xfrm>
              <a:custGeom>
                <a:avLst/>
                <a:gdLst/>
                <a:ahLst/>
                <a:cxnLst/>
                <a:rect r="r" b="b" t="t" l="l"/>
                <a:pathLst>
                  <a:path h="310032" w="2290716">
                    <a:moveTo>
                      <a:pt x="45396" y="0"/>
                    </a:moveTo>
                    <a:lnTo>
                      <a:pt x="2245320" y="0"/>
                    </a:lnTo>
                    <a:cubicBezTo>
                      <a:pt x="2257360" y="0"/>
                      <a:pt x="2268907" y="4783"/>
                      <a:pt x="2277420" y="13296"/>
                    </a:cubicBezTo>
                    <a:cubicBezTo>
                      <a:pt x="2285934" y="21810"/>
                      <a:pt x="2290716" y="33357"/>
                      <a:pt x="2290716" y="45396"/>
                    </a:cubicBezTo>
                    <a:lnTo>
                      <a:pt x="2290716" y="264636"/>
                    </a:lnTo>
                    <a:cubicBezTo>
                      <a:pt x="2290716" y="289707"/>
                      <a:pt x="2270392" y="310032"/>
                      <a:pt x="2245320" y="310032"/>
                    </a:cubicBezTo>
                    <a:lnTo>
                      <a:pt x="45396" y="310032"/>
                    </a:lnTo>
                    <a:cubicBezTo>
                      <a:pt x="33357" y="310032"/>
                      <a:pt x="21810" y="305249"/>
                      <a:pt x="13296" y="296736"/>
                    </a:cubicBezTo>
                    <a:cubicBezTo>
                      <a:pt x="4783" y="288222"/>
                      <a:pt x="0" y="276675"/>
                      <a:pt x="0" y="264636"/>
                    </a:cubicBezTo>
                    <a:lnTo>
                      <a:pt x="0" y="45396"/>
                    </a:lnTo>
                    <a:cubicBezTo>
                      <a:pt x="0" y="20325"/>
                      <a:pt x="20325" y="0"/>
                      <a:pt x="45396" y="0"/>
                    </a:cubicBezTo>
                    <a:close/>
                  </a:path>
                </a:pathLst>
              </a:custGeom>
              <a:solidFill>
                <a:srgbClr val="C03027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290716" cy="3481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50486" y="135731"/>
              <a:ext cx="4212288" cy="454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8"/>
                </a:lnSpc>
                <a:spcBef>
                  <a:spcPct val="0"/>
                </a:spcBef>
              </a:pPr>
              <a:r>
                <a:rPr lang="en-US" b="true" sz="2056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O computador vai mostrar: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09347" y="1786281"/>
            <a:ext cx="9273766" cy="1934761"/>
            <a:chOff x="0" y="0"/>
            <a:chExt cx="12365021" cy="257968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365021" cy="2579682"/>
              <a:chOff x="0" y="0"/>
              <a:chExt cx="2748624" cy="5734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48624" cy="573438"/>
              </a:xfrm>
              <a:custGeom>
                <a:avLst/>
                <a:gdLst/>
                <a:ahLst/>
                <a:cxnLst/>
                <a:rect r="r" b="b" t="t" l="l"/>
                <a:pathLst>
                  <a:path h="573438" w="2748624">
                    <a:moveTo>
                      <a:pt x="39436" y="0"/>
                    </a:moveTo>
                    <a:lnTo>
                      <a:pt x="2709189" y="0"/>
                    </a:lnTo>
                    <a:cubicBezTo>
                      <a:pt x="2719648" y="0"/>
                      <a:pt x="2729678" y="4155"/>
                      <a:pt x="2737074" y="11550"/>
                    </a:cubicBezTo>
                    <a:cubicBezTo>
                      <a:pt x="2744469" y="18946"/>
                      <a:pt x="2748624" y="28977"/>
                      <a:pt x="2748624" y="39436"/>
                    </a:cubicBezTo>
                    <a:lnTo>
                      <a:pt x="2748624" y="534002"/>
                    </a:lnTo>
                    <a:cubicBezTo>
                      <a:pt x="2748624" y="544461"/>
                      <a:pt x="2744469" y="554492"/>
                      <a:pt x="2737074" y="561888"/>
                    </a:cubicBezTo>
                    <a:cubicBezTo>
                      <a:pt x="2729678" y="569283"/>
                      <a:pt x="2719648" y="573438"/>
                      <a:pt x="2709189" y="573438"/>
                    </a:cubicBezTo>
                    <a:lnTo>
                      <a:pt x="39436" y="573438"/>
                    </a:lnTo>
                    <a:cubicBezTo>
                      <a:pt x="28977" y="573438"/>
                      <a:pt x="18946" y="569283"/>
                      <a:pt x="11550" y="561888"/>
                    </a:cubicBezTo>
                    <a:cubicBezTo>
                      <a:pt x="4155" y="554492"/>
                      <a:pt x="0" y="544461"/>
                      <a:pt x="0" y="534002"/>
                    </a:cubicBezTo>
                    <a:lnTo>
                      <a:pt x="0" y="39436"/>
                    </a:lnTo>
                    <a:cubicBezTo>
                      <a:pt x="0" y="28977"/>
                      <a:pt x="4155" y="18946"/>
                      <a:pt x="11550" y="11550"/>
                    </a:cubicBezTo>
                    <a:cubicBezTo>
                      <a:pt x="18946" y="4155"/>
                      <a:pt x="28977" y="0"/>
                      <a:pt x="39436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748624" cy="611538"/>
              </a:xfrm>
              <a:prstGeom prst="rect">
                <a:avLst/>
              </a:prstGeom>
            </p:spPr>
            <p:txBody>
              <a:bodyPr anchor="ctr" rtlCol="false" tIns="48736" lIns="48736" bIns="48736" rIns="4873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831683" y="189776"/>
              <a:ext cx="10701655" cy="2133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7"/>
                </a:lnSpc>
                <a:spcBef>
                  <a:spcPct val="0"/>
                </a:spcBef>
              </a:pPr>
              <a:r>
                <a:rPr lang="en-US" sz="3098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Juntando as </a:t>
              </a:r>
              <a:r>
                <a:rPr lang="en-US" sz="3098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entradas</a:t>
              </a:r>
              <a:r>
                <a:rPr lang="en-US" sz="3098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com as </a:t>
              </a:r>
              <a:r>
                <a:rPr lang="en-US" sz="3098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saídas</a:t>
              </a:r>
              <a:r>
                <a:rPr lang="en-US" sz="3098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, podemos ter um programa muito mais </a:t>
              </a:r>
              <a:r>
                <a:rPr lang="en-US" sz="3098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poderoso</a:t>
              </a:r>
              <a:r>
                <a:rPr lang="en-US" sz="3098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que se encaixe em </a:t>
              </a:r>
              <a:r>
                <a:rPr lang="en-US" sz="3098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várias</a:t>
              </a:r>
              <a:r>
                <a:rPr lang="en-US" sz="3098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situações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6826" y="5130985"/>
            <a:ext cx="7485043" cy="3027570"/>
            <a:chOff x="0" y="0"/>
            <a:chExt cx="1916243" cy="7750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16243" cy="775087"/>
            </a:xfrm>
            <a:custGeom>
              <a:avLst/>
              <a:gdLst/>
              <a:ahLst/>
              <a:cxnLst/>
              <a:rect r="r" b="b" t="t" l="l"/>
              <a:pathLst>
                <a:path h="775087" w="1916243">
                  <a:moveTo>
                    <a:pt x="52750" y="0"/>
                  </a:moveTo>
                  <a:lnTo>
                    <a:pt x="1863492" y="0"/>
                  </a:lnTo>
                  <a:cubicBezTo>
                    <a:pt x="1877482" y="0"/>
                    <a:pt x="1890900" y="5558"/>
                    <a:pt x="1900792" y="15450"/>
                  </a:cubicBezTo>
                  <a:cubicBezTo>
                    <a:pt x="1910685" y="25343"/>
                    <a:pt x="1916243" y="38760"/>
                    <a:pt x="1916243" y="52750"/>
                  </a:cubicBezTo>
                  <a:lnTo>
                    <a:pt x="1916243" y="722337"/>
                  </a:lnTo>
                  <a:cubicBezTo>
                    <a:pt x="1916243" y="736327"/>
                    <a:pt x="1910685" y="749744"/>
                    <a:pt x="1900792" y="759637"/>
                  </a:cubicBezTo>
                  <a:cubicBezTo>
                    <a:pt x="1890900" y="769529"/>
                    <a:pt x="1877482" y="775087"/>
                    <a:pt x="1863492" y="775087"/>
                  </a:cubicBezTo>
                  <a:lnTo>
                    <a:pt x="52750" y="775087"/>
                  </a:lnTo>
                  <a:cubicBezTo>
                    <a:pt x="38760" y="775087"/>
                    <a:pt x="25343" y="769529"/>
                    <a:pt x="15450" y="759637"/>
                  </a:cubicBezTo>
                  <a:cubicBezTo>
                    <a:pt x="5558" y="749744"/>
                    <a:pt x="0" y="736327"/>
                    <a:pt x="0" y="722337"/>
                  </a:cubicBezTo>
                  <a:lnTo>
                    <a:pt x="0" y="52750"/>
                  </a:lnTo>
                  <a:cubicBezTo>
                    <a:pt x="0" y="38760"/>
                    <a:pt x="5558" y="25343"/>
                    <a:pt x="15450" y="15450"/>
                  </a:cubicBezTo>
                  <a:cubicBezTo>
                    <a:pt x="25343" y="5558"/>
                    <a:pt x="38760" y="0"/>
                    <a:pt x="5275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16243" cy="813187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5547" y="4306773"/>
            <a:ext cx="2933741" cy="1154441"/>
            <a:chOff x="0" y="0"/>
            <a:chExt cx="751066" cy="2955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1066" cy="295548"/>
            </a:xfrm>
            <a:custGeom>
              <a:avLst/>
              <a:gdLst/>
              <a:ahLst/>
              <a:cxnLst/>
              <a:rect r="r" b="b" t="t" l="l"/>
              <a:pathLst>
                <a:path h="295548" w="751066">
                  <a:moveTo>
                    <a:pt x="134585" y="0"/>
                  </a:moveTo>
                  <a:lnTo>
                    <a:pt x="616481" y="0"/>
                  </a:lnTo>
                  <a:cubicBezTo>
                    <a:pt x="652175" y="0"/>
                    <a:pt x="686407" y="14179"/>
                    <a:pt x="711647" y="39419"/>
                  </a:cubicBezTo>
                  <a:cubicBezTo>
                    <a:pt x="736886" y="64659"/>
                    <a:pt x="751066" y="98891"/>
                    <a:pt x="751066" y="134585"/>
                  </a:cubicBezTo>
                  <a:lnTo>
                    <a:pt x="751066" y="160963"/>
                  </a:lnTo>
                  <a:cubicBezTo>
                    <a:pt x="751066" y="196657"/>
                    <a:pt x="736886" y="230889"/>
                    <a:pt x="711647" y="256129"/>
                  </a:cubicBezTo>
                  <a:cubicBezTo>
                    <a:pt x="686407" y="281369"/>
                    <a:pt x="652175" y="295548"/>
                    <a:pt x="616481" y="295548"/>
                  </a:cubicBezTo>
                  <a:lnTo>
                    <a:pt x="134585" y="295548"/>
                  </a:lnTo>
                  <a:cubicBezTo>
                    <a:pt x="98891" y="295548"/>
                    <a:pt x="64659" y="281369"/>
                    <a:pt x="39419" y="256129"/>
                  </a:cubicBezTo>
                  <a:cubicBezTo>
                    <a:pt x="14179" y="230889"/>
                    <a:pt x="0" y="196657"/>
                    <a:pt x="0" y="160963"/>
                  </a:cubicBezTo>
                  <a:lnTo>
                    <a:pt x="0" y="134585"/>
                  </a:lnTo>
                  <a:cubicBezTo>
                    <a:pt x="0" y="98891"/>
                    <a:pt x="14179" y="64659"/>
                    <a:pt x="39419" y="39419"/>
                  </a:cubicBezTo>
                  <a:cubicBezTo>
                    <a:pt x="64659" y="14179"/>
                    <a:pt x="98891" y="0"/>
                    <a:pt x="134585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51066" cy="333648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2185" y="530613"/>
            <a:ext cx="14423540" cy="1068273"/>
            <a:chOff x="0" y="0"/>
            <a:chExt cx="19231387" cy="142436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247650"/>
              <a:ext cx="19231387" cy="1672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79"/>
                </a:lnSpc>
              </a:pPr>
              <a:r>
                <a:rPr lang="en-US" sz="7013" i="true" spc="-722">
                  <a:solidFill>
                    <a:srgbClr val="F2EFEB"/>
                  </a:solidFill>
                  <a:latin typeface="Bugaki Italics"/>
                  <a:ea typeface="Bugaki Italics"/>
                  <a:cs typeface="Bugaki Italics"/>
                  <a:sym typeface="Bugaki Italics"/>
                </a:rPr>
                <a:t>SAÍDA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12148142" y="0"/>
              <a:ext cx="1217291" cy="1217291"/>
            </a:xfrm>
            <a:custGeom>
              <a:avLst/>
              <a:gdLst/>
              <a:ahLst/>
              <a:cxnLst/>
              <a:rect r="r" b="b" t="t" l="l"/>
              <a:pathLst>
                <a:path h="1217291" w="1217291">
                  <a:moveTo>
                    <a:pt x="0" y="0"/>
                  </a:moveTo>
                  <a:lnTo>
                    <a:pt x="1217292" y="0"/>
                  </a:lnTo>
                  <a:lnTo>
                    <a:pt x="1217292" y="1217291"/>
                  </a:lnTo>
                  <a:lnTo>
                    <a:pt x="0" y="1217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-5400000">
            <a:off x="8527913" y="6094166"/>
            <a:ext cx="1225342" cy="1625162"/>
            <a:chOff x="0" y="0"/>
            <a:chExt cx="812800" cy="10780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078011"/>
            </a:xfrm>
            <a:custGeom>
              <a:avLst/>
              <a:gdLst/>
              <a:ahLst/>
              <a:cxnLst/>
              <a:rect r="r" b="b" t="t" l="l"/>
              <a:pathLst>
                <a:path h="1078011" w="812800">
                  <a:moveTo>
                    <a:pt x="406400" y="1078011"/>
                  </a:moveTo>
                  <a:lnTo>
                    <a:pt x="0" y="671611"/>
                  </a:lnTo>
                  <a:lnTo>
                    <a:pt x="203200" y="67161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671611"/>
                  </a:lnTo>
                  <a:lnTo>
                    <a:pt x="812800" y="671611"/>
                  </a:lnTo>
                  <a:lnTo>
                    <a:pt x="406400" y="10780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203200" y="-38100"/>
              <a:ext cx="406400" cy="1014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29389" y="4582272"/>
            <a:ext cx="7579650" cy="4363724"/>
            <a:chOff x="0" y="0"/>
            <a:chExt cx="10106199" cy="581829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1112839"/>
              <a:ext cx="10106199" cy="4705460"/>
              <a:chOff x="0" y="0"/>
              <a:chExt cx="1916243" cy="89220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16243" cy="892205"/>
              </a:xfrm>
              <a:custGeom>
                <a:avLst/>
                <a:gdLst/>
                <a:ahLst/>
                <a:cxnLst/>
                <a:rect r="r" b="b" t="t" l="l"/>
                <a:pathLst>
                  <a:path h="892205" w="1916243">
                    <a:moveTo>
                      <a:pt x="52092" y="0"/>
                    </a:moveTo>
                    <a:lnTo>
                      <a:pt x="1864151" y="0"/>
                    </a:lnTo>
                    <a:cubicBezTo>
                      <a:pt x="1877966" y="0"/>
                      <a:pt x="1891216" y="5488"/>
                      <a:pt x="1900985" y="15257"/>
                    </a:cubicBezTo>
                    <a:cubicBezTo>
                      <a:pt x="1910754" y="25026"/>
                      <a:pt x="1916243" y="38276"/>
                      <a:pt x="1916243" y="52092"/>
                    </a:cubicBezTo>
                    <a:lnTo>
                      <a:pt x="1916243" y="840113"/>
                    </a:lnTo>
                    <a:cubicBezTo>
                      <a:pt x="1916243" y="853929"/>
                      <a:pt x="1910754" y="867179"/>
                      <a:pt x="1900985" y="876948"/>
                    </a:cubicBezTo>
                    <a:cubicBezTo>
                      <a:pt x="1891216" y="886717"/>
                      <a:pt x="1877966" y="892205"/>
                      <a:pt x="1864151" y="892205"/>
                    </a:cubicBezTo>
                    <a:lnTo>
                      <a:pt x="52092" y="892205"/>
                    </a:lnTo>
                    <a:cubicBezTo>
                      <a:pt x="38276" y="892205"/>
                      <a:pt x="25026" y="886717"/>
                      <a:pt x="15257" y="876948"/>
                    </a:cubicBezTo>
                    <a:cubicBezTo>
                      <a:pt x="5488" y="867179"/>
                      <a:pt x="0" y="853929"/>
                      <a:pt x="0" y="840113"/>
                    </a:cubicBezTo>
                    <a:lnTo>
                      <a:pt x="0" y="52092"/>
                    </a:lnTo>
                    <a:cubicBezTo>
                      <a:pt x="0" y="38276"/>
                      <a:pt x="5488" y="25026"/>
                      <a:pt x="15257" y="15257"/>
                    </a:cubicBezTo>
                    <a:cubicBezTo>
                      <a:pt x="25026" y="5488"/>
                      <a:pt x="38276" y="0"/>
                      <a:pt x="5209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916243" cy="930305"/>
              </a:xfrm>
              <a:prstGeom prst="rect">
                <a:avLst/>
              </a:prstGeom>
            </p:spPr>
            <p:txBody>
              <a:bodyPr anchor="ctr" rtlCol="false" tIns="47737" lIns="47737" bIns="47737" rIns="4773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82184" y="0"/>
              <a:ext cx="3961096" cy="1558710"/>
              <a:chOff x="0" y="0"/>
              <a:chExt cx="751066" cy="2955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51066" cy="295548"/>
              </a:xfrm>
              <a:custGeom>
                <a:avLst/>
                <a:gdLst/>
                <a:ahLst/>
                <a:cxnLst/>
                <a:rect r="r" b="b" t="t" l="l"/>
                <a:pathLst>
                  <a:path h="295548" w="751066">
                    <a:moveTo>
                      <a:pt x="132905" y="0"/>
                    </a:moveTo>
                    <a:lnTo>
                      <a:pt x="618160" y="0"/>
                    </a:lnTo>
                    <a:cubicBezTo>
                      <a:pt x="653409" y="0"/>
                      <a:pt x="687214" y="14002"/>
                      <a:pt x="712139" y="38927"/>
                    </a:cubicBezTo>
                    <a:cubicBezTo>
                      <a:pt x="737063" y="63852"/>
                      <a:pt x="751066" y="97657"/>
                      <a:pt x="751066" y="132905"/>
                    </a:cubicBezTo>
                    <a:lnTo>
                      <a:pt x="751066" y="162643"/>
                    </a:lnTo>
                    <a:cubicBezTo>
                      <a:pt x="751066" y="197891"/>
                      <a:pt x="737063" y="231696"/>
                      <a:pt x="712139" y="256621"/>
                    </a:cubicBezTo>
                    <a:cubicBezTo>
                      <a:pt x="687214" y="281546"/>
                      <a:pt x="653409" y="295548"/>
                      <a:pt x="618160" y="295548"/>
                    </a:cubicBezTo>
                    <a:lnTo>
                      <a:pt x="132905" y="295548"/>
                    </a:lnTo>
                    <a:cubicBezTo>
                      <a:pt x="97657" y="295548"/>
                      <a:pt x="63852" y="281546"/>
                      <a:pt x="38927" y="256621"/>
                    </a:cubicBezTo>
                    <a:cubicBezTo>
                      <a:pt x="14002" y="231696"/>
                      <a:pt x="0" y="197891"/>
                      <a:pt x="0" y="162643"/>
                    </a:cubicBezTo>
                    <a:lnTo>
                      <a:pt x="0" y="132905"/>
                    </a:lnTo>
                    <a:cubicBezTo>
                      <a:pt x="0" y="97657"/>
                      <a:pt x="14002" y="63852"/>
                      <a:pt x="38927" y="38927"/>
                    </a:cubicBezTo>
                    <a:cubicBezTo>
                      <a:pt x="63852" y="14002"/>
                      <a:pt x="97657" y="0"/>
                      <a:pt x="13290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751066" cy="333648"/>
              </a:xfrm>
              <a:prstGeom prst="rect">
                <a:avLst/>
              </a:prstGeom>
            </p:spPr>
            <p:txBody>
              <a:bodyPr anchor="ctr" rtlCol="false" tIns="47737" lIns="47737" bIns="47737" rIns="4773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578101" y="371975"/>
              <a:ext cx="2774813" cy="7408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24"/>
                </a:lnSpc>
                <a:spcBef>
                  <a:spcPct val="0"/>
                </a:spcBef>
              </a:pPr>
              <a:r>
                <a:rPr lang="en-US" b="true" sz="3686" spc="-22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Terminal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72204" y="1803185"/>
              <a:ext cx="8986607" cy="3438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4"/>
                </a:lnSpc>
              </a:pPr>
              <a:r>
                <a:rPr lang="en-US" b="true" sz="2853" spc="-16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Qual seu nome?</a:t>
              </a:r>
            </a:p>
            <a:p>
              <a:pPr algn="ctr">
                <a:lnSpc>
                  <a:spcPts val="3424"/>
                </a:lnSpc>
              </a:pPr>
              <a:r>
                <a:rPr lang="en-US" b="true" sz="2853" spc="-168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Arthur</a:t>
              </a:r>
            </a:p>
            <a:p>
              <a:pPr algn="ctr">
                <a:lnSpc>
                  <a:spcPts val="3424"/>
                </a:lnSpc>
              </a:pPr>
              <a:r>
                <a:rPr lang="en-US" b="true" sz="2853" spc="-16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Qual sua idade?</a:t>
              </a:r>
            </a:p>
            <a:p>
              <a:pPr algn="ctr">
                <a:lnSpc>
                  <a:spcPts val="3424"/>
                </a:lnSpc>
              </a:pPr>
              <a:r>
                <a:rPr lang="en-US" b="true" sz="2853" spc="-168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18</a:t>
              </a:r>
            </a:p>
            <a:p>
              <a:pPr algn="ctr">
                <a:lnSpc>
                  <a:spcPts val="3424"/>
                </a:lnSpc>
              </a:pPr>
              <a:r>
                <a:rPr lang="en-US" b="true" sz="2853" spc="-16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Olá, me chamo Arthur</a:t>
              </a:r>
            </a:p>
            <a:p>
              <a:pPr algn="ctr">
                <a:lnSpc>
                  <a:spcPts val="3424"/>
                </a:lnSpc>
                <a:spcBef>
                  <a:spcPct val="0"/>
                </a:spcBef>
              </a:pPr>
              <a:r>
                <a:rPr lang="en-US" b="true" sz="2853" spc="-170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Tenho 18 anos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V="true">
            <a:off x="14821395" y="3721042"/>
            <a:ext cx="1666371" cy="2923728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diamond" len="lg" w="lg"/>
          </a:ln>
        </p:spPr>
      </p:sp>
      <p:sp>
        <p:nvSpPr>
          <p:cNvPr name="AutoShape 34" id="34"/>
          <p:cNvSpPr/>
          <p:nvPr/>
        </p:nvSpPr>
        <p:spPr>
          <a:xfrm flipV="true">
            <a:off x="14503704" y="4976248"/>
            <a:ext cx="1984062" cy="2543169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4019214" y="2190255"/>
            <a:ext cx="3519178" cy="1288775"/>
            <a:chOff x="0" y="0"/>
            <a:chExt cx="4692237" cy="171836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692237" cy="1718367"/>
              <a:chOff x="0" y="0"/>
              <a:chExt cx="1572776" cy="57597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572776" cy="575974"/>
              </a:xfrm>
              <a:custGeom>
                <a:avLst/>
                <a:gdLst/>
                <a:ahLst/>
                <a:cxnLst/>
                <a:rect r="r" b="b" t="t" l="l"/>
                <a:pathLst>
                  <a:path h="575974" w="1572776">
                    <a:moveTo>
                      <a:pt x="68919" y="0"/>
                    </a:moveTo>
                    <a:lnTo>
                      <a:pt x="1503857" y="0"/>
                    </a:lnTo>
                    <a:cubicBezTo>
                      <a:pt x="1541920" y="0"/>
                      <a:pt x="1572776" y="30856"/>
                      <a:pt x="1572776" y="68919"/>
                    </a:cubicBezTo>
                    <a:lnTo>
                      <a:pt x="1572776" y="507055"/>
                    </a:lnTo>
                    <a:cubicBezTo>
                      <a:pt x="1572776" y="545118"/>
                      <a:pt x="1541920" y="575974"/>
                      <a:pt x="1503857" y="575974"/>
                    </a:cubicBezTo>
                    <a:lnTo>
                      <a:pt x="68919" y="575974"/>
                    </a:lnTo>
                    <a:cubicBezTo>
                      <a:pt x="30856" y="575974"/>
                      <a:pt x="0" y="545118"/>
                      <a:pt x="0" y="507055"/>
                    </a:cubicBezTo>
                    <a:lnTo>
                      <a:pt x="0" y="68919"/>
                    </a:lnTo>
                    <a:cubicBezTo>
                      <a:pt x="0" y="30856"/>
                      <a:pt x="30856" y="0"/>
                      <a:pt x="68919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572776" cy="614074"/>
              </a:xfrm>
              <a:prstGeom prst="rect">
                <a:avLst/>
              </a:prstGeom>
            </p:spPr>
            <p:txBody>
              <a:bodyPr anchor="ctr" rtlCol="false" tIns="48736" lIns="48736" bIns="48736" rIns="4873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15604" y="131974"/>
              <a:ext cx="4061028" cy="1416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6"/>
                </a:lnSpc>
                <a:spcBef>
                  <a:spcPct val="0"/>
                </a:spcBef>
              </a:pPr>
              <a:r>
                <a:rPr lang="en-US" b="true" sz="2054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As linhas em azul são as entradas digitadas pelo </a:t>
              </a:r>
              <a:r>
                <a:rPr lang="en-US" b="true" sz="2054" u="sng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usuário</a:t>
              </a:r>
              <a:r>
                <a:rPr lang="en-US" b="true" sz="2054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 no terminal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528290">
            <a:off x="16257466" y="791056"/>
            <a:ext cx="1795282" cy="1553468"/>
          </a:xfrm>
          <a:custGeom>
            <a:avLst/>
            <a:gdLst/>
            <a:ahLst/>
            <a:cxnLst/>
            <a:rect r="r" b="b" t="t" l="l"/>
            <a:pathLst>
              <a:path h="1553468" w="1795282">
                <a:moveTo>
                  <a:pt x="0" y="0"/>
                </a:moveTo>
                <a:lnTo>
                  <a:pt x="1795282" y="0"/>
                </a:lnTo>
                <a:lnTo>
                  <a:pt x="1795282" y="1553468"/>
                </a:lnTo>
                <a:lnTo>
                  <a:pt x="0" y="15534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212795" y="4582272"/>
            <a:ext cx="2059245" cy="54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  <a:spcBef>
                <a:spcPct val="0"/>
              </a:spcBef>
            </a:pPr>
            <a:r>
              <a:rPr lang="en-US" b="true" sz="3640" spc="-218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5814455"/>
            <a:ext cx="6701086" cy="170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817" spc="-16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 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17" spc="-16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17" spc="-166" b="true">
                <a:solidFill>
                  <a:srgbClr val="C0302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17" spc="-166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“Qual seu nome?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3381"/>
              </a:lnSpc>
            </a:pPr>
            <a:r>
              <a:rPr lang="en-US" sz="2817" spc="-16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=</a:t>
            </a:r>
            <a:r>
              <a:rPr lang="en-US" sz="2817" spc="-16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17" spc="-166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input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17" spc="-166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“Qual sua idade?”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3381"/>
              </a:lnSpc>
            </a:pPr>
            <a:r>
              <a:rPr lang="en-US" sz="2817" spc="-166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sz="2817" spc="-166" b="true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“Olá, me chamo”</a:t>
            </a:r>
            <a:r>
              <a:rPr lang="en-US" sz="2817" spc="-166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sz="2817" spc="-166" b="true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sz="2817" spc="-166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nome</a:t>
            </a:r>
            <a:r>
              <a:rPr lang="en-US" sz="2817" spc="-166" b="true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  <a:p>
            <a:pPr algn="l">
              <a:lnSpc>
                <a:spcPts val="3381"/>
              </a:lnSpc>
              <a:spcBef>
                <a:spcPct val="0"/>
              </a:spcBef>
            </a:pPr>
            <a:r>
              <a:rPr lang="en-US" b="true" sz="2817" spc="-168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</a:t>
            </a:r>
            <a:r>
              <a:rPr lang="en-US" b="true" sz="2817" spc="-168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(</a:t>
            </a:r>
            <a:r>
              <a:rPr lang="en-US" b="true" sz="2817" spc="-168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“Tenho”</a:t>
            </a:r>
            <a:r>
              <a:rPr lang="en-US" b="true" sz="2817" spc="-168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17" spc="-168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 </a:t>
            </a:r>
            <a:r>
              <a:rPr lang="en-US" b="true" sz="2817" spc="-16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idade </a:t>
            </a:r>
            <a:r>
              <a:rPr lang="en-US" b="true" sz="2817" spc="-168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+</a:t>
            </a:r>
            <a:r>
              <a:rPr lang="en-US" b="true" sz="2817" spc="-168">
                <a:solidFill>
                  <a:srgbClr val="B52A2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2817" spc="-168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“anos”</a:t>
            </a:r>
            <a:r>
              <a:rPr lang="en-US" b="true" sz="2817" spc="-168">
                <a:solidFill>
                  <a:srgbClr val="F7AC16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9106" y="3015017"/>
            <a:ext cx="7636890" cy="5261844"/>
            <a:chOff x="0" y="0"/>
            <a:chExt cx="10182520" cy="70157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182520" cy="7015792"/>
              <a:chOff x="0" y="0"/>
              <a:chExt cx="2128743" cy="146671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28743" cy="1466711"/>
              </a:xfrm>
              <a:custGeom>
                <a:avLst/>
                <a:gdLst/>
                <a:ahLst/>
                <a:cxnLst/>
                <a:rect r="r" b="b" t="t" l="l"/>
                <a:pathLst>
                  <a:path h="1466711" w="2128743">
                    <a:moveTo>
                      <a:pt x="50919" y="0"/>
                    </a:moveTo>
                    <a:lnTo>
                      <a:pt x="2077823" y="0"/>
                    </a:lnTo>
                    <a:cubicBezTo>
                      <a:pt x="2091328" y="0"/>
                      <a:pt x="2104279" y="5365"/>
                      <a:pt x="2113829" y="14914"/>
                    </a:cubicBezTo>
                    <a:cubicBezTo>
                      <a:pt x="2123378" y="24463"/>
                      <a:pt x="2128743" y="37415"/>
                      <a:pt x="2128743" y="50919"/>
                    </a:cubicBezTo>
                    <a:lnTo>
                      <a:pt x="2128743" y="1415792"/>
                    </a:lnTo>
                    <a:cubicBezTo>
                      <a:pt x="2128743" y="1429296"/>
                      <a:pt x="2123378" y="1442248"/>
                      <a:pt x="2113829" y="1451797"/>
                    </a:cubicBezTo>
                    <a:cubicBezTo>
                      <a:pt x="2104279" y="1461346"/>
                      <a:pt x="2091328" y="1466711"/>
                      <a:pt x="2077823" y="1466711"/>
                    </a:cubicBezTo>
                    <a:lnTo>
                      <a:pt x="50919" y="1466711"/>
                    </a:lnTo>
                    <a:cubicBezTo>
                      <a:pt x="37415" y="1466711"/>
                      <a:pt x="24463" y="1461346"/>
                      <a:pt x="14914" y="1451797"/>
                    </a:cubicBezTo>
                    <a:cubicBezTo>
                      <a:pt x="5365" y="1442248"/>
                      <a:pt x="0" y="1429296"/>
                      <a:pt x="0" y="1415792"/>
                    </a:cubicBezTo>
                    <a:lnTo>
                      <a:pt x="0" y="50919"/>
                    </a:lnTo>
                    <a:cubicBezTo>
                      <a:pt x="0" y="37415"/>
                      <a:pt x="5365" y="24463"/>
                      <a:pt x="14914" y="14914"/>
                    </a:cubicBezTo>
                    <a:cubicBezTo>
                      <a:pt x="24463" y="5365"/>
                      <a:pt x="37415" y="0"/>
                      <a:pt x="50919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28743" cy="1504811"/>
              </a:xfrm>
              <a:prstGeom prst="rect">
                <a:avLst/>
              </a:prstGeom>
            </p:spPr>
            <p:txBody>
              <a:bodyPr anchor="ctr" rtlCol="false" tIns="48736" lIns="48736" bIns="48736" rIns="4873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84886" y="177432"/>
              <a:ext cx="8812748" cy="6565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1"/>
                </a:lnSpc>
                <a:spcBef>
                  <a:spcPct val="0"/>
                </a:spcBef>
              </a:pPr>
              <a:r>
                <a:rPr lang="en-US" sz="469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Escreva um programa que receba como </a:t>
              </a:r>
              <a:r>
                <a:rPr lang="en-US" sz="4694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entrada</a:t>
              </a:r>
              <a:r>
                <a:rPr lang="en-US" sz="469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uma fruta e </a:t>
              </a:r>
              <a:r>
                <a:rPr lang="en-US" sz="4694" u="sng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imprima</a:t>
              </a:r>
              <a:r>
                <a:rPr lang="en-US" sz="4694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 mensagem “Hmm, (fruta) é uma delícia!”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41074" y="4153853"/>
            <a:ext cx="7577966" cy="2984172"/>
            <a:chOff x="0" y="0"/>
            <a:chExt cx="1916243" cy="7546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6243" cy="754609"/>
            </a:xfrm>
            <a:custGeom>
              <a:avLst/>
              <a:gdLst/>
              <a:ahLst/>
              <a:cxnLst/>
              <a:rect r="r" b="b" t="t" l="l"/>
              <a:pathLst>
                <a:path h="754609" w="1916243">
                  <a:moveTo>
                    <a:pt x="52103" y="0"/>
                  </a:moveTo>
                  <a:lnTo>
                    <a:pt x="1864139" y="0"/>
                  </a:lnTo>
                  <a:cubicBezTo>
                    <a:pt x="1877958" y="0"/>
                    <a:pt x="1891211" y="5489"/>
                    <a:pt x="1900982" y="15261"/>
                  </a:cubicBezTo>
                  <a:cubicBezTo>
                    <a:pt x="1910753" y="25032"/>
                    <a:pt x="1916243" y="38285"/>
                    <a:pt x="1916243" y="52103"/>
                  </a:cubicBezTo>
                  <a:lnTo>
                    <a:pt x="1916243" y="702505"/>
                  </a:lnTo>
                  <a:cubicBezTo>
                    <a:pt x="1916243" y="716324"/>
                    <a:pt x="1910753" y="729577"/>
                    <a:pt x="1900982" y="739348"/>
                  </a:cubicBezTo>
                  <a:cubicBezTo>
                    <a:pt x="1891211" y="749119"/>
                    <a:pt x="1877958" y="754609"/>
                    <a:pt x="1864139" y="754609"/>
                  </a:cubicBezTo>
                  <a:lnTo>
                    <a:pt x="52103" y="754609"/>
                  </a:lnTo>
                  <a:cubicBezTo>
                    <a:pt x="38285" y="754609"/>
                    <a:pt x="25032" y="749119"/>
                    <a:pt x="15261" y="739348"/>
                  </a:cubicBezTo>
                  <a:cubicBezTo>
                    <a:pt x="5489" y="729577"/>
                    <a:pt x="0" y="716324"/>
                    <a:pt x="0" y="702505"/>
                  </a:cubicBezTo>
                  <a:lnTo>
                    <a:pt x="0" y="52103"/>
                  </a:lnTo>
                  <a:cubicBezTo>
                    <a:pt x="0" y="38285"/>
                    <a:pt x="5489" y="25032"/>
                    <a:pt x="15261" y="15261"/>
                  </a:cubicBezTo>
                  <a:cubicBezTo>
                    <a:pt x="25032" y="5489"/>
                    <a:pt x="38285" y="0"/>
                    <a:pt x="5210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6243" cy="792709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43186" y="3291704"/>
            <a:ext cx="4573742" cy="1168773"/>
            <a:chOff x="0" y="0"/>
            <a:chExt cx="1156564" cy="2955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6564" cy="295548"/>
            </a:xfrm>
            <a:custGeom>
              <a:avLst/>
              <a:gdLst/>
              <a:ahLst/>
              <a:cxnLst/>
              <a:rect r="r" b="b" t="t" l="l"/>
              <a:pathLst>
                <a:path h="295548" w="1156564">
                  <a:moveTo>
                    <a:pt x="86327" y="0"/>
                  </a:moveTo>
                  <a:lnTo>
                    <a:pt x="1070237" y="0"/>
                  </a:lnTo>
                  <a:cubicBezTo>
                    <a:pt x="1117914" y="0"/>
                    <a:pt x="1156564" y="38650"/>
                    <a:pt x="1156564" y="86327"/>
                  </a:cubicBezTo>
                  <a:lnTo>
                    <a:pt x="1156564" y="209221"/>
                  </a:lnTo>
                  <a:cubicBezTo>
                    <a:pt x="1156564" y="232116"/>
                    <a:pt x="1147468" y="254074"/>
                    <a:pt x="1131279" y="270263"/>
                  </a:cubicBezTo>
                  <a:cubicBezTo>
                    <a:pt x="1115089" y="286453"/>
                    <a:pt x="1093132" y="295548"/>
                    <a:pt x="1070237" y="295548"/>
                  </a:cubicBezTo>
                  <a:lnTo>
                    <a:pt x="86327" y="295548"/>
                  </a:lnTo>
                  <a:cubicBezTo>
                    <a:pt x="63432" y="295548"/>
                    <a:pt x="41474" y="286453"/>
                    <a:pt x="25285" y="270263"/>
                  </a:cubicBezTo>
                  <a:cubicBezTo>
                    <a:pt x="9095" y="254074"/>
                    <a:pt x="0" y="232116"/>
                    <a:pt x="0" y="209221"/>
                  </a:cubicBezTo>
                  <a:lnTo>
                    <a:pt x="0" y="86327"/>
                  </a:lnTo>
                  <a:cubicBezTo>
                    <a:pt x="0" y="63432"/>
                    <a:pt x="9095" y="41474"/>
                    <a:pt x="25285" y="25285"/>
                  </a:cubicBezTo>
                  <a:cubicBezTo>
                    <a:pt x="41474" y="9095"/>
                    <a:pt x="63432" y="0"/>
                    <a:pt x="86327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56564" cy="333648"/>
            </a:xfrm>
            <a:prstGeom prst="rect">
              <a:avLst/>
            </a:prstGeom>
          </p:spPr>
          <p:txBody>
            <a:bodyPr anchor="ctr" rtlCol="false" tIns="52910" lIns="52910" bIns="52910" rIns="5291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092008" y="3598328"/>
            <a:ext cx="5197039" cy="55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b="true" sz="3685" spc="-22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 - Exemplo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39436" y="4893471"/>
            <a:ext cx="6181242" cy="149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3"/>
              </a:lnSpc>
            </a:pPr>
            <a:r>
              <a:rPr lang="en-US" b="true" sz="3252" spc="-19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Digite uma fruta</a:t>
            </a:r>
          </a:p>
          <a:p>
            <a:pPr algn="ctr">
              <a:lnSpc>
                <a:spcPts val="3903"/>
              </a:lnSpc>
            </a:pPr>
            <a:r>
              <a:rPr lang="en-US" b="true" sz="3252" spc="-191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manga</a:t>
            </a:r>
          </a:p>
          <a:p>
            <a:pPr algn="ctr">
              <a:lnSpc>
                <a:spcPts val="3903"/>
              </a:lnSpc>
              <a:spcBef>
                <a:spcPct val="0"/>
              </a:spcBef>
            </a:pPr>
            <a:r>
              <a:rPr lang="en-US" b="true" sz="3252" spc="-19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Hmm, </a:t>
            </a:r>
            <a:r>
              <a:rPr lang="en-US" b="true" sz="3252" spc="-194">
                <a:solidFill>
                  <a:srgbClr val="FFC33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manga </a:t>
            </a:r>
            <a:r>
              <a:rPr lang="en-US" b="true" sz="3252" spc="-19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 uma delicia!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579349" y="2964078"/>
            <a:ext cx="12522705" cy="4358844"/>
            <a:chOff x="0" y="0"/>
            <a:chExt cx="3205932" cy="11159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05932" cy="1115906"/>
            </a:xfrm>
            <a:custGeom>
              <a:avLst/>
              <a:gdLst/>
              <a:ahLst/>
              <a:cxnLst/>
              <a:rect r="r" b="b" t="t" l="l"/>
              <a:pathLst>
                <a:path h="1115906" w="3205932">
                  <a:moveTo>
                    <a:pt x="31530" y="0"/>
                  </a:moveTo>
                  <a:lnTo>
                    <a:pt x="3174403" y="0"/>
                  </a:lnTo>
                  <a:cubicBezTo>
                    <a:pt x="3182765" y="0"/>
                    <a:pt x="3190784" y="3322"/>
                    <a:pt x="3196697" y="9235"/>
                  </a:cubicBezTo>
                  <a:cubicBezTo>
                    <a:pt x="3202610" y="15148"/>
                    <a:pt x="3205932" y="23168"/>
                    <a:pt x="3205932" y="31530"/>
                  </a:cubicBezTo>
                  <a:lnTo>
                    <a:pt x="3205932" y="1084376"/>
                  </a:lnTo>
                  <a:cubicBezTo>
                    <a:pt x="3205932" y="1092738"/>
                    <a:pt x="3202610" y="1100758"/>
                    <a:pt x="3196697" y="1106671"/>
                  </a:cubicBezTo>
                  <a:cubicBezTo>
                    <a:pt x="3190784" y="1112584"/>
                    <a:pt x="3182765" y="1115906"/>
                    <a:pt x="3174403" y="1115906"/>
                  </a:cubicBezTo>
                  <a:lnTo>
                    <a:pt x="31530" y="1115906"/>
                  </a:lnTo>
                  <a:cubicBezTo>
                    <a:pt x="14116" y="1115906"/>
                    <a:pt x="0" y="1101789"/>
                    <a:pt x="0" y="1084376"/>
                  </a:cubicBezTo>
                  <a:lnTo>
                    <a:pt x="0" y="31530"/>
                  </a:lnTo>
                  <a:cubicBezTo>
                    <a:pt x="0" y="23168"/>
                    <a:pt x="3322" y="15148"/>
                    <a:pt x="9235" y="9235"/>
                  </a:cubicBezTo>
                  <a:cubicBezTo>
                    <a:pt x="15148" y="3322"/>
                    <a:pt x="23168" y="0"/>
                    <a:pt x="3153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3205932" cy="1182581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ctr">
                <a:lnSpc>
                  <a:spcPts val="5459"/>
                </a:lnSpc>
              </a:pPr>
              <a:r>
                <a:rPr lang="en-US" sz="389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fruta </a:t>
              </a:r>
              <a:r>
                <a:rPr lang="en-US" sz="3899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</a:t>
              </a:r>
              <a:r>
                <a:rPr lang="en-US" sz="389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3899" b="true">
                  <a:solidFill>
                    <a:srgbClr val="C03027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sz="3899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389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“Digite uma fruta”</a:t>
              </a:r>
              <a:r>
                <a:rPr lang="en-US" sz="3899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ctr">
                <a:lnSpc>
                  <a:spcPts val="5459"/>
                </a:lnSpc>
              </a:pPr>
              <a:r>
                <a:rPr lang="en-US" sz="3899" b="true">
                  <a:solidFill>
                    <a:srgbClr val="C03027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389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389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“Hmm, ”</a:t>
              </a:r>
              <a:r>
                <a:rPr lang="en-US" sz="389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3899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+</a:t>
              </a:r>
              <a:r>
                <a:rPr lang="en-US" sz="389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fruta </a:t>
              </a:r>
              <a:r>
                <a:rPr lang="en-US" sz="3899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+</a:t>
              </a:r>
              <a:r>
                <a:rPr lang="en-US" sz="389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389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“e uma delicia!”</a:t>
              </a:r>
              <a:r>
                <a:rPr lang="en-US" sz="3899" b="true">
                  <a:solidFill>
                    <a:srgbClr val="FFC331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  <a:r>
                <a:rPr lang="en-US" sz="389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73831" y="2098968"/>
            <a:ext cx="2933741" cy="1154441"/>
            <a:chOff x="0" y="0"/>
            <a:chExt cx="751066" cy="2955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1066" cy="295548"/>
            </a:xfrm>
            <a:custGeom>
              <a:avLst/>
              <a:gdLst/>
              <a:ahLst/>
              <a:cxnLst/>
              <a:rect r="r" b="b" t="t" l="l"/>
              <a:pathLst>
                <a:path h="295548" w="751066">
                  <a:moveTo>
                    <a:pt x="134585" y="0"/>
                  </a:moveTo>
                  <a:lnTo>
                    <a:pt x="616481" y="0"/>
                  </a:lnTo>
                  <a:cubicBezTo>
                    <a:pt x="652175" y="0"/>
                    <a:pt x="686407" y="14179"/>
                    <a:pt x="711647" y="39419"/>
                  </a:cubicBezTo>
                  <a:cubicBezTo>
                    <a:pt x="736886" y="64659"/>
                    <a:pt x="751066" y="98891"/>
                    <a:pt x="751066" y="134585"/>
                  </a:cubicBezTo>
                  <a:lnTo>
                    <a:pt x="751066" y="160963"/>
                  </a:lnTo>
                  <a:cubicBezTo>
                    <a:pt x="751066" y="196657"/>
                    <a:pt x="736886" y="230889"/>
                    <a:pt x="711647" y="256129"/>
                  </a:cubicBezTo>
                  <a:cubicBezTo>
                    <a:pt x="686407" y="281369"/>
                    <a:pt x="652175" y="295548"/>
                    <a:pt x="616481" y="295548"/>
                  </a:cubicBezTo>
                  <a:lnTo>
                    <a:pt x="134585" y="295548"/>
                  </a:lnTo>
                  <a:cubicBezTo>
                    <a:pt x="98891" y="295548"/>
                    <a:pt x="64659" y="281369"/>
                    <a:pt x="39419" y="256129"/>
                  </a:cubicBezTo>
                  <a:cubicBezTo>
                    <a:pt x="14179" y="230889"/>
                    <a:pt x="0" y="196657"/>
                    <a:pt x="0" y="160963"/>
                  </a:cubicBezTo>
                  <a:lnTo>
                    <a:pt x="0" y="134585"/>
                  </a:lnTo>
                  <a:cubicBezTo>
                    <a:pt x="0" y="98891"/>
                    <a:pt x="14179" y="64659"/>
                    <a:pt x="39419" y="39419"/>
                  </a:cubicBezTo>
                  <a:cubicBezTo>
                    <a:pt x="64659" y="14179"/>
                    <a:pt x="98891" y="0"/>
                    <a:pt x="134585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51066" cy="333648"/>
            </a:xfrm>
            <a:prstGeom prst="rect">
              <a:avLst/>
            </a:prstGeom>
          </p:spPr>
          <p:txBody>
            <a:bodyPr anchor="ctr" rtlCol="false" tIns="52261" lIns="52261" bIns="52261" rIns="5226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11079" y="2374466"/>
            <a:ext cx="2059245" cy="54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  <a:spcBef>
                <a:spcPct val="0"/>
              </a:spcBef>
            </a:pPr>
            <a:r>
              <a:rPr lang="en-US" b="true" sz="3640" spc="-218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Resposta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89958" y="9327196"/>
            <a:ext cx="6908084" cy="4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3188" b="true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CODELAB TEEN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3845" y="-85725"/>
            <a:ext cx="12880309" cy="240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9"/>
              </a:lnSpc>
            </a:pPr>
            <a:r>
              <a:rPr lang="en-US" sz="12766" i="true" spc="-1314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OBRIGADO!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-82000"/>
            <a:ext cx="2397565" cy="1010011"/>
            <a:chOff x="0" y="0"/>
            <a:chExt cx="3196753" cy="1346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96717" cy="1346708"/>
            </a:xfrm>
            <a:custGeom>
              <a:avLst/>
              <a:gdLst/>
              <a:ahLst/>
              <a:cxnLst/>
              <a:rect r="r" b="b" t="t" l="l"/>
              <a:pathLst>
                <a:path h="1346708" w="3196717">
                  <a:moveTo>
                    <a:pt x="0" y="0"/>
                  </a:moveTo>
                  <a:lnTo>
                    <a:pt x="3196717" y="0"/>
                  </a:lnTo>
                  <a:lnTo>
                    <a:pt x="3196717" y="1346708"/>
                  </a:lnTo>
                  <a:lnTo>
                    <a:pt x="0" y="1346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7859" r="-1" b="-11785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55964" y="8276808"/>
            <a:ext cx="85760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2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https://forms.gle/Q1BYFnKxjyKuCC647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12237" y="2700980"/>
            <a:ext cx="13263525" cy="1098807"/>
          </a:xfrm>
          <a:custGeom>
            <a:avLst/>
            <a:gdLst/>
            <a:ahLst/>
            <a:cxnLst/>
            <a:rect r="r" b="b" t="t" l="l"/>
            <a:pathLst>
              <a:path h="1098807" w="13263525">
                <a:moveTo>
                  <a:pt x="0" y="0"/>
                </a:moveTo>
                <a:lnTo>
                  <a:pt x="13263526" y="0"/>
                </a:lnTo>
                <a:lnTo>
                  <a:pt x="13263526" y="1098808"/>
                </a:lnTo>
                <a:lnTo>
                  <a:pt x="0" y="1098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98037" y="2983684"/>
            <a:ext cx="1229192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 spc="-198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Contem para a gente o que acharam da aula de hoje: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675120" y="3591510"/>
            <a:ext cx="4937760" cy="4937760"/>
            <a:chOff x="0" y="0"/>
            <a:chExt cx="6583680" cy="6583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DAGzzW0O7nM</dc:identifier>
  <dcterms:modified xsi:type="dcterms:W3CDTF">2011-08-01T06:04:30Z</dcterms:modified>
  <cp:revision>1</cp:revision>
  <dc:title>Aula 2 - Entrada/Saída de dados e Variáveis</dc:title>
</cp:coreProperties>
</file>